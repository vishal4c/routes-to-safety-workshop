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60" r:id="rId1"/>
    <p:sldMasterId id="2147483689" r:id="rId2"/>
  </p:sldMasterIdLst>
  <p:notesMasterIdLst>
    <p:notesMasterId r:id="rId3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7"/>
    <p:sldId id="285" r:id="rId6"/>
    <p:sldId id="286" r:id="rId5"/>
    <p:sldId id="287" r:id="rId4"/>
    <p:sldId id="288" r:id="rId3"/>
    <p:sldId id="289" r:id="rId41"/>
    <p:sldId id="290" r:id="rId42"/>
    <p:sldId id="291" r:id="rId43"/>
    <p:sldId id="292" r:id="rId44"/>
    <p:sldId id="293" r:id="rId45"/>
    <p:sldId id="294" r:id="rId46"/>
    <p:sldId id="295" r:id="rId4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80">
          <p15:clr>
            <a:srgbClr val="A4A3A4"/>
          </p15:clr>
        </p15:guide>
        <p15:guide id="3" orient="horz" pos="8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65" autoAdjust="0"/>
    <p:restoredTop sz="94660"/>
  </p:normalViewPr>
  <p:slideViewPr>
    <p:cSldViewPr snapToGrid="0" showGuides="1">
      <p:cViewPr varScale="1">
        <p:scale>
          <a:sx n="153" d="100"/>
          <a:sy n="153" d="100"/>
        </p:scale>
        <p:origin x="224" y="464"/>
      </p:cViewPr>
      <p:guideLst>
        <p:guide orient="horz" pos="1619"/>
        <p:guide pos="2880"/>
        <p:guide orient="horz" pos="8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lvl="0"/>
            <a:fld id="{6AB6F84B-BE8D-F141-9766-2CE37E10E6F8}" type="datetime1">
              <a:rPr lang="en-US" smtClean="0"/>
              <a:t>7/22/25</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lvl="0"/>
            <a:fld id="{6590D00C-2D75-334E-9C38-4199274B575F}"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Door slide stays up while people sit down: "Start your Codespace from your personal GitHub account, or run docker compose pull. Codespaces users: sit next to a Docker user."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Say what people will walk out with: fluency with the open datasets, and four tools — one per phase — that take a rectangle of open data to a working map with routing. Then the next slide names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Left: where each piece of the map comes from, with its licence. Right: one tool per phase. Everything is open, pinned in versions.env, and runs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Point at each element: tiles you build in Phase 2, routing in Phase 3c, reach rings are precomputed in Phase 2c. Everything is a static file plus one small routing container.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GIF loop once while you narrate the five beats. This is the whole workshop in 20 seconds. Stress: one view at a time — the legend changes with the 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Read left to right: open data in, DuckDB extracts a rectangle and writes GeoJSON; Planetiler cuts tiles into one PMTiles file; MapLibre draws it. The OSM extract also feeds OSRM, whose three HTTP calls give routes, drive times and the reach bands. No database server, no tile server.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Both instructors are on the floor during the hands-on phases; the room is split geographically for triage.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Two real incidents in this exact corridor. Then the honesty slide inline: today's map answers the two questions on a good day; it cannot tell you if today is a good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Walk the flow: the only decision is whether Docker/Finch is on the laptop. Everyone ends at the same two commands and the same checkpoint line. The dashed box is the bail-out — nobody debugs a laptop for more than 10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incl. the hands-on start. check_setup.py is green/red per tool and tells you which tier it thinks you are on and the exact next command.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Three SQL files over the staged GeoJSON: look at the data, pick candidate shelters and tag them with the hazard class, export the candidates as GeoJSON. The checkpoint is a single count. Nothing later depends on 1c, so nobody falls behind.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These are the real numbers for the extract that is already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 Keep SQL to three words. The predicate slide is the only GIS theory of the phase.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table is also on the printed phase card.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Stays on screen for the whole phase. Say: "Open a terminal at the repo root. Phase 1a — three queries, each has an expected result. Hands up when you match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Planetiler reads the GeoJSON and the evac.yml schema and writes one PMTiles file in 4 seconds. A static server that answers Range requests serves it; MapLibre draws it. Then the hands-on part is pure styling: paste step files, see the map change. The dashed box is the one trap: python -m http.server leaves the map blank.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Walk the three panels left to right: same square, split in four, split in four again. Then the table: tiles on Earth explode, tiles over our bbox stay small. Land the point: a tile is addressed by z/x/y, so the client can ask for exactly the squares it needs — no server has to think.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Planetiler has no GeoParquet source — that is why Phase 1 exports GeoJSON. min_zoom / min_size / attributes are the whole "tile schema" lesson.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Show the expressions, then flip to the screenshot slide for what they produce.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hands-on: load data/prebuilt/evac.pmtiles next to yours — same layers? Maputnik 60 s on the instructor machine if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card stays on screen. "By minute 5 if there is no PMTiles file, copy the prebuilt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graph is built once (15 s, 99 MB) and served by osrm-routed. The hands-on part is in the browser: snap the pin, ask /table for durations to all 10 shelters, take the minimum, draw the /route. Step 3 closes I-80 with exclude=motorway and the answer changes. Keep repeating the caveat: free-flow speeds, no traffic, no smoke.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Point at S1 and S2: the map says S1, the road says S2. Then the graph: every intersection a node, every segment an edge with a cost in seconds. Dijkstra is "always expand the cheapest frontier node". MLD is Dijkstra with the homework done in advance.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+ 2.5 min. "Three verbs: snap a point, route between two points, fill a matrix of times."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is the whole of "nearest shelter by road" in one exchange: snap, table, argmin, route. The six lines you write are the argmin and the /route call. The optional part at the bottom is the I-80 closure — same calls plus exclude=motorway.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"Remember your answer to Exercise B. In a minute you find out whether the road agrees with the crow."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call as step 2, more points. "Isochrone" here is a drive-time band on free-flow speeds. One view at a time: the hazard fill is off while the bands are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is timekeeper. Swap instructors at the start of this phase. Checkpoint: drag anywhere → line + popup update.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versions.env holds the box and every pinned version. Nine explicit steps: fetch the Overture themes (≈ 20 s), the hazard (or --none outside California), pick shelters, clip an OSM extract and build the OSRM graph, cut tiles, compute reach bands, point the two pages at the new centre. The worked example in the README is a 4 × 4 mile box over Bellevue, WA — verified end to end.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live part is the first thing cut on a hard stop. "Pick a town you know. Four lines in versions.env, then the same scripts you have been running all morning. The README has a Bellevue walk-through with every count and timing."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No specific build times claimed for planet scale — not measured by us.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Details in data/LICENSE-data.md.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example, not an official evacuation resource.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ight">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6DB4DC7-F301-6B4A-8D23-3EC7418589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304143" y="-2035493"/>
            <a:ext cx="6680200" cy="5511800"/>
          </a:xfrm>
          <a:prstGeom prst="rect">
            <a:avLst/>
          </a:prstGeom>
        </p:spPr>
      </p:pic>
      <p:pic>
        <p:nvPicPr>
          <p:cNvPr id="10" name="Picture 9">
            <a:extLst>
              <a:ext uri="{FF2B5EF4-FFF2-40B4-BE49-F238E27FC236}">
                <a16:creationId xmlns:a16="http://schemas.microsoft.com/office/drawing/2014/main" id="{8A21F4AF-8334-A547-B893-40C0F9E61F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90563" y="1200150"/>
            <a:ext cx="6388100" cy="5511800"/>
          </a:xfrm>
          <a:prstGeom prst="rect">
            <a:avLst/>
          </a:prstGeom>
        </p:spPr>
      </p:pic>
      <p:sp>
        <p:nvSpPr>
          <p:cNvPr id="2" name="Title 1"/>
          <p:cNvSpPr>
            <a:spLocks noGrp="1"/>
          </p:cNvSpPr>
          <p:nvPr>
            <p:ph type="ctrTitle"/>
          </p:nvPr>
        </p:nvSpPr>
        <p:spPr>
          <a:xfrm>
            <a:off x="381000" y="3994043"/>
            <a:ext cx="6025035" cy="597484"/>
          </a:xfrm>
        </p:spPr>
        <p:txBody>
          <a:bodyPr anchor="b"/>
          <a:lstStyle>
            <a:lvl1pPr algn="l">
              <a:defRPr sz="1600" b="1"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3" name="Subtitle 2"/>
          <p:cNvSpPr>
            <a:spLocks noGrp="1"/>
          </p:cNvSpPr>
          <p:nvPr>
            <p:ph type="subTitle" idx="1"/>
          </p:nvPr>
        </p:nvSpPr>
        <p:spPr>
          <a:xfrm>
            <a:off x="381000" y="4657717"/>
            <a:ext cx="6033760" cy="262149"/>
          </a:xfrm>
        </p:spPr>
        <p:txBody>
          <a:bodyPr/>
          <a:lstStyle>
            <a:lvl1pPr marL="0" indent="0" algn="l">
              <a:lnSpc>
                <a:spcPts val="1200"/>
              </a:lnSpc>
              <a:spcBef>
                <a:spcPts val="0"/>
              </a:spcBef>
              <a:buNone/>
              <a:defRPr sz="8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descr="A black and grey text&#10;&#10;AI-generated content may be incorrect.">
            <a:extLst>
              <a:ext uri="{FF2B5EF4-FFF2-40B4-BE49-F238E27FC236}">
                <a16:creationId xmlns:a16="http://schemas.microsoft.com/office/drawing/2014/main" id="{E2EE19BB-078D-D45E-61A4-8B83EC36CD9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04950" y="2161214"/>
            <a:ext cx="3534102" cy="671479"/>
          </a:xfrm>
          <a:prstGeom prst="rect">
            <a:avLst/>
          </a:prstGeom>
        </p:spPr>
      </p:pic>
    </p:spTree>
    <p:extLst>
      <p:ext uri="{BB962C8B-B14F-4D97-AF65-F5344CB8AC3E}">
        <p14:creationId xmlns:p14="http://schemas.microsoft.com/office/powerpoint/2010/main" val="1198855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headers tiered sizes">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9C7EF99-D477-7244-B2BF-EBF4C616E2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242598" y="-2106540"/>
            <a:ext cx="6358255" cy="5236210"/>
          </a:xfrm>
          <a:prstGeom prst="rect">
            <a:avLst/>
          </a:prstGeom>
        </p:spPr>
      </p:pic>
      <p:pic>
        <p:nvPicPr>
          <p:cNvPr id="18" name="Picture 17">
            <a:extLst>
              <a:ext uri="{FF2B5EF4-FFF2-40B4-BE49-F238E27FC236}">
                <a16:creationId xmlns:a16="http://schemas.microsoft.com/office/drawing/2014/main" id="{D8F5FB0F-C50F-A342-9247-BFB2FA97E3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flipH="1" flipV="1">
            <a:off x="-3115898" y="1639770"/>
            <a:ext cx="6358255" cy="5236210"/>
          </a:xfrm>
          <a:prstGeom prst="rect">
            <a:avLst/>
          </a:prstGeom>
        </p:spPr>
      </p:pic>
      <p:sp>
        <p:nvSpPr>
          <p:cNvPr id="2" name="Title 1"/>
          <p:cNvSpPr>
            <a:spLocks noGrp="1"/>
          </p:cNvSpPr>
          <p:nvPr>
            <p:ph type="title"/>
          </p:nvPr>
        </p:nvSpPr>
        <p:spPr/>
        <p:txBody>
          <a:bodyPr>
            <a:noAutofit/>
          </a:bodyPr>
          <a:lstStyle>
            <a:lvl1pPr>
              <a:defRPr sz="2100" b="0" i="0" strike="noStrike">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Content Placeholder 2"/>
          <p:cNvSpPr>
            <a:spLocks noGrp="1"/>
          </p:cNvSpPr>
          <p:nvPr>
            <p:ph idx="1"/>
          </p:nvPr>
        </p:nvSpPr>
        <p:spPr>
          <a:xfrm>
            <a:off x="1066304" y="1346790"/>
            <a:ext cx="7010400" cy="667540"/>
          </a:xfrm>
        </p:spPr>
        <p:txBody>
          <a:bodyPr>
            <a:noAutofit/>
          </a:bodyPr>
          <a:lstStyle>
            <a:lvl1pPr marL="137160" indent="-137160">
              <a:lnSpc>
                <a:spcPts val="1800"/>
              </a:lnSpc>
              <a:spcBef>
                <a:spcPts val="1200"/>
              </a:spcBef>
              <a:spcAft>
                <a:spcPts val="0"/>
              </a:spcAft>
              <a:defRPr sz="1300"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spcAft>
                <a:spcPts val="0"/>
              </a:spcAft>
              <a:defRPr sz="1000"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sz="800"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864F95B1-CC34-474F-8803-E571B3AE6D8D}"/>
              </a:ext>
            </a:extLst>
          </p:cNvPr>
          <p:cNvSpPr>
            <a:spLocks noGrp="1"/>
          </p:cNvSpPr>
          <p:nvPr>
            <p:ph sz="quarter" idx="13"/>
          </p:nvPr>
        </p:nvSpPr>
        <p:spPr>
          <a:xfrm>
            <a:off x="1066304" y="2648146"/>
            <a:ext cx="7013448" cy="666193"/>
          </a:xfrm>
        </p:spPr>
        <p:txBody>
          <a:bodyPr/>
          <a:lstStyle>
            <a:lvl1pPr marL="137160" indent="-137160">
              <a:lnSpc>
                <a:spcPts val="1500"/>
              </a:lnSpc>
              <a:spcBef>
                <a:spcPts val="1200"/>
              </a:spcBef>
              <a:spcAft>
                <a:spcPts val="0"/>
              </a:spcAft>
              <a:defRPr sz="1000"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200"/>
              </a:lnSpc>
              <a:spcBef>
                <a:spcPts val="600"/>
              </a:spcBef>
              <a:spcAft>
                <a:spcPts val="0"/>
              </a:spcAft>
              <a:defRPr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defRPr b="0" i="0"/>
            </a:lvl4pPr>
            <a:lvl5pPr>
              <a:defRPr b="0" i="0"/>
            </a:lvl5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4E3CEAD5-1935-C74D-9677-FC503A418B47}"/>
              </a:ext>
            </a:extLst>
          </p:cNvPr>
          <p:cNvSpPr>
            <a:spLocks noGrp="1"/>
          </p:cNvSpPr>
          <p:nvPr>
            <p:ph sz="quarter" idx="14"/>
          </p:nvPr>
        </p:nvSpPr>
        <p:spPr>
          <a:xfrm>
            <a:off x="1066304" y="3757612"/>
            <a:ext cx="7013448" cy="661988"/>
          </a:xfrm>
        </p:spPr>
        <p:txBody>
          <a:bodyPr/>
          <a:lstStyle>
            <a:lvl1pPr marL="137160" indent="-137160">
              <a:lnSpc>
                <a:spcPts val="1200"/>
              </a:lnSpc>
              <a:spcBef>
                <a:spcPts val="1200"/>
              </a:spcBef>
              <a:spcAft>
                <a:spcPts val="0"/>
              </a:spcAft>
              <a:defRPr sz="800"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200"/>
              </a:lnSpc>
              <a:spcBef>
                <a:spcPts val="600"/>
              </a:spcBef>
              <a:spcAft>
                <a:spcPts val="0"/>
              </a:spcAft>
              <a:defRPr sz="800"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sz="800" b="0" i="0" strike="noStrike">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14" name="Text Placeholder 13">
            <a:extLst>
              <a:ext uri="{FF2B5EF4-FFF2-40B4-BE49-F238E27FC236}">
                <a16:creationId xmlns:a16="http://schemas.microsoft.com/office/drawing/2014/main" id="{E17EBDA9-17CF-E446-9F36-624E75E68500}"/>
              </a:ext>
            </a:extLst>
          </p:cNvPr>
          <p:cNvSpPr>
            <a:spLocks noGrp="1"/>
          </p:cNvSpPr>
          <p:nvPr>
            <p:ph type="body" sz="quarter" idx="15"/>
          </p:nvPr>
        </p:nvSpPr>
        <p:spPr>
          <a:xfrm>
            <a:off x="1066304" y="1035049"/>
            <a:ext cx="7010400" cy="274320"/>
          </a:xfrm>
        </p:spPr>
        <p:txBody>
          <a:bodyPr/>
          <a:lstStyle>
            <a:lvl1pPr>
              <a:buNone/>
              <a:defRPr sz="1600" b="1" i="0" strike="noStrike">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sp>
        <p:nvSpPr>
          <p:cNvPr id="15" name="Text Placeholder 13">
            <a:extLst>
              <a:ext uri="{FF2B5EF4-FFF2-40B4-BE49-F238E27FC236}">
                <a16:creationId xmlns:a16="http://schemas.microsoft.com/office/drawing/2014/main" id="{71D1035C-E5E5-B749-BD56-C6C86DF9211C}"/>
              </a:ext>
            </a:extLst>
          </p:cNvPr>
          <p:cNvSpPr>
            <a:spLocks noGrp="1"/>
          </p:cNvSpPr>
          <p:nvPr>
            <p:ph type="body" sz="quarter" idx="16"/>
          </p:nvPr>
        </p:nvSpPr>
        <p:spPr>
          <a:xfrm>
            <a:off x="1066304" y="2352805"/>
            <a:ext cx="7010400" cy="274320"/>
          </a:xfrm>
        </p:spPr>
        <p:txBody>
          <a:bodyPr/>
          <a:lstStyle>
            <a:lvl1pPr>
              <a:lnSpc>
                <a:spcPts val="1500"/>
              </a:lnSpc>
              <a:buNone/>
              <a:defRPr sz="1300" b="1" i="0" strike="noStrike">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sp>
        <p:nvSpPr>
          <p:cNvPr id="16" name="Text Placeholder 13">
            <a:extLst>
              <a:ext uri="{FF2B5EF4-FFF2-40B4-BE49-F238E27FC236}">
                <a16:creationId xmlns:a16="http://schemas.microsoft.com/office/drawing/2014/main" id="{7DF3CF96-976B-6546-A045-E4CEA315EC18}"/>
              </a:ext>
            </a:extLst>
          </p:cNvPr>
          <p:cNvSpPr>
            <a:spLocks noGrp="1"/>
          </p:cNvSpPr>
          <p:nvPr>
            <p:ph type="body" sz="quarter" idx="17"/>
          </p:nvPr>
        </p:nvSpPr>
        <p:spPr>
          <a:xfrm>
            <a:off x="1066304" y="3471035"/>
            <a:ext cx="7010400" cy="274320"/>
          </a:xfrm>
        </p:spPr>
        <p:txBody>
          <a:bodyPr/>
          <a:lstStyle>
            <a:lvl1pPr>
              <a:lnSpc>
                <a:spcPts val="1500"/>
              </a:lnSpc>
              <a:buNone/>
              <a:defRPr sz="1000" b="1" i="0" strike="noStrike" cap="none" baseline="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pic>
        <p:nvPicPr>
          <p:cNvPr id="11" name="Picture 10" descr="A black and grey text&#10;&#10;AI-generated content may be incorrect.">
            <a:extLst>
              <a:ext uri="{FF2B5EF4-FFF2-40B4-BE49-F238E27FC236}">
                <a16:creationId xmlns:a16="http://schemas.microsoft.com/office/drawing/2014/main" id="{469D96AB-0F52-FAC1-0DC2-E09C4DAD44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3" name="Footer Placeholder 5">
            <a:extLst>
              <a:ext uri="{FF2B5EF4-FFF2-40B4-BE49-F238E27FC236}">
                <a16:creationId xmlns:a16="http://schemas.microsoft.com/office/drawing/2014/main" id="{3D26B84B-10AE-55C0-A5A4-3E4D22A024A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9" name="Slide Number Placeholder 6">
            <a:extLst>
              <a:ext uri="{FF2B5EF4-FFF2-40B4-BE49-F238E27FC236}">
                <a16:creationId xmlns:a16="http://schemas.microsoft.com/office/drawing/2014/main" id="{AB843D32-3CCE-42D6-62D7-02DE606291E8}"/>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270660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headers all 16 p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3F07ABF-C532-AD47-BB3D-B1FB02D3F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flipH="1" flipV="1">
            <a:off x="-3115898" y="1639770"/>
            <a:ext cx="6358255" cy="5236210"/>
          </a:xfrm>
          <a:prstGeom prst="rect">
            <a:avLst/>
          </a:prstGeom>
        </p:spPr>
      </p:pic>
      <p:sp>
        <p:nvSpPr>
          <p:cNvPr id="2" name="Title 1"/>
          <p:cNvSpPr>
            <a:spLocks noGrp="1"/>
          </p:cNvSpPr>
          <p:nvPr>
            <p:ph type="title"/>
          </p:nvPr>
        </p:nvSpPr>
        <p:spPr/>
        <p:txBody>
          <a:bodyPr>
            <a:noAutofit/>
          </a:bodyPr>
          <a:lstStyle>
            <a:lvl1pPr>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Content Placeholder 2"/>
          <p:cNvSpPr>
            <a:spLocks noGrp="1"/>
          </p:cNvSpPr>
          <p:nvPr>
            <p:ph idx="1"/>
          </p:nvPr>
        </p:nvSpPr>
        <p:spPr>
          <a:xfrm>
            <a:off x="1066304" y="1346790"/>
            <a:ext cx="7010400" cy="674167"/>
          </a:xfrm>
        </p:spPr>
        <p:txBody>
          <a:bodyPr>
            <a:noAutofit/>
          </a:bodyPr>
          <a:lstStyle>
            <a:lvl1pPr marL="137160" indent="-137160">
              <a:lnSpc>
                <a:spcPts val="1800"/>
              </a:lnSpc>
              <a:spcBef>
                <a:spcPts val="1200"/>
              </a:spcBef>
              <a:spcAft>
                <a:spcPts val="0"/>
              </a:spcAft>
              <a:defRPr sz="13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spcAft>
                <a:spcPts val="0"/>
              </a:spcAft>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sz="8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864F95B1-CC34-474F-8803-E571B3AE6D8D}"/>
              </a:ext>
            </a:extLst>
          </p:cNvPr>
          <p:cNvSpPr>
            <a:spLocks noGrp="1"/>
          </p:cNvSpPr>
          <p:nvPr>
            <p:ph sz="quarter" idx="13"/>
          </p:nvPr>
        </p:nvSpPr>
        <p:spPr>
          <a:xfrm>
            <a:off x="1066304" y="2571750"/>
            <a:ext cx="7013448" cy="764117"/>
          </a:xfrm>
        </p:spPr>
        <p:txBody>
          <a:bodyPr/>
          <a:lstStyle>
            <a:lvl1pPr marL="137160" indent="-137160">
              <a:lnSpc>
                <a:spcPts val="1800"/>
              </a:lnSpc>
              <a:spcBef>
                <a:spcPts val="1200"/>
              </a:spcBef>
              <a:spcAft>
                <a:spcPts val="0"/>
              </a:spcAft>
              <a:defRPr sz="13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spcAft>
                <a:spcPts val="0"/>
              </a:spcAft>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defRPr b="0" i="0"/>
            </a:lvl4pPr>
            <a:lvl5pPr>
              <a:defRPr b="0" i="0"/>
            </a:lvl5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4E3CEAD5-1935-C74D-9677-FC503A418B47}"/>
              </a:ext>
            </a:extLst>
          </p:cNvPr>
          <p:cNvSpPr>
            <a:spLocks noGrp="1"/>
          </p:cNvSpPr>
          <p:nvPr>
            <p:ph sz="quarter" idx="14"/>
          </p:nvPr>
        </p:nvSpPr>
        <p:spPr>
          <a:xfrm>
            <a:off x="1066304" y="3757612"/>
            <a:ext cx="7013448" cy="668614"/>
          </a:xfrm>
        </p:spPr>
        <p:txBody>
          <a:bodyPr/>
          <a:lstStyle>
            <a:lvl1pPr marL="137160" indent="-137160">
              <a:lnSpc>
                <a:spcPts val="1800"/>
              </a:lnSpc>
              <a:spcBef>
                <a:spcPts val="1200"/>
              </a:spcBef>
              <a:spcAft>
                <a:spcPts val="0"/>
              </a:spcAft>
              <a:defRPr sz="13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spcAft>
                <a:spcPts val="0"/>
              </a:spcAft>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sz="8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14" name="Text Placeholder 13">
            <a:extLst>
              <a:ext uri="{FF2B5EF4-FFF2-40B4-BE49-F238E27FC236}">
                <a16:creationId xmlns:a16="http://schemas.microsoft.com/office/drawing/2014/main" id="{E17EBDA9-17CF-E446-9F36-624E75E68500}"/>
              </a:ext>
            </a:extLst>
          </p:cNvPr>
          <p:cNvSpPr>
            <a:spLocks noGrp="1"/>
          </p:cNvSpPr>
          <p:nvPr>
            <p:ph type="body" sz="quarter" idx="15"/>
          </p:nvPr>
        </p:nvSpPr>
        <p:spPr>
          <a:xfrm>
            <a:off x="1066304" y="1035049"/>
            <a:ext cx="7010400" cy="274320"/>
          </a:xfrm>
        </p:spPr>
        <p:txBody>
          <a:bodyPr/>
          <a:lstStyle>
            <a:lvl1pPr>
              <a:buNone/>
              <a:defRPr sz="1600" b="1"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sp>
        <p:nvSpPr>
          <p:cNvPr id="15" name="Text Placeholder 13">
            <a:extLst>
              <a:ext uri="{FF2B5EF4-FFF2-40B4-BE49-F238E27FC236}">
                <a16:creationId xmlns:a16="http://schemas.microsoft.com/office/drawing/2014/main" id="{71D1035C-E5E5-B749-BD56-C6C86DF9211C}"/>
              </a:ext>
            </a:extLst>
          </p:cNvPr>
          <p:cNvSpPr>
            <a:spLocks noGrp="1"/>
          </p:cNvSpPr>
          <p:nvPr>
            <p:ph type="body" sz="quarter" idx="16"/>
          </p:nvPr>
        </p:nvSpPr>
        <p:spPr>
          <a:xfrm>
            <a:off x="1066304" y="2263439"/>
            <a:ext cx="7010400" cy="274320"/>
          </a:xfrm>
        </p:spPr>
        <p:txBody>
          <a:bodyPr/>
          <a:lstStyle>
            <a:lvl1pPr>
              <a:lnSpc>
                <a:spcPts val="1800"/>
              </a:lnSpc>
              <a:buNone/>
              <a:defRPr sz="1600" b="1"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sp>
        <p:nvSpPr>
          <p:cNvPr id="16" name="Text Placeholder 13">
            <a:extLst>
              <a:ext uri="{FF2B5EF4-FFF2-40B4-BE49-F238E27FC236}">
                <a16:creationId xmlns:a16="http://schemas.microsoft.com/office/drawing/2014/main" id="{7DF3CF96-976B-6546-A045-E4CEA315EC18}"/>
              </a:ext>
            </a:extLst>
          </p:cNvPr>
          <p:cNvSpPr>
            <a:spLocks noGrp="1"/>
          </p:cNvSpPr>
          <p:nvPr>
            <p:ph type="body" sz="quarter" idx="17"/>
          </p:nvPr>
        </p:nvSpPr>
        <p:spPr>
          <a:xfrm>
            <a:off x="1066304" y="3445095"/>
            <a:ext cx="7010400" cy="274320"/>
          </a:xfrm>
        </p:spPr>
        <p:txBody>
          <a:bodyPr/>
          <a:lstStyle>
            <a:lvl1pPr>
              <a:buNone/>
              <a:defRPr sz="1600" b="1" i="0" cap="none" baseline="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pic>
        <p:nvPicPr>
          <p:cNvPr id="19" name="Picture 18">
            <a:extLst>
              <a:ext uri="{FF2B5EF4-FFF2-40B4-BE49-F238E27FC236}">
                <a16:creationId xmlns:a16="http://schemas.microsoft.com/office/drawing/2014/main" id="{560C470A-9D31-6B41-908F-790725982D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242598" y="-2106540"/>
            <a:ext cx="6358255" cy="5236210"/>
          </a:xfrm>
          <a:prstGeom prst="rect">
            <a:avLst/>
          </a:prstGeom>
        </p:spPr>
      </p:pic>
      <p:pic>
        <p:nvPicPr>
          <p:cNvPr id="9" name="Picture 8" descr="A black and grey text&#10;&#10;AI-generated content may be incorrect.">
            <a:extLst>
              <a:ext uri="{FF2B5EF4-FFF2-40B4-BE49-F238E27FC236}">
                <a16:creationId xmlns:a16="http://schemas.microsoft.com/office/drawing/2014/main" id="{3733C80D-21DA-021B-1D2A-00B33EAC5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1" name="Footer Placeholder 5">
            <a:extLst>
              <a:ext uri="{FF2B5EF4-FFF2-40B4-BE49-F238E27FC236}">
                <a16:creationId xmlns:a16="http://schemas.microsoft.com/office/drawing/2014/main" id="{F72F118A-A2D7-69BE-DB22-71DEEE940E07}"/>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3" name="Slide Number Placeholder 6">
            <a:extLst>
              <a:ext uri="{FF2B5EF4-FFF2-40B4-BE49-F238E27FC236}">
                <a16:creationId xmlns:a16="http://schemas.microsoft.com/office/drawing/2014/main" id="{F640652A-9DDD-66AC-2D78-DB9F27D3C0BD}"/>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420548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heavy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Content Placeholder 2"/>
          <p:cNvSpPr>
            <a:spLocks noGrp="1"/>
          </p:cNvSpPr>
          <p:nvPr>
            <p:ph idx="1"/>
          </p:nvPr>
        </p:nvSpPr>
        <p:spPr>
          <a:xfrm>
            <a:off x="1066304" y="1346790"/>
            <a:ext cx="7010896" cy="2937343"/>
          </a:xfrm>
        </p:spPr>
        <p:txBody>
          <a:bodyPr>
            <a:noAutofit/>
          </a:bodyPr>
          <a:lstStyle>
            <a:lvl1pPr marL="137160" indent="-137160">
              <a:lnSpc>
                <a:spcPts val="1800"/>
              </a:lnSpc>
              <a:spcBef>
                <a:spcPts val="1200"/>
              </a:spcBef>
              <a:spcAft>
                <a:spcPts val="0"/>
              </a:spcAft>
              <a:defRPr sz="13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spcAft>
                <a:spcPts val="0"/>
              </a:spcAft>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sz="8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4" name="Text Placeholder 13">
            <a:extLst>
              <a:ext uri="{FF2B5EF4-FFF2-40B4-BE49-F238E27FC236}">
                <a16:creationId xmlns:a16="http://schemas.microsoft.com/office/drawing/2014/main" id="{E17EBDA9-17CF-E446-9F36-624E75E68500}"/>
              </a:ext>
            </a:extLst>
          </p:cNvPr>
          <p:cNvSpPr>
            <a:spLocks noGrp="1"/>
          </p:cNvSpPr>
          <p:nvPr>
            <p:ph type="body" sz="quarter" idx="15"/>
          </p:nvPr>
        </p:nvSpPr>
        <p:spPr>
          <a:xfrm>
            <a:off x="1066304" y="1035049"/>
            <a:ext cx="7010400" cy="274320"/>
          </a:xfrm>
        </p:spPr>
        <p:txBody>
          <a:bodyPr/>
          <a:lstStyle>
            <a:lvl1pPr>
              <a:buNone/>
              <a:defRPr sz="1600" b="1"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pic>
        <p:nvPicPr>
          <p:cNvPr id="19" name="Picture 18">
            <a:extLst>
              <a:ext uri="{FF2B5EF4-FFF2-40B4-BE49-F238E27FC236}">
                <a16:creationId xmlns:a16="http://schemas.microsoft.com/office/drawing/2014/main" id="{560C470A-9D31-6B41-908F-790725982D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344199" y="-2326674"/>
            <a:ext cx="6358255" cy="5236210"/>
          </a:xfrm>
          <a:prstGeom prst="rect">
            <a:avLst/>
          </a:prstGeom>
        </p:spPr>
      </p:pic>
      <p:pic>
        <p:nvPicPr>
          <p:cNvPr id="10" name="Picture 9" descr="A black and grey text&#10;&#10;AI-generated content may be incorrect.">
            <a:extLst>
              <a:ext uri="{FF2B5EF4-FFF2-40B4-BE49-F238E27FC236}">
                <a16:creationId xmlns:a16="http://schemas.microsoft.com/office/drawing/2014/main" id="{71F01BEF-A81E-9473-87D8-D78E727BE69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1" name="Footer Placeholder 5">
            <a:extLst>
              <a:ext uri="{FF2B5EF4-FFF2-40B4-BE49-F238E27FC236}">
                <a16:creationId xmlns:a16="http://schemas.microsoft.com/office/drawing/2014/main" id="{54C5014B-D895-138B-4836-D6F5F870C224}"/>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2" name="Slide Number Placeholder 6">
            <a:extLst>
              <a:ext uri="{FF2B5EF4-FFF2-40B4-BE49-F238E27FC236}">
                <a16:creationId xmlns:a16="http://schemas.microsoft.com/office/drawing/2014/main" id="{0D8D9037-3C34-AE51-7326-53CC04586A0A}"/>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4119454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2 column heavy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Content Placeholder 2"/>
          <p:cNvSpPr>
            <a:spLocks noGrp="1"/>
          </p:cNvSpPr>
          <p:nvPr>
            <p:ph idx="1"/>
          </p:nvPr>
        </p:nvSpPr>
        <p:spPr>
          <a:xfrm>
            <a:off x="381000" y="1346790"/>
            <a:ext cx="4038600" cy="2937343"/>
          </a:xfrm>
        </p:spPr>
        <p:txBody>
          <a:bodyPr>
            <a:noAutofit/>
          </a:bodyPr>
          <a:lstStyle>
            <a:lvl1pPr marL="137160" indent="-137160">
              <a:lnSpc>
                <a:spcPts val="1500"/>
              </a:lnSpc>
              <a:spcBef>
                <a:spcPts val="1200"/>
              </a:spcBef>
              <a:spcAft>
                <a:spcPts val="0"/>
              </a:spcAft>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spcAft>
                <a:spcPts val="0"/>
              </a:spcAft>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sz="8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4" name="Text Placeholder 13">
            <a:extLst>
              <a:ext uri="{FF2B5EF4-FFF2-40B4-BE49-F238E27FC236}">
                <a16:creationId xmlns:a16="http://schemas.microsoft.com/office/drawing/2014/main" id="{E17EBDA9-17CF-E446-9F36-624E75E68500}"/>
              </a:ext>
            </a:extLst>
          </p:cNvPr>
          <p:cNvSpPr>
            <a:spLocks noGrp="1"/>
          </p:cNvSpPr>
          <p:nvPr>
            <p:ph type="body" sz="quarter" idx="15"/>
          </p:nvPr>
        </p:nvSpPr>
        <p:spPr>
          <a:xfrm>
            <a:off x="381000" y="1035049"/>
            <a:ext cx="4038600" cy="274320"/>
          </a:xfrm>
        </p:spPr>
        <p:txBody>
          <a:bodyPr/>
          <a:lstStyle>
            <a:lvl1pPr>
              <a:buNone/>
              <a:defRPr sz="1300" b="1"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pic>
        <p:nvPicPr>
          <p:cNvPr id="19" name="Picture 18">
            <a:extLst>
              <a:ext uri="{FF2B5EF4-FFF2-40B4-BE49-F238E27FC236}">
                <a16:creationId xmlns:a16="http://schemas.microsoft.com/office/drawing/2014/main" id="{560C470A-9D31-6B41-908F-790725982D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344199" y="-2326674"/>
            <a:ext cx="6358255" cy="5236210"/>
          </a:xfrm>
          <a:prstGeom prst="rect">
            <a:avLst/>
          </a:prstGeom>
        </p:spPr>
      </p:pic>
      <p:sp>
        <p:nvSpPr>
          <p:cNvPr id="9" name="Content Placeholder 2">
            <a:extLst>
              <a:ext uri="{FF2B5EF4-FFF2-40B4-BE49-F238E27FC236}">
                <a16:creationId xmlns:a16="http://schemas.microsoft.com/office/drawing/2014/main" id="{B10CDFD8-3741-F645-AFDB-3BBA59691F08}"/>
              </a:ext>
            </a:extLst>
          </p:cNvPr>
          <p:cNvSpPr>
            <a:spLocks noGrp="1"/>
          </p:cNvSpPr>
          <p:nvPr>
            <p:ph idx="16"/>
          </p:nvPr>
        </p:nvSpPr>
        <p:spPr>
          <a:xfrm>
            <a:off x="4723904" y="1374731"/>
            <a:ext cx="4041648" cy="2937343"/>
          </a:xfrm>
        </p:spPr>
        <p:txBody>
          <a:bodyPr>
            <a:noAutofit/>
          </a:bodyPr>
          <a:lstStyle>
            <a:lvl1pPr marL="137160" indent="-137160">
              <a:lnSpc>
                <a:spcPts val="1500"/>
              </a:lnSpc>
              <a:spcBef>
                <a:spcPts val="1200"/>
              </a:spcBef>
              <a:spcAft>
                <a:spcPts val="0"/>
              </a:spcAft>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spcAft>
                <a:spcPts val="0"/>
              </a:spcAft>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685800" indent="-137160">
              <a:lnSpc>
                <a:spcPts val="1200"/>
              </a:lnSpc>
              <a:spcBef>
                <a:spcPts val="600"/>
              </a:spcBef>
              <a:spcAft>
                <a:spcPts val="0"/>
              </a:spcAft>
              <a:defRPr sz="8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a:spcBef>
                <a:spcPts val="600"/>
              </a:spcBef>
              <a:defRPr b="0"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Text Placeholder 13">
            <a:extLst>
              <a:ext uri="{FF2B5EF4-FFF2-40B4-BE49-F238E27FC236}">
                <a16:creationId xmlns:a16="http://schemas.microsoft.com/office/drawing/2014/main" id="{C100B15C-4508-6C45-9B3C-1EAE1D0D2268}"/>
              </a:ext>
            </a:extLst>
          </p:cNvPr>
          <p:cNvSpPr>
            <a:spLocks noGrp="1"/>
          </p:cNvSpPr>
          <p:nvPr>
            <p:ph type="body" sz="quarter" idx="17"/>
          </p:nvPr>
        </p:nvSpPr>
        <p:spPr>
          <a:xfrm>
            <a:off x="4723904" y="1062990"/>
            <a:ext cx="4041648" cy="274320"/>
          </a:xfrm>
        </p:spPr>
        <p:txBody>
          <a:bodyPr/>
          <a:lstStyle>
            <a:lvl1pPr>
              <a:buNone/>
              <a:defRPr sz="1300" b="1"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pPr lvl="0"/>
            <a:r>
              <a:rPr lang="en-US" dirty="0"/>
              <a:t>Click to edit Master text styles</a:t>
            </a:r>
          </a:p>
        </p:txBody>
      </p:sp>
      <p:pic>
        <p:nvPicPr>
          <p:cNvPr id="4" name="Picture 3" descr="A black and grey text&#10;&#10;AI-generated content may be incorrect.">
            <a:extLst>
              <a:ext uri="{FF2B5EF4-FFF2-40B4-BE49-F238E27FC236}">
                <a16:creationId xmlns:a16="http://schemas.microsoft.com/office/drawing/2014/main" id="{571A2A6B-2A16-DB67-E9F4-91FA0C74C54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7" name="Footer Placeholder 5">
            <a:extLst>
              <a:ext uri="{FF2B5EF4-FFF2-40B4-BE49-F238E27FC236}">
                <a16:creationId xmlns:a16="http://schemas.microsoft.com/office/drawing/2014/main" id="{9270885A-CB89-25D5-D311-DA0E890C7299}"/>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8" name="Slide Number Placeholder 6">
            <a:extLst>
              <a:ext uri="{FF2B5EF4-FFF2-40B4-BE49-F238E27FC236}">
                <a16:creationId xmlns:a16="http://schemas.microsoft.com/office/drawing/2014/main" id="{D64922B0-1694-FFF7-1C7B-118A3179CA2F}"/>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617498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header and statement - light">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229AF80-1F5D-1A42-B524-8CA713BDFC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4263695" y="-1122596"/>
            <a:ext cx="6692900" cy="5511800"/>
          </a:xfrm>
          <a:prstGeom prst="rect">
            <a:avLst/>
          </a:prstGeom>
        </p:spPr>
      </p:pic>
      <p:sp>
        <p:nvSpPr>
          <p:cNvPr id="2" name="Title 1"/>
          <p:cNvSpPr>
            <a:spLocks noGrp="1"/>
          </p:cNvSpPr>
          <p:nvPr>
            <p:ph type="title"/>
          </p:nvPr>
        </p:nvSpPr>
        <p:spPr>
          <a:xfrm>
            <a:off x="1066800" y="2569724"/>
            <a:ext cx="3900791" cy="530158"/>
          </a:xfrm>
        </p:spPr>
        <p:txBody>
          <a:bodyPr>
            <a:noAutofit/>
          </a:bodyPr>
          <a:lstStyle>
            <a:lvl1pPr>
              <a:lnSpc>
                <a:spcPts val="1800"/>
              </a:lnSpc>
              <a:defRPr sz="1600" b="1"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3" name="Content Placeholder 2"/>
          <p:cNvSpPr>
            <a:spLocks noGrp="1"/>
          </p:cNvSpPr>
          <p:nvPr>
            <p:ph idx="1"/>
          </p:nvPr>
        </p:nvSpPr>
        <p:spPr>
          <a:xfrm>
            <a:off x="1066800" y="2872902"/>
            <a:ext cx="3505200" cy="1579322"/>
          </a:xfrm>
        </p:spPr>
        <p:txBody>
          <a:bodyPr>
            <a:noAutofit/>
          </a:bodyPr>
          <a:lstStyle>
            <a:lvl1pPr marL="137160" indent="-137160">
              <a:lnSpc>
                <a:spcPts val="1500"/>
              </a:lnSpc>
              <a:spcBef>
                <a:spcPts val="600"/>
              </a:spcBef>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457200" indent="-137160">
              <a:lnSpc>
                <a:spcPts val="1500"/>
              </a:lnSpc>
              <a:spcBef>
                <a:spcPts val="600"/>
              </a:spcBef>
              <a:defRPr sz="10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2pPr>
            <a:lvl3pPr marL="685800" indent="-137160">
              <a:lnSpc>
                <a:spcPts val="1500"/>
              </a:lnSpc>
              <a:spcBef>
                <a:spcPts val="400"/>
              </a:spcBef>
              <a:defRPr sz="10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3pPr>
            <a:lvl4pPr indent="-137160">
              <a:lnSpc>
                <a:spcPts val="1500"/>
              </a:lnSpc>
              <a:spcBef>
                <a:spcPts val="400"/>
              </a:spcBef>
              <a:defRPr sz="10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4pPr>
            <a:lvl5pPr indent="-137160">
              <a:lnSpc>
                <a:spcPts val="1500"/>
              </a:lnSpc>
              <a:spcBef>
                <a:spcPts val="400"/>
              </a:spcBef>
              <a:defRPr sz="10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A black and grey text&#10;&#10;AI-generated content may be incorrect.">
            <a:extLst>
              <a:ext uri="{FF2B5EF4-FFF2-40B4-BE49-F238E27FC236}">
                <a16:creationId xmlns:a16="http://schemas.microsoft.com/office/drawing/2014/main" id="{51FFAB23-F861-F566-9995-1401C21C576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8" name="Footer Placeholder 5">
            <a:extLst>
              <a:ext uri="{FF2B5EF4-FFF2-40B4-BE49-F238E27FC236}">
                <a16:creationId xmlns:a16="http://schemas.microsoft.com/office/drawing/2014/main" id="{234B8498-A423-CA31-1117-746D4BBB8827}"/>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1" name="Slide Number Placeholder 6">
            <a:extLst>
              <a:ext uri="{FF2B5EF4-FFF2-40B4-BE49-F238E27FC236}">
                <a16:creationId xmlns:a16="http://schemas.microsoft.com/office/drawing/2014/main" id="{A4901D46-D379-E80D-A09F-5AD80AFB0847}"/>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235009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 l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66800" y="1037640"/>
            <a:ext cx="7696200" cy="2905685"/>
          </a:xfrm>
        </p:spPr>
        <p:txBody>
          <a:bodyPr anchor="ctr" anchorCtr="0"/>
          <a:lstStyle>
            <a:lvl1pPr algn="l">
              <a:lnSpc>
                <a:spcPts val="5000"/>
              </a:lnSpc>
              <a:defRPr sz="4200" b="1"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Large </a:t>
            </a:r>
            <a:br>
              <a:rPr lang="en-US" dirty="0"/>
            </a:br>
            <a:r>
              <a:rPr lang="en-US" dirty="0"/>
              <a:t>title style</a:t>
            </a:r>
          </a:p>
        </p:txBody>
      </p:sp>
      <p:pic>
        <p:nvPicPr>
          <p:cNvPr id="11" name="Picture 10">
            <a:extLst>
              <a:ext uri="{FF2B5EF4-FFF2-40B4-BE49-F238E27FC236}">
                <a16:creationId xmlns:a16="http://schemas.microsoft.com/office/drawing/2014/main" id="{27E20823-A05A-E642-BC2B-B9108AE6ED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a:off x="5066895" y="-1628380"/>
            <a:ext cx="5473700" cy="5511800"/>
          </a:xfrm>
          <a:prstGeom prst="rect">
            <a:avLst/>
          </a:prstGeom>
        </p:spPr>
      </p:pic>
      <p:pic>
        <p:nvPicPr>
          <p:cNvPr id="4" name="Picture 3" descr="A black and grey text&#10;&#10;AI-generated content may be incorrect.">
            <a:extLst>
              <a:ext uri="{FF2B5EF4-FFF2-40B4-BE49-F238E27FC236}">
                <a16:creationId xmlns:a16="http://schemas.microsoft.com/office/drawing/2014/main" id="{427EF298-6705-6CFB-2AE3-117AC0AD239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8" name="Footer Placeholder 5">
            <a:extLst>
              <a:ext uri="{FF2B5EF4-FFF2-40B4-BE49-F238E27FC236}">
                <a16:creationId xmlns:a16="http://schemas.microsoft.com/office/drawing/2014/main" id="{2D4714FF-B25D-F7C4-188C-F8378460F5CD}"/>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9" name="Slide Number Placeholder 6">
            <a:extLst>
              <a:ext uri="{FF2B5EF4-FFF2-40B4-BE49-F238E27FC236}">
                <a16:creationId xmlns:a16="http://schemas.microsoft.com/office/drawing/2014/main" id="{71F5A9F8-4432-0796-5F1F-2FC8919117FC}"/>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3064669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statement - l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66800" y="1046892"/>
            <a:ext cx="7010400" cy="2907792"/>
          </a:xfrm>
        </p:spPr>
        <p:txBody>
          <a:bodyPr anchor="ctr" anchorCtr="0"/>
          <a:lstStyle>
            <a:lvl1pPr algn="l">
              <a:lnSpc>
                <a:spcPts val="4200"/>
              </a:lnSpc>
              <a:defRPr sz="3400" b="1"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statement style</a:t>
            </a:r>
          </a:p>
        </p:txBody>
      </p:sp>
      <p:sp>
        <p:nvSpPr>
          <p:cNvPr id="3" name="Text Placeholder 2"/>
          <p:cNvSpPr>
            <a:spLocks noGrp="1"/>
          </p:cNvSpPr>
          <p:nvPr>
            <p:ph type="body" idx="1"/>
          </p:nvPr>
        </p:nvSpPr>
        <p:spPr>
          <a:xfrm>
            <a:off x="1066800" y="4059936"/>
            <a:ext cx="7010400" cy="502920"/>
          </a:xfrm>
        </p:spPr>
        <p:txBody>
          <a:bodyPr/>
          <a:lstStyle>
            <a:lvl1pPr marL="0" indent="0" algn="l">
              <a:buNone/>
              <a:defRPr sz="15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pic>
        <p:nvPicPr>
          <p:cNvPr id="9" name="Picture 8">
            <a:extLst>
              <a:ext uri="{FF2B5EF4-FFF2-40B4-BE49-F238E27FC236}">
                <a16:creationId xmlns:a16="http://schemas.microsoft.com/office/drawing/2014/main" id="{AE52DFDD-1B92-3744-8203-DEC67FD170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016341" y="-1540240"/>
            <a:ext cx="6358255" cy="5236210"/>
          </a:xfrm>
          <a:prstGeom prst="rect">
            <a:avLst/>
          </a:prstGeom>
        </p:spPr>
      </p:pic>
      <p:pic>
        <p:nvPicPr>
          <p:cNvPr id="7" name="Picture 6" descr="A black and grey text&#10;&#10;AI-generated content may be incorrect.">
            <a:extLst>
              <a:ext uri="{FF2B5EF4-FFF2-40B4-BE49-F238E27FC236}">
                <a16:creationId xmlns:a16="http://schemas.microsoft.com/office/drawing/2014/main" id="{26830C4E-0A61-2D55-9FC3-09177C5426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8" name="Footer Placeholder 5">
            <a:extLst>
              <a:ext uri="{FF2B5EF4-FFF2-40B4-BE49-F238E27FC236}">
                <a16:creationId xmlns:a16="http://schemas.microsoft.com/office/drawing/2014/main" id="{33785C5B-DD7B-978E-D570-26AD6CB437D6}"/>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1" name="Slide Number Placeholder 6">
            <a:extLst>
              <a:ext uri="{FF2B5EF4-FFF2-40B4-BE49-F238E27FC236}">
                <a16:creationId xmlns:a16="http://schemas.microsoft.com/office/drawing/2014/main" id="{B0C1F170-8D2C-8321-4BB6-9EF7A925E8C7}"/>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4230655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ith footer - light">
    <p:spTree>
      <p:nvGrpSpPr>
        <p:cNvPr id="1" name=""/>
        <p:cNvGrpSpPr/>
        <p:nvPr/>
      </p:nvGrpSpPr>
      <p:grpSpPr>
        <a:xfrm>
          <a:off x="0" y="0"/>
          <a:ext cx="0" cy="0"/>
          <a:chOff x="0" y="0"/>
          <a:chExt cx="0" cy="0"/>
        </a:xfrm>
      </p:grpSpPr>
      <p:pic>
        <p:nvPicPr>
          <p:cNvPr id="3" name="Picture 2" descr="A black and grey text&#10;&#10;AI-generated content may be incorrect.">
            <a:extLst>
              <a:ext uri="{FF2B5EF4-FFF2-40B4-BE49-F238E27FC236}">
                <a16:creationId xmlns:a16="http://schemas.microsoft.com/office/drawing/2014/main" id="{9F1F2DC4-A97B-A9A1-563C-EE7CD1ABC5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4" name="Footer Placeholder 5">
            <a:extLst>
              <a:ext uri="{FF2B5EF4-FFF2-40B4-BE49-F238E27FC236}">
                <a16:creationId xmlns:a16="http://schemas.microsoft.com/office/drawing/2014/main" id="{E2B1DE54-10ED-AF94-4353-F16B534ACC6F}"/>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7" name="Slide Number Placeholder 6">
            <a:extLst>
              <a:ext uri="{FF2B5EF4-FFF2-40B4-BE49-F238E27FC236}">
                <a16:creationId xmlns:a16="http://schemas.microsoft.com/office/drawing/2014/main" id="{0799ACB5-348A-8585-8A15-40953D6D3002}"/>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59151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slide with image">
    <p:spTree>
      <p:nvGrpSpPr>
        <p:cNvPr id="1" name=""/>
        <p:cNvGrpSpPr/>
        <p:nvPr/>
      </p:nvGrpSpPr>
      <p:grpSpPr>
        <a:xfrm>
          <a:off x="0" y="0"/>
          <a:ext cx="0" cy="0"/>
          <a:chOff x="0" y="0"/>
          <a:chExt cx="0" cy="0"/>
        </a:xfrm>
      </p:grpSpPr>
      <p:sp>
        <p:nvSpPr>
          <p:cNvPr id="2" name="Title 1"/>
          <p:cNvSpPr>
            <a:spLocks noGrp="1"/>
          </p:cNvSpPr>
          <p:nvPr>
            <p:ph type="title"/>
          </p:nvPr>
        </p:nvSpPr>
        <p:spPr>
          <a:xfrm>
            <a:off x="1066800" y="1859198"/>
            <a:ext cx="4735748" cy="2297754"/>
          </a:xfrm>
        </p:spPr>
        <p:txBody>
          <a:bodyPr anchor="t" anchorCtr="0"/>
          <a:lstStyle>
            <a:lvl1pPr>
              <a:lnSpc>
                <a:spcPts val="5000"/>
              </a:lnSpc>
              <a:defRPr sz="4200" b="1"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4" name="Text Placeholder 3"/>
          <p:cNvSpPr>
            <a:spLocks noGrp="1"/>
          </p:cNvSpPr>
          <p:nvPr>
            <p:ph type="body" sz="half" idx="2"/>
          </p:nvPr>
        </p:nvSpPr>
        <p:spPr>
          <a:xfrm>
            <a:off x="1066800" y="3229583"/>
            <a:ext cx="2774576" cy="636148"/>
          </a:xfrm>
        </p:spPr>
        <p:txBody>
          <a:bodyPr/>
          <a:lstStyle>
            <a:lvl1pPr marL="0" indent="0">
              <a:lnSpc>
                <a:spcPts val="1600"/>
              </a:lnSpc>
              <a:spcBef>
                <a:spcPts val="0"/>
              </a:spcBef>
              <a:spcAft>
                <a:spcPts val="900"/>
              </a:spcAft>
              <a:buFont typeface="Arial" panose="020B0604020202020204" pitchFamily="34" charset="0"/>
              <a:buNone/>
              <a:defRPr sz="13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pic>
        <p:nvPicPr>
          <p:cNvPr id="5" name="Picture 4" descr="A black and grey text&#10;&#10;AI-generated content may be incorrect.">
            <a:extLst>
              <a:ext uri="{FF2B5EF4-FFF2-40B4-BE49-F238E27FC236}">
                <a16:creationId xmlns:a16="http://schemas.microsoft.com/office/drawing/2014/main" id="{74FD9E87-AC4D-1C0F-31E1-C376D0B9B0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9" name="Footer Placeholder 5">
            <a:extLst>
              <a:ext uri="{FF2B5EF4-FFF2-40B4-BE49-F238E27FC236}">
                <a16:creationId xmlns:a16="http://schemas.microsoft.com/office/drawing/2014/main" id="{75964035-3E3F-E567-0853-0AC2B458E26C}"/>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4BEEAEA2-9437-0B5D-252D-0FDB1A4DDD57}"/>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3183214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Bullet text and image">
    <p:spTree>
      <p:nvGrpSpPr>
        <p:cNvPr id="1" name=""/>
        <p:cNvGrpSpPr/>
        <p:nvPr/>
      </p:nvGrpSpPr>
      <p:grpSpPr>
        <a:xfrm>
          <a:off x="0" y="0"/>
          <a:ext cx="0" cy="0"/>
          <a:chOff x="0" y="0"/>
          <a:chExt cx="0" cy="0"/>
        </a:xfrm>
      </p:grpSpPr>
      <p:sp>
        <p:nvSpPr>
          <p:cNvPr id="2" name="Title 1"/>
          <p:cNvSpPr>
            <a:spLocks noGrp="1"/>
          </p:cNvSpPr>
          <p:nvPr>
            <p:ph type="title"/>
          </p:nvPr>
        </p:nvSpPr>
        <p:spPr>
          <a:xfrm>
            <a:off x="381001" y="400050"/>
            <a:ext cx="2792506" cy="711574"/>
          </a:xfrm>
        </p:spPr>
        <p:txBody>
          <a:bodyPr anchor="t" anchorCtr="0"/>
          <a:lstStyle>
            <a:lvl1pPr>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Picture Placeholder 2"/>
          <p:cNvSpPr>
            <a:spLocks noGrp="1"/>
          </p:cNvSpPr>
          <p:nvPr>
            <p:ph type="pic" idx="1"/>
          </p:nvPr>
        </p:nvSpPr>
        <p:spPr>
          <a:xfrm>
            <a:off x="3276600" y="405694"/>
            <a:ext cx="5486400" cy="411550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381001" y="923544"/>
            <a:ext cx="2774576" cy="3201591"/>
          </a:xfrm>
        </p:spPr>
        <p:txBody>
          <a:bodyPr/>
          <a:lstStyle>
            <a:lvl1pPr marL="137160" indent="-137160">
              <a:lnSpc>
                <a:spcPts val="1300"/>
              </a:lnSpc>
              <a:spcBef>
                <a:spcPts val="0"/>
              </a:spcBef>
              <a:spcAft>
                <a:spcPts val="600"/>
              </a:spcAft>
              <a:buFont typeface="Arial" panose="020B0604020202020204" pitchFamily="34" charset="0"/>
              <a:buChar char="•"/>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pic>
        <p:nvPicPr>
          <p:cNvPr id="10" name="Picture 9">
            <a:extLst>
              <a:ext uri="{FF2B5EF4-FFF2-40B4-BE49-F238E27FC236}">
                <a16:creationId xmlns:a16="http://schemas.microsoft.com/office/drawing/2014/main" id="{99E7C6B2-9C14-3144-B4F4-D26A1242F2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1433" y="-1950897"/>
            <a:ext cx="6358255" cy="5236210"/>
          </a:xfrm>
          <a:prstGeom prst="rect">
            <a:avLst/>
          </a:prstGeom>
        </p:spPr>
      </p:pic>
      <p:pic>
        <p:nvPicPr>
          <p:cNvPr id="8" name="Picture 7" descr="A black and grey text&#10;&#10;AI-generated content may be incorrect.">
            <a:extLst>
              <a:ext uri="{FF2B5EF4-FFF2-40B4-BE49-F238E27FC236}">
                <a16:creationId xmlns:a16="http://schemas.microsoft.com/office/drawing/2014/main" id="{132BC102-6747-4036-401F-77835669977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1" name="Footer Placeholder 5">
            <a:extLst>
              <a:ext uri="{FF2B5EF4-FFF2-40B4-BE49-F238E27FC236}">
                <a16:creationId xmlns:a16="http://schemas.microsoft.com/office/drawing/2014/main" id="{38ADE08D-163F-14C1-0B53-AD8E4F12FED8}"/>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2" name="Slide Number Placeholder 6">
            <a:extLst>
              <a:ext uri="{FF2B5EF4-FFF2-40B4-BE49-F238E27FC236}">
                <a16:creationId xmlns:a16="http://schemas.microsoft.com/office/drawing/2014/main" id="{D1A312E2-AB6F-2485-D286-E6EE71BA0E9E}"/>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3365711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title">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2386070-92D1-3949-9A6E-FD21B1547A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1433" y="-1950897"/>
            <a:ext cx="6358255" cy="5236210"/>
          </a:xfrm>
          <a:prstGeom prst="rect">
            <a:avLst/>
          </a:prstGeom>
        </p:spPr>
      </p:pic>
      <p:sp>
        <p:nvSpPr>
          <p:cNvPr id="2" name="Title 1"/>
          <p:cNvSpPr>
            <a:spLocks noGrp="1"/>
          </p:cNvSpPr>
          <p:nvPr>
            <p:ph type="title"/>
          </p:nvPr>
        </p:nvSpPr>
        <p:spPr>
          <a:xfrm>
            <a:off x="381000" y="400050"/>
            <a:ext cx="8381999" cy="415738"/>
          </a:xfrm>
        </p:spPr>
        <p:txBody>
          <a:bodyPr anchor="t" anchorCtr="0"/>
          <a:lstStyle>
            <a:lvl1pPr>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Picture Placeholder 2"/>
          <p:cNvSpPr>
            <a:spLocks noGrp="1"/>
          </p:cNvSpPr>
          <p:nvPr>
            <p:ph type="pic" idx="1"/>
          </p:nvPr>
        </p:nvSpPr>
        <p:spPr>
          <a:xfrm>
            <a:off x="381000" y="842682"/>
            <a:ext cx="8382000" cy="3678518"/>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pic>
        <p:nvPicPr>
          <p:cNvPr id="5" name="Picture 4" descr="A black and grey text&#10;&#10;AI-generated content may be incorrect.">
            <a:extLst>
              <a:ext uri="{FF2B5EF4-FFF2-40B4-BE49-F238E27FC236}">
                <a16:creationId xmlns:a16="http://schemas.microsoft.com/office/drawing/2014/main" id="{88A7ECB2-D21B-707F-E642-E60C0614E6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9" name="Footer Placeholder 5">
            <a:extLst>
              <a:ext uri="{FF2B5EF4-FFF2-40B4-BE49-F238E27FC236}">
                <a16:creationId xmlns:a16="http://schemas.microsoft.com/office/drawing/2014/main" id="{A0C79C92-CE96-E94A-72A8-FE43FBA899DA}"/>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1" name="Slide Number Placeholder 6">
            <a:extLst>
              <a:ext uri="{FF2B5EF4-FFF2-40B4-BE49-F238E27FC236}">
                <a16:creationId xmlns:a16="http://schemas.microsoft.com/office/drawing/2014/main" id="{4848C31F-36EA-6E7D-43D5-E58FC1165034}"/>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395158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er - one corner ornament - l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400050"/>
            <a:ext cx="8381999" cy="415738"/>
          </a:xfrm>
        </p:spPr>
        <p:txBody>
          <a:bodyPr anchor="t" anchorCtr="0"/>
          <a:lstStyle>
            <a:lvl1pPr>
              <a:lnSpc>
                <a:spcPts val="2300"/>
              </a:lnSpc>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8" name="Picture 7">
            <a:extLst>
              <a:ext uri="{FF2B5EF4-FFF2-40B4-BE49-F238E27FC236}">
                <a16:creationId xmlns:a16="http://schemas.microsoft.com/office/drawing/2014/main" id="{3CBB7F28-C46A-3749-A675-DADAA6FB2F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4584970" y="-1997413"/>
            <a:ext cx="6692900" cy="5511800"/>
          </a:xfrm>
          <a:prstGeom prst="rect">
            <a:avLst/>
          </a:prstGeom>
        </p:spPr>
      </p:pic>
      <p:pic>
        <p:nvPicPr>
          <p:cNvPr id="4" name="Picture 3" descr="A black and grey text&#10;&#10;AI-generated content may be incorrect.">
            <a:extLst>
              <a:ext uri="{FF2B5EF4-FFF2-40B4-BE49-F238E27FC236}">
                <a16:creationId xmlns:a16="http://schemas.microsoft.com/office/drawing/2014/main" id="{619FA01E-83FB-EDE6-8829-412450F71C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5" name="Footer Placeholder 5">
            <a:extLst>
              <a:ext uri="{FF2B5EF4-FFF2-40B4-BE49-F238E27FC236}">
                <a16:creationId xmlns:a16="http://schemas.microsoft.com/office/drawing/2014/main" id="{DBC0BE38-A55F-5FDA-3555-37ACCDE5FAAE}"/>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F984F00-BF67-EBF5-7A81-27240EEE5CF8}"/>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876143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er - 2 corner ornament - l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DF9183-44D0-064C-AF2E-8F111293BF2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flipH="1" flipV="1">
            <a:off x="-3100199" y="1652141"/>
            <a:ext cx="6358255" cy="5236210"/>
          </a:xfrm>
          <a:prstGeom prst="rect">
            <a:avLst/>
          </a:prstGeom>
        </p:spPr>
      </p:pic>
      <p:sp>
        <p:nvSpPr>
          <p:cNvPr id="2" name="Title 1"/>
          <p:cNvSpPr>
            <a:spLocks noGrp="1"/>
          </p:cNvSpPr>
          <p:nvPr>
            <p:ph type="title"/>
          </p:nvPr>
        </p:nvSpPr>
        <p:spPr>
          <a:xfrm>
            <a:off x="374515" y="400049"/>
            <a:ext cx="8381999" cy="669993"/>
          </a:xfrm>
        </p:spPr>
        <p:txBody>
          <a:bodyPr anchor="t" anchorCtr="0"/>
          <a:lstStyle>
            <a:lvl1pPr>
              <a:lnSpc>
                <a:spcPts val="2300"/>
              </a:lnSpc>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9" name="Picture 8">
            <a:extLst>
              <a:ext uri="{FF2B5EF4-FFF2-40B4-BE49-F238E27FC236}">
                <a16:creationId xmlns:a16="http://schemas.microsoft.com/office/drawing/2014/main" id="{F4E3B65F-5DCF-5942-AE83-819F9CC4C7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a:off x="5281660" y="-1824022"/>
            <a:ext cx="6358255" cy="5236210"/>
          </a:xfrm>
          <a:prstGeom prst="rect">
            <a:avLst/>
          </a:prstGeom>
        </p:spPr>
      </p:pic>
      <p:pic>
        <p:nvPicPr>
          <p:cNvPr id="10" name="Picture 9" descr="A black and grey text&#10;&#10;AI-generated content may be incorrect.">
            <a:extLst>
              <a:ext uri="{FF2B5EF4-FFF2-40B4-BE49-F238E27FC236}">
                <a16:creationId xmlns:a16="http://schemas.microsoft.com/office/drawing/2014/main" id="{FD23723C-E622-741A-8529-4C2EB4BBD9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2" name="Footer Placeholder 5">
            <a:extLst>
              <a:ext uri="{FF2B5EF4-FFF2-40B4-BE49-F238E27FC236}">
                <a16:creationId xmlns:a16="http://schemas.microsoft.com/office/drawing/2014/main" id="{6C5EAF9B-59D6-F86B-3780-450561CAF000}"/>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3" name="Slide Number Placeholder 6">
            <a:extLst>
              <a:ext uri="{FF2B5EF4-FFF2-40B4-BE49-F238E27FC236}">
                <a16:creationId xmlns:a16="http://schemas.microsoft.com/office/drawing/2014/main" id="{E755A283-016E-B725-CF8B-158060850B8A}"/>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2793049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 1 corner ornament - blank - l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4515" y="400049"/>
            <a:ext cx="8381999" cy="669993"/>
          </a:xfrm>
        </p:spPr>
        <p:txBody>
          <a:bodyPr anchor="t" anchorCtr="0"/>
          <a:lstStyle>
            <a:lvl1pPr>
              <a:lnSpc>
                <a:spcPts val="2300"/>
              </a:lnSpc>
              <a:defRPr sz="21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11" name="Picture 10">
            <a:extLst>
              <a:ext uri="{FF2B5EF4-FFF2-40B4-BE49-F238E27FC236}">
                <a16:creationId xmlns:a16="http://schemas.microsoft.com/office/drawing/2014/main" id="{DE96E008-0870-0244-8419-34766B5CC98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a:off x="5048797" y="-1361309"/>
            <a:ext cx="6358255" cy="5236210"/>
          </a:xfrm>
          <a:prstGeom prst="rect">
            <a:avLst/>
          </a:prstGeom>
        </p:spPr>
      </p:pic>
      <p:pic>
        <p:nvPicPr>
          <p:cNvPr id="4" name="Picture 3" descr="A black and grey text&#10;&#10;AI-generated content may be incorrect.">
            <a:extLst>
              <a:ext uri="{FF2B5EF4-FFF2-40B4-BE49-F238E27FC236}">
                <a16:creationId xmlns:a16="http://schemas.microsoft.com/office/drawing/2014/main" id="{EDBECD56-2DF6-FCFA-96CC-CB836A649A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5" name="Footer Placeholder 5">
            <a:extLst>
              <a:ext uri="{FF2B5EF4-FFF2-40B4-BE49-F238E27FC236}">
                <a16:creationId xmlns:a16="http://schemas.microsoft.com/office/drawing/2014/main" id="{2ADC1388-FA2F-7FC6-B889-FEC83DA6244B}"/>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9" name="Slide Number Placeholder 6">
            <a:extLst>
              <a:ext uri="{FF2B5EF4-FFF2-40B4-BE49-F238E27FC236}">
                <a16:creationId xmlns:a16="http://schemas.microsoft.com/office/drawing/2014/main" id="{A7CA6C34-9C97-6AB8-CE88-3BE13768A0CE}"/>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519482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7" name="Picture 6" descr="A black and grey text&#10;&#10;AI-generated content may be incorrect.">
            <a:extLst>
              <a:ext uri="{FF2B5EF4-FFF2-40B4-BE49-F238E27FC236}">
                <a16:creationId xmlns:a16="http://schemas.microsoft.com/office/drawing/2014/main" id="{F8041547-9950-7A00-3C01-0EFC30DEAF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8"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9"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3099933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solidFill>
                  <a:schemeClr val="tx1"/>
                </a:solidFill>
                <a:latin typeface="Amazon Ember Thin" panose="020B03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Content Placeholder 2"/>
          <p:cNvSpPr>
            <a:spLocks noGrp="1"/>
          </p:cNvSpPr>
          <p:nvPr>
            <p:ph sz="half" idx="1"/>
          </p:nvPr>
        </p:nvSpPr>
        <p:spPr>
          <a:xfrm>
            <a:off x="628650" y="1369219"/>
            <a:ext cx="3886200" cy="3263504"/>
          </a:xfrm>
        </p:spPr>
        <p:txBody>
          <a:bodyPr/>
          <a:lstStyle>
            <a:lvl1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369219"/>
            <a:ext cx="3886200" cy="3263504"/>
          </a:xfrm>
        </p:spPr>
        <p:txBody>
          <a:bodyPr/>
          <a:lstStyle>
            <a:lvl1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a:defRPr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grey text&#10;&#10;AI-generated content may be incorrect.">
            <a:extLst>
              <a:ext uri="{FF2B5EF4-FFF2-40B4-BE49-F238E27FC236}">
                <a16:creationId xmlns:a16="http://schemas.microsoft.com/office/drawing/2014/main" id="{9E0303FE-F5F1-9D27-C85C-A5A45CBD8A8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0" name="Footer Placeholder 5">
            <a:extLst>
              <a:ext uri="{FF2B5EF4-FFF2-40B4-BE49-F238E27FC236}">
                <a16:creationId xmlns:a16="http://schemas.microsoft.com/office/drawing/2014/main" id="{849177FB-22E5-2F5F-9DAE-86CDCFFE8FD4}"/>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1" name="Slide Number Placeholder 6">
            <a:extLst>
              <a:ext uri="{FF2B5EF4-FFF2-40B4-BE49-F238E27FC236}">
                <a16:creationId xmlns:a16="http://schemas.microsoft.com/office/drawing/2014/main" id="{918CB9FC-2F83-9352-5C4F-E08B9E19D471}"/>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24875487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400050"/>
            <a:ext cx="8135541" cy="867966"/>
          </a:xfrm>
        </p:spPr>
        <p:txBody>
          <a:bodyPr/>
          <a:lstStyle>
            <a:lvl1pPr>
              <a:defRPr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i="0">
                <a:latin typeface="Ember Modern Display Standard" panose="020B0503020204020204" pitchFamily="34" charset="0"/>
                <a:ea typeface="Amazon Ember" panose="020B0603020204020204" pitchFamily="34" charset="0"/>
                <a:cs typeface="Amazon Ember" panose="020B06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29842" y="1878806"/>
            <a:ext cx="3868340" cy="2763441"/>
          </a:xfrm>
        </p:spPr>
        <p:txBody>
          <a:bodyPr/>
          <a:lstStyle>
            <a:lvl1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4pPr>
            <a:lvl5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atin typeface="Ember Modern Display Standard" panose="020B05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29150" y="1878806"/>
            <a:ext cx="3887391" cy="2763441"/>
          </a:xfrm>
        </p:spPr>
        <p:txBody>
          <a:bodyPr/>
          <a:lstStyle>
            <a:lvl1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4pPr>
            <a:lvl5pPr>
              <a:defRPr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A black and grey text&#10;&#10;AI-generated content may be incorrect.">
            <a:extLst>
              <a:ext uri="{FF2B5EF4-FFF2-40B4-BE49-F238E27FC236}">
                <a16:creationId xmlns:a16="http://schemas.microsoft.com/office/drawing/2014/main" id="{BC339438-8481-F443-A3D8-58B28B524B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2" name="Footer Placeholder 5">
            <a:extLst>
              <a:ext uri="{FF2B5EF4-FFF2-40B4-BE49-F238E27FC236}">
                <a16:creationId xmlns:a16="http://schemas.microsoft.com/office/drawing/2014/main" id="{45C6D144-CCCB-B3DB-952E-A62885D70DA0}"/>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3" name="Slide Number Placeholder 6">
            <a:extLst>
              <a:ext uri="{FF2B5EF4-FFF2-40B4-BE49-F238E27FC236}">
                <a16:creationId xmlns:a16="http://schemas.microsoft.com/office/drawing/2014/main" id="{7B17B439-69A9-EA15-7CFC-9A2F2343E544}"/>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2403849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142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Thank you - l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CCC6F58-88D7-374A-A83B-FE09E711BB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72353" y="1395249"/>
            <a:ext cx="6388100" cy="5511800"/>
          </a:xfrm>
          <a:prstGeom prst="rect">
            <a:avLst/>
          </a:prstGeom>
        </p:spPr>
      </p:pic>
      <p:pic>
        <p:nvPicPr>
          <p:cNvPr id="5" name="Picture 4">
            <a:extLst>
              <a:ext uri="{FF2B5EF4-FFF2-40B4-BE49-F238E27FC236}">
                <a16:creationId xmlns:a16="http://schemas.microsoft.com/office/drawing/2014/main" id="{CDF2A0E6-B4C3-7440-8D67-0738E27611D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0800000">
            <a:off x="-1436964" y="-1464685"/>
            <a:ext cx="6346190" cy="5236210"/>
          </a:xfrm>
          <a:prstGeom prst="rect">
            <a:avLst/>
          </a:prstGeom>
        </p:spPr>
      </p:pic>
      <p:sp>
        <p:nvSpPr>
          <p:cNvPr id="2" name="Title 1"/>
          <p:cNvSpPr>
            <a:spLocks noGrp="1"/>
          </p:cNvSpPr>
          <p:nvPr>
            <p:ph type="title" hasCustomPrompt="1"/>
          </p:nvPr>
        </p:nvSpPr>
        <p:spPr>
          <a:xfrm>
            <a:off x="384048" y="1602819"/>
            <a:ext cx="8382000" cy="1044129"/>
          </a:xfrm>
        </p:spPr>
        <p:txBody>
          <a:bodyPr anchor="b" anchorCtr="0"/>
          <a:lstStyle>
            <a:lvl1pPr algn="ctr">
              <a:lnSpc>
                <a:spcPts val="5000"/>
              </a:lnSpc>
              <a:defRPr sz="4200" b="1"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Large title style</a:t>
            </a:r>
          </a:p>
        </p:txBody>
      </p:sp>
      <p:sp>
        <p:nvSpPr>
          <p:cNvPr id="3" name="Text Placeholder 2"/>
          <p:cNvSpPr>
            <a:spLocks noGrp="1"/>
          </p:cNvSpPr>
          <p:nvPr>
            <p:ph type="body" idx="1"/>
          </p:nvPr>
        </p:nvSpPr>
        <p:spPr>
          <a:xfrm>
            <a:off x="381000" y="2697774"/>
            <a:ext cx="8382000" cy="506226"/>
          </a:xfrm>
          <a:noFill/>
        </p:spPr>
        <p:txBody>
          <a:bodyPr/>
          <a:lstStyle>
            <a:lvl1pPr marL="0" indent="0" algn="ctr">
              <a:lnSpc>
                <a:spcPts val="1500"/>
              </a:lnSpc>
              <a:buNone/>
              <a:defRPr sz="10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pic>
        <p:nvPicPr>
          <p:cNvPr id="6" name="Picture 5" descr="A black and grey text&#10;&#10;AI-generated content may be incorrect.">
            <a:extLst>
              <a:ext uri="{FF2B5EF4-FFF2-40B4-BE49-F238E27FC236}">
                <a16:creationId xmlns:a16="http://schemas.microsoft.com/office/drawing/2014/main" id="{B2B4A613-9F2A-8DA6-6B2A-C0138105EB3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900456" y="4604755"/>
            <a:ext cx="1343087" cy="255187"/>
          </a:xfrm>
          <a:prstGeom prst="rect">
            <a:avLst/>
          </a:prstGeom>
        </p:spPr>
      </p:pic>
    </p:spTree>
    <p:extLst>
      <p:ext uri="{BB962C8B-B14F-4D97-AF65-F5344CB8AC3E}">
        <p14:creationId xmlns:p14="http://schemas.microsoft.com/office/powerpoint/2010/main" val="4017410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b="0" i="0">
                <a:solidFill>
                  <a:schemeClr val="tx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a:defRPr sz="21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a:defRPr sz="18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a:defRPr sz="15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4pPr>
            <a:lvl5pPr>
              <a:defRPr sz="15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b="0" i="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pic>
        <p:nvPicPr>
          <p:cNvPr id="9" name="Picture 8" descr="A black and grey text&#10;&#10;AI-generated content may be incorrect.">
            <a:extLst>
              <a:ext uri="{FF2B5EF4-FFF2-40B4-BE49-F238E27FC236}">
                <a16:creationId xmlns:a16="http://schemas.microsoft.com/office/drawing/2014/main" id="{A0E0529B-88F6-7FFC-C288-68E4DAFC9C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4116" y="4807261"/>
            <a:ext cx="1058884" cy="201188"/>
          </a:xfrm>
          <a:prstGeom prst="rect">
            <a:avLst/>
          </a:prstGeom>
        </p:spPr>
      </p:pic>
      <p:sp>
        <p:nvSpPr>
          <p:cNvPr id="10" name="Footer Placeholder 5">
            <a:extLst>
              <a:ext uri="{FF2B5EF4-FFF2-40B4-BE49-F238E27FC236}">
                <a16:creationId xmlns:a16="http://schemas.microsoft.com/office/drawing/2014/main" id="{FAFD4F85-04E1-2B88-3A90-77EA7BCF8476}"/>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1" name="Slide Number Placeholder 6">
            <a:extLst>
              <a:ext uri="{FF2B5EF4-FFF2-40B4-BE49-F238E27FC236}">
                <a16:creationId xmlns:a16="http://schemas.microsoft.com/office/drawing/2014/main" id="{4F3AE421-6A63-5A7C-1D41-299CECC99454}"/>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010341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dark">
    <p:bg>
      <p:bgPr>
        <a:solidFill>
          <a:schemeClr val="tx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A21F4AF-8334-A547-B893-40C0F9E61F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90563" y="1200150"/>
            <a:ext cx="6388100" cy="5511800"/>
          </a:xfrm>
          <a:prstGeom prst="rect">
            <a:avLst/>
          </a:prstGeom>
        </p:spPr>
      </p:pic>
      <p:pic>
        <p:nvPicPr>
          <p:cNvPr id="12" name="Picture 11">
            <a:extLst>
              <a:ext uri="{FF2B5EF4-FFF2-40B4-BE49-F238E27FC236}">
                <a16:creationId xmlns:a16="http://schemas.microsoft.com/office/drawing/2014/main" id="{76DB4DC7-F301-6B4A-8D23-3EC74185895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0800000">
            <a:off x="-1420380" y="-1694530"/>
            <a:ext cx="6680200" cy="5511800"/>
          </a:xfrm>
          <a:prstGeom prst="rect">
            <a:avLst/>
          </a:prstGeom>
        </p:spPr>
      </p:pic>
      <p:sp>
        <p:nvSpPr>
          <p:cNvPr id="2" name="Title 1"/>
          <p:cNvSpPr>
            <a:spLocks noGrp="1"/>
          </p:cNvSpPr>
          <p:nvPr>
            <p:ph type="ctrTitle"/>
          </p:nvPr>
        </p:nvSpPr>
        <p:spPr>
          <a:xfrm>
            <a:off x="381000" y="3994043"/>
            <a:ext cx="6025035" cy="597484"/>
          </a:xfrm>
        </p:spPr>
        <p:txBody>
          <a:bodyPr anchor="b"/>
          <a:lstStyle>
            <a:lvl1pPr algn="l">
              <a:defRPr sz="1600" b="1"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3" name="Subtitle 2"/>
          <p:cNvSpPr>
            <a:spLocks noGrp="1"/>
          </p:cNvSpPr>
          <p:nvPr>
            <p:ph type="subTitle" idx="1"/>
          </p:nvPr>
        </p:nvSpPr>
        <p:spPr>
          <a:xfrm>
            <a:off x="381000" y="4657717"/>
            <a:ext cx="6033760" cy="262149"/>
          </a:xfrm>
        </p:spPr>
        <p:txBody>
          <a:bodyPr/>
          <a:lstStyle>
            <a:lvl1pPr marL="0" indent="0" algn="l">
              <a:lnSpc>
                <a:spcPts val="1200"/>
              </a:lnSpc>
              <a:spcBef>
                <a:spcPts val="0"/>
              </a:spcBef>
              <a:buNone/>
              <a:defRPr sz="8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5" name="Picture 4" descr="A black background with white letters&#10;&#10;AI-generated content may be incorrect.">
            <a:extLst>
              <a:ext uri="{FF2B5EF4-FFF2-40B4-BE49-F238E27FC236}">
                <a16:creationId xmlns:a16="http://schemas.microsoft.com/office/drawing/2014/main" id="{176D1EA8-4B40-508C-D601-24A2112CD1A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04949" y="2161215"/>
            <a:ext cx="3534102" cy="671479"/>
          </a:xfrm>
          <a:prstGeom prst="rect">
            <a:avLst/>
          </a:prstGeom>
        </p:spPr>
      </p:pic>
    </p:spTree>
    <p:extLst>
      <p:ext uri="{BB962C8B-B14F-4D97-AF65-F5344CB8AC3E}">
        <p14:creationId xmlns:p14="http://schemas.microsoft.com/office/powerpoint/2010/main" val="40918418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 dark">
    <p:bg>
      <p:bgPr>
        <a:solidFill>
          <a:schemeClr val="tx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067EE51-5E73-B646-8EF2-36A45830DB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a:off x="5066895" y="-1628380"/>
            <a:ext cx="5473700" cy="5511800"/>
          </a:xfrm>
          <a:prstGeom prst="rect">
            <a:avLst/>
          </a:prstGeom>
        </p:spPr>
      </p:pic>
      <p:sp>
        <p:nvSpPr>
          <p:cNvPr id="2" name="Title 1"/>
          <p:cNvSpPr>
            <a:spLocks noGrp="1"/>
          </p:cNvSpPr>
          <p:nvPr>
            <p:ph type="title" hasCustomPrompt="1"/>
          </p:nvPr>
        </p:nvSpPr>
        <p:spPr>
          <a:xfrm>
            <a:off x="1066800" y="1033922"/>
            <a:ext cx="7696200" cy="2907792"/>
          </a:xfrm>
        </p:spPr>
        <p:txBody>
          <a:bodyPr anchor="ctr" anchorCtr="0"/>
          <a:lstStyle>
            <a:lvl1pPr algn="l">
              <a:lnSpc>
                <a:spcPts val="5000"/>
              </a:lnSpc>
              <a:defRPr sz="4200" b="1"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Section </a:t>
            </a:r>
            <a:br>
              <a:rPr lang="en-US" dirty="0"/>
            </a:br>
            <a:r>
              <a:rPr lang="en-US" dirty="0"/>
              <a:t>title style</a:t>
            </a:r>
          </a:p>
        </p:txBody>
      </p:sp>
      <p:sp>
        <p:nvSpPr>
          <p:cNvPr id="3" name="Footer Placeholder 4">
            <a:extLst>
              <a:ext uri="{FF2B5EF4-FFF2-40B4-BE49-F238E27FC236}">
                <a16:creationId xmlns:a16="http://schemas.microsoft.com/office/drawing/2014/main" id="{A5B067A3-8C47-2484-9A54-178CEAE1F6B4}"/>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4" name="Slide Number Placeholder 5">
            <a:extLst>
              <a:ext uri="{FF2B5EF4-FFF2-40B4-BE49-F238E27FC236}">
                <a16:creationId xmlns:a16="http://schemas.microsoft.com/office/drawing/2014/main" id="{D32CCD09-FAB2-A235-3E71-5F61865008BF}"/>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25854516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and statement - dark">
    <p:bg>
      <p:bgPr>
        <a:solidFill>
          <a:schemeClr val="tx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0CBBA46-C7D7-D844-A65B-4B673F0757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4263695" y="-1141378"/>
            <a:ext cx="6692900" cy="5511800"/>
          </a:xfrm>
          <a:prstGeom prst="rect">
            <a:avLst/>
          </a:prstGeom>
        </p:spPr>
      </p:pic>
      <p:sp>
        <p:nvSpPr>
          <p:cNvPr id="2" name="Title 1"/>
          <p:cNvSpPr>
            <a:spLocks noGrp="1"/>
          </p:cNvSpPr>
          <p:nvPr>
            <p:ph type="title" hasCustomPrompt="1"/>
          </p:nvPr>
        </p:nvSpPr>
        <p:spPr>
          <a:xfrm>
            <a:off x="1066800" y="2571750"/>
            <a:ext cx="4191000" cy="840275"/>
          </a:xfrm>
        </p:spPr>
        <p:txBody>
          <a:bodyPr anchor="t" anchorCtr="0"/>
          <a:lstStyle>
            <a:lvl1pPr algn="l">
              <a:lnSpc>
                <a:spcPts val="1800"/>
              </a:lnSpc>
              <a:defRPr sz="1600" b="1"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r>
              <a:rPr lang="en-US" dirty="0"/>
              <a:t>Click to edit Master statement style</a:t>
            </a:r>
          </a:p>
        </p:txBody>
      </p:sp>
      <p:sp>
        <p:nvSpPr>
          <p:cNvPr id="3" name="Text Placeholder 2"/>
          <p:cNvSpPr>
            <a:spLocks noGrp="1"/>
          </p:cNvSpPr>
          <p:nvPr>
            <p:ph type="body" idx="1"/>
          </p:nvPr>
        </p:nvSpPr>
        <p:spPr>
          <a:xfrm>
            <a:off x="1066800" y="2866675"/>
            <a:ext cx="3505200" cy="1744235"/>
          </a:xfrm>
        </p:spPr>
        <p:txBody>
          <a:bodyPr/>
          <a:lstStyle>
            <a:lvl1pPr marL="0" indent="0" algn="l">
              <a:lnSpc>
                <a:spcPts val="1500"/>
              </a:lnSpc>
              <a:spcBef>
                <a:spcPts val="600"/>
              </a:spcBef>
              <a:buNone/>
              <a:defRPr sz="1000" b="0" i="0">
                <a:solidFill>
                  <a:schemeClr val="bg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pic>
        <p:nvPicPr>
          <p:cNvPr id="4" name="Picture 3">
            <a:extLst>
              <a:ext uri="{FF2B5EF4-FFF2-40B4-BE49-F238E27FC236}">
                <a16:creationId xmlns:a16="http://schemas.microsoft.com/office/drawing/2014/main" id="{C55CB2A9-18EC-C559-D578-DEF575718E4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848172" y="4807261"/>
            <a:ext cx="1058884" cy="201187"/>
          </a:xfrm>
          <a:prstGeom prst="rect">
            <a:avLst/>
          </a:prstGeom>
        </p:spPr>
      </p:pic>
      <p:sp>
        <p:nvSpPr>
          <p:cNvPr id="10" name="Footer Placeholder 4">
            <a:extLst>
              <a:ext uri="{FF2B5EF4-FFF2-40B4-BE49-F238E27FC236}">
                <a16:creationId xmlns:a16="http://schemas.microsoft.com/office/drawing/2014/main" id="{03CA29B9-FE00-355B-C4BE-670AFAD3B5E6}"/>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12" name="Slide Number Placeholder 5">
            <a:extLst>
              <a:ext uri="{FF2B5EF4-FFF2-40B4-BE49-F238E27FC236}">
                <a16:creationId xmlns:a16="http://schemas.microsoft.com/office/drawing/2014/main" id="{F9325AC5-B194-40AE-AF08-8EBA8AD10E1B}"/>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33857900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with footer dar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C85176-5DE6-1EFD-1C9B-F5CE77433F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48172" y="4807261"/>
            <a:ext cx="1058884" cy="201187"/>
          </a:xfrm>
          <a:prstGeom prst="rect">
            <a:avLst/>
          </a:prstGeom>
        </p:spPr>
      </p:pic>
      <p:sp>
        <p:nvSpPr>
          <p:cNvPr id="8" name="Footer Placeholder 4">
            <a:extLst>
              <a:ext uri="{FF2B5EF4-FFF2-40B4-BE49-F238E27FC236}">
                <a16:creationId xmlns:a16="http://schemas.microsoft.com/office/drawing/2014/main" id="{3988BC96-0DC9-BA83-B126-0E954A568FE5}"/>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9" name="Slide Number Placeholder 5">
            <a:extLst>
              <a:ext uri="{FF2B5EF4-FFF2-40B4-BE49-F238E27FC236}">
                <a16:creationId xmlns:a16="http://schemas.microsoft.com/office/drawing/2014/main" id="{65558821-C2F3-D59E-48DA-DFCEEAA8328A}"/>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6563937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rge statement - dark">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66800" y="1046892"/>
            <a:ext cx="7010400" cy="2907792"/>
          </a:xfrm>
        </p:spPr>
        <p:txBody>
          <a:bodyPr anchor="ctr" anchorCtr="0"/>
          <a:lstStyle>
            <a:lvl1pPr algn="l">
              <a:lnSpc>
                <a:spcPts val="4200"/>
              </a:lnSpc>
              <a:defRPr sz="3400" b="1"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statement style</a:t>
            </a:r>
          </a:p>
        </p:txBody>
      </p:sp>
      <p:sp>
        <p:nvSpPr>
          <p:cNvPr id="3" name="Text Placeholder 2"/>
          <p:cNvSpPr>
            <a:spLocks noGrp="1"/>
          </p:cNvSpPr>
          <p:nvPr>
            <p:ph type="body" idx="1"/>
          </p:nvPr>
        </p:nvSpPr>
        <p:spPr>
          <a:xfrm>
            <a:off x="1066800" y="4059936"/>
            <a:ext cx="7010400" cy="502920"/>
          </a:xfrm>
        </p:spPr>
        <p:txBody>
          <a:bodyPr/>
          <a:lstStyle>
            <a:lvl1pPr marL="0" indent="0" algn="l">
              <a:buNone/>
              <a:defRPr sz="1500" b="0"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pic>
        <p:nvPicPr>
          <p:cNvPr id="9" name="Picture 8">
            <a:extLst>
              <a:ext uri="{FF2B5EF4-FFF2-40B4-BE49-F238E27FC236}">
                <a16:creationId xmlns:a16="http://schemas.microsoft.com/office/drawing/2014/main" id="{AE52DFDD-1B92-3744-8203-DEC67FD170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016341" y="-1540240"/>
            <a:ext cx="6358255" cy="5236210"/>
          </a:xfrm>
          <a:prstGeom prst="rect">
            <a:avLst/>
          </a:prstGeom>
        </p:spPr>
      </p:pic>
      <p:pic>
        <p:nvPicPr>
          <p:cNvPr id="12" name="Picture 11">
            <a:extLst>
              <a:ext uri="{FF2B5EF4-FFF2-40B4-BE49-F238E27FC236}">
                <a16:creationId xmlns:a16="http://schemas.microsoft.com/office/drawing/2014/main" id="{445E9853-EC3D-9DBD-4E07-089C2BCA24F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848172" y="4807261"/>
            <a:ext cx="1058884" cy="201187"/>
          </a:xfrm>
          <a:prstGeom prst="rect">
            <a:avLst/>
          </a:prstGeom>
        </p:spPr>
      </p:pic>
      <p:sp>
        <p:nvSpPr>
          <p:cNvPr id="13" name="Footer Placeholder 4">
            <a:extLst>
              <a:ext uri="{FF2B5EF4-FFF2-40B4-BE49-F238E27FC236}">
                <a16:creationId xmlns:a16="http://schemas.microsoft.com/office/drawing/2014/main" id="{FF2E63B5-6BA8-C6E9-112F-F1CCC3A2D71E}"/>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14" name="Slide Number Placeholder 5">
            <a:extLst>
              <a:ext uri="{FF2B5EF4-FFF2-40B4-BE49-F238E27FC236}">
                <a16:creationId xmlns:a16="http://schemas.microsoft.com/office/drawing/2014/main" id="{F3E287B8-BDE3-5A56-AC64-80DA7A459403}"/>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3412048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 one corner ornament - dark">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4515" y="400049"/>
            <a:ext cx="8381999" cy="669993"/>
          </a:xfrm>
        </p:spPr>
        <p:txBody>
          <a:bodyPr anchor="t" anchorCtr="0"/>
          <a:lstStyle>
            <a:lvl1pPr>
              <a:lnSpc>
                <a:spcPts val="2300"/>
              </a:lnSpc>
              <a:defRPr sz="2100" b="0"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9" name="Picture 8">
            <a:extLst>
              <a:ext uri="{FF2B5EF4-FFF2-40B4-BE49-F238E27FC236}">
                <a16:creationId xmlns:a16="http://schemas.microsoft.com/office/drawing/2014/main" id="{F4E3B65F-5DCF-5942-AE83-819F9CC4C7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4584970" y="-1997413"/>
            <a:ext cx="6692900" cy="5511800"/>
          </a:xfrm>
          <a:prstGeom prst="rect">
            <a:avLst/>
          </a:prstGeom>
        </p:spPr>
      </p:pic>
      <p:pic>
        <p:nvPicPr>
          <p:cNvPr id="10" name="Picture 9">
            <a:extLst>
              <a:ext uri="{FF2B5EF4-FFF2-40B4-BE49-F238E27FC236}">
                <a16:creationId xmlns:a16="http://schemas.microsoft.com/office/drawing/2014/main" id="{436CCB41-1D5F-83E2-A6DF-38E6A716A63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848172" y="4807261"/>
            <a:ext cx="1058884" cy="201187"/>
          </a:xfrm>
          <a:prstGeom prst="rect">
            <a:avLst/>
          </a:prstGeom>
        </p:spPr>
      </p:pic>
      <p:sp>
        <p:nvSpPr>
          <p:cNvPr id="11" name="Footer Placeholder 4">
            <a:extLst>
              <a:ext uri="{FF2B5EF4-FFF2-40B4-BE49-F238E27FC236}">
                <a16:creationId xmlns:a16="http://schemas.microsoft.com/office/drawing/2014/main" id="{B09148A0-88DD-68CC-2319-1EF25B67873A}"/>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12" name="Slide Number Placeholder 5">
            <a:extLst>
              <a:ext uri="{FF2B5EF4-FFF2-40B4-BE49-F238E27FC236}">
                <a16:creationId xmlns:a16="http://schemas.microsoft.com/office/drawing/2014/main" id="{47F1E9AA-640F-C253-B0C7-F775A1E133FC}"/>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5432695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 2 corner ornament - dark ">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DF9183-44D0-064C-AF2E-8F111293BF2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flipH="1" flipV="1">
            <a:off x="-3100199" y="1652141"/>
            <a:ext cx="6358255" cy="5236210"/>
          </a:xfrm>
          <a:prstGeom prst="rect">
            <a:avLst/>
          </a:prstGeom>
        </p:spPr>
      </p:pic>
      <p:sp>
        <p:nvSpPr>
          <p:cNvPr id="2" name="Title 1"/>
          <p:cNvSpPr>
            <a:spLocks noGrp="1"/>
          </p:cNvSpPr>
          <p:nvPr>
            <p:ph type="title"/>
          </p:nvPr>
        </p:nvSpPr>
        <p:spPr>
          <a:xfrm>
            <a:off x="374515" y="400049"/>
            <a:ext cx="8381999" cy="669993"/>
          </a:xfrm>
        </p:spPr>
        <p:txBody>
          <a:bodyPr anchor="t" anchorCtr="0"/>
          <a:lstStyle>
            <a:lvl1pPr>
              <a:lnSpc>
                <a:spcPts val="2300"/>
              </a:lnSpc>
              <a:defRPr sz="2100" b="0"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9" name="Picture 8">
            <a:extLst>
              <a:ext uri="{FF2B5EF4-FFF2-40B4-BE49-F238E27FC236}">
                <a16:creationId xmlns:a16="http://schemas.microsoft.com/office/drawing/2014/main" id="{F4E3B65F-5DCF-5942-AE83-819F9CC4C7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a:off x="5281660" y="-1824022"/>
            <a:ext cx="6358255" cy="5236210"/>
          </a:xfrm>
          <a:prstGeom prst="rect">
            <a:avLst/>
          </a:prstGeom>
        </p:spPr>
      </p:pic>
      <p:pic>
        <p:nvPicPr>
          <p:cNvPr id="10" name="Picture 9">
            <a:extLst>
              <a:ext uri="{FF2B5EF4-FFF2-40B4-BE49-F238E27FC236}">
                <a16:creationId xmlns:a16="http://schemas.microsoft.com/office/drawing/2014/main" id="{1BD8E537-8D3B-4EBE-7909-12B86522CE4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848172" y="4807261"/>
            <a:ext cx="1058884" cy="201187"/>
          </a:xfrm>
          <a:prstGeom prst="rect">
            <a:avLst/>
          </a:prstGeom>
        </p:spPr>
      </p:pic>
      <p:sp>
        <p:nvSpPr>
          <p:cNvPr id="12" name="Footer Placeholder 4">
            <a:extLst>
              <a:ext uri="{FF2B5EF4-FFF2-40B4-BE49-F238E27FC236}">
                <a16:creationId xmlns:a16="http://schemas.microsoft.com/office/drawing/2014/main" id="{B7B94DDC-8849-4073-780C-57A4EA8A209D}"/>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13" name="Slide Number Placeholder 5">
            <a:extLst>
              <a:ext uri="{FF2B5EF4-FFF2-40B4-BE49-F238E27FC236}">
                <a16:creationId xmlns:a16="http://schemas.microsoft.com/office/drawing/2014/main" id="{4D70776A-E8FF-50B3-D603-B4F5D78A2026}"/>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1618434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 one corner ornament - blank -dark">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4515" y="400049"/>
            <a:ext cx="8381999" cy="669993"/>
          </a:xfrm>
        </p:spPr>
        <p:txBody>
          <a:bodyPr anchor="t" anchorCtr="0"/>
          <a:lstStyle>
            <a:lvl1pPr>
              <a:lnSpc>
                <a:spcPts val="2300"/>
              </a:lnSpc>
              <a:defRPr sz="2100" b="0"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9" name="Picture 8">
            <a:extLst>
              <a:ext uri="{FF2B5EF4-FFF2-40B4-BE49-F238E27FC236}">
                <a16:creationId xmlns:a16="http://schemas.microsoft.com/office/drawing/2014/main" id="{F4E3B65F-5DCF-5942-AE83-819F9CC4C7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6200000">
            <a:off x="5048797" y="-1361309"/>
            <a:ext cx="6358255" cy="5236210"/>
          </a:xfrm>
          <a:prstGeom prst="rect">
            <a:avLst/>
          </a:prstGeom>
        </p:spPr>
      </p:pic>
      <p:pic>
        <p:nvPicPr>
          <p:cNvPr id="10" name="Picture 9">
            <a:extLst>
              <a:ext uri="{FF2B5EF4-FFF2-40B4-BE49-F238E27FC236}">
                <a16:creationId xmlns:a16="http://schemas.microsoft.com/office/drawing/2014/main" id="{564008A8-4A1E-73B5-A427-FBE3BF061D2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848172" y="4807261"/>
            <a:ext cx="1058884" cy="201187"/>
          </a:xfrm>
          <a:prstGeom prst="rect">
            <a:avLst/>
          </a:prstGeom>
        </p:spPr>
      </p:pic>
      <p:sp>
        <p:nvSpPr>
          <p:cNvPr id="11" name="Footer Placeholder 4">
            <a:extLst>
              <a:ext uri="{FF2B5EF4-FFF2-40B4-BE49-F238E27FC236}">
                <a16:creationId xmlns:a16="http://schemas.microsoft.com/office/drawing/2014/main" id="{213266DF-2F61-C5D0-A43B-F12076E6A663}"/>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12" name="Slide Number Placeholder 5">
            <a:extLst>
              <a:ext uri="{FF2B5EF4-FFF2-40B4-BE49-F238E27FC236}">
                <a16:creationId xmlns:a16="http://schemas.microsoft.com/office/drawing/2014/main" id="{B6AE0DB4-D99D-E6B5-7604-42F877AD409B}"/>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4127206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title with image">
    <p:bg>
      <p:bgPr>
        <a:solidFill>
          <a:schemeClr val="tx2"/>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0F73FFDE-E65B-EC42-8FD9-D182D8C2F4AA}"/>
              </a:ext>
            </a:extLst>
          </p:cNvPr>
          <p:cNvSpPr>
            <a:spLocks noGrp="1"/>
          </p:cNvSpPr>
          <p:nvPr>
            <p:ph type="body" sz="half" idx="2"/>
          </p:nvPr>
        </p:nvSpPr>
        <p:spPr>
          <a:xfrm>
            <a:off x="1066800" y="3229583"/>
            <a:ext cx="2774576" cy="636148"/>
          </a:xfrm>
        </p:spPr>
        <p:txBody>
          <a:bodyPr/>
          <a:lstStyle>
            <a:lvl1pPr marL="0" indent="0">
              <a:lnSpc>
                <a:spcPts val="1600"/>
              </a:lnSpc>
              <a:spcBef>
                <a:spcPts val="0"/>
              </a:spcBef>
              <a:spcAft>
                <a:spcPts val="900"/>
              </a:spcAft>
              <a:buFont typeface="Arial" panose="020B0604020202020204" pitchFamily="34" charset="0"/>
              <a:buNone/>
              <a:defRPr sz="1300" b="0" i="0">
                <a:solidFill>
                  <a:schemeClr val="bg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7" name="Title 1">
            <a:extLst>
              <a:ext uri="{FF2B5EF4-FFF2-40B4-BE49-F238E27FC236}">
                <a16:creationId xmlns:a16="http://schemas.microsoft.com/office/drawing/2014/main" id="{3EB3E24E-A20F-A240-A2CD-6062D4307EFD}"/>
              </a:ext>
            </a:extLst>
          </p:cNvPr>
          <p:cNvSpPr>
            <a:spLocks noGrp="1"/>
          </p:cNvSpPr>
          <p:nvPr>
            <p:ph type="title"/>
          </p:nvPr>
        </p:nvSpPr>
        <p:spPr>
          <a:xfrm>
            <a:off x="1066800" y="1859198"/>
            <a:ext cx="4735748" cy="2297754"/>
          </a:xfrm>
        </p:spPr>
        <p:txBody>
          <a:bodyPr anchor="t" anchorCtr="0"/>
          <a:lstStyle>
            <a:lvl1pPr>
              <a:lnSpc>
                <a:spcPts val="5000"/>
              </a:lnSpc>
              <a:defRPr sz="4200" b="1"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Master title style</a:t>
            </a:r>
          </a:p>
        </p:txBody>
      </p:sp>
      <p:pic>
        <p:nvPicPr>
          <p:cNvPr id="5" name="Picture 4">
            <a:extLst>
              <a:ext uri="{FF2B5EF4-FFF2-40B4-BE49-F238E27FC236}">
                <a16:creationId xmlns:a16="http://schemas.microsoft.com/office/drawing/2014/main" id="{EC4F2041-E01E-40A6-BE64-5CE624E69B9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48172" y="4807261"/>
            <a:ext cx="1058884" cy="201187"/>
          </a:xfrm>
          <a:prstGeom prst="rect">
            <a:avLst/>
          </a:prstGeom>
        </p:spPr>
      </p:pic>
      <p:sp>
        <p:nvSpPr>
          <p:cNvPr id="9" name="Footer Placeholder 4">
            <a:extLst>
              <a:ext uri="{FF2B5EF4-FFF2-40B4-BE49-F238E27FC236}">
                <a16:creationId xmlns:a16="http://schemas.microsoft.com/office/drawing/2014/main" id="{DD544FFA-0BAF-7D00-497C-F86EF03DB406}"/>
              </a:ext>
            </a:extLst>
          </p:cNvPr>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10" name="Slide Number Placeholder 5">
            <a:extLst>
              <a:ext uri="{FF2B5EF4-FFF2-40B4-BE49-F238E27FC236}">
                <a16:creationId xmlns:a16="http://schemas.microsoft.com/office/drawing/2014/main" id="{ABCA2B75-06A2-DDAE-6544-2EC9FC076CC8}"/>
              </a:ext>
            </a:extLst>
          </p:cNvPr>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0098418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 dark">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C36E45-3589-494A-89EC-0A890F2B9A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704116" y="4807261"/>
            <a:ext cx="1058884" cy="201187"/>
          </a:xfrm>
          <a:prstGeom prst="rect">
            <a:avLst/>
          </a:prstGeom>
        </p:spPr>
      </p:pic>
    </p:spTree>
    <p:extLst>
      <p:ext uri="{BB962C8B-B14F-4D97-AF65-F5344CB8AC3E}">
        <p14:creationId xmlns:p14="http://schemas.microsoft.com/office/powerpoint/2010/main" val="25198802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Thank you - dark">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CCC6F58-88D7-374A-A83B-FE09E711BB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72353" y="1387814"/>
            <a:ext cx="6388100" cy="5511800"/>
          </a:xfrm>
          <a:prstGeom prst="rect">
            <a:avLst/>
          </a:prstGeom>
        </p:spPr>
      </p:pic>
      <p:pic>
        <p:nvPicPr>
          <p:cNvPr id="5" name="Picture 4">
            <a:extLst>
              <a:ext uri="{FF2B5EF4-FFF2-40B4-BE49-F238E27FC236}">
                <a16:creationId xmlns:a16="http://schemas.microsoft.com/office/drawing/2014/main" id="{CDF2A0E6-B4C3-7440-8D67-0738E27611D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0800000">
            <a:off x="-1436964" y="-1472119"/>
            <a:ext cx="6346190" cy="5236210"/>
          </a:xfrm>
          <a:prstGeom prst="rect">
            <a:avLst/>
          </a:prstGeom>
        </p:spPr>
      </p:pic>
      <p:sp>
        <p:nvSpPr>
          <p:cNvPr id="2" name="Title 1"/>
          <p:cNvSpPr>
            <a:spLocks noGrp="1"/>
          </p:cNvSpPr>
          <p:nvPr>
            <p:ph type="title" hasCustomPrompt="1"/>
          </p:nvPr>
        </p:nvSpPr>
        <p:spPr>
          <a:xfrm>
            <a:off x="384048" y="1602819"/>
            <a:ext cx="8382000" cy="1044129"/>
          </a:xfrm>
        </p:spPr>
        <p:txBody>
          <a:bodyPr anchor="b" anchorCtr="0"/>
          <a:lstStyle>
            <a:lvl1pPr algn="ctr">
              <a:lnSpc>
                <a:spcPts val="5000"/>
              </a:lnSpc>
              <a:defRPr sz="4200" b="1" i="0">
                <a:solidFill>
                  <a:schemeClr val="bg1"/>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a:lstStyle>
          <a:p>
            <a:r>
              <a:rPr lang="en-US" dirty="0"/>
              <a:t>Click to edit Large title style</a:t>
            </a:r>
          </a:p>
        </p:txBody>
      </p:sp>
      <p:sp>
        <p:nvSpPr>
          <p:cNvPr id="3" name="Text Placeholder 2"/>
          <p:cNvSpPr>
            <a:spLocks noGrp="1"/>
          </p:cNvSpPr>
          <p:nvPr>
            <p:ph type="body" idx="1"/>
          </p:nvPr>
        </p:nvSpPr>
        <p:spPr>
          <a:xfrm>
            <a:off x="381000" y="2697774"/>
            <a:ext cx="8382000" cy="506226"/>
          </a:xfrm>
          <a:noFill/>
        </p:spPr>
        <p:txBody>
          <a:bodyPr/>
          <a:lstStyle>
            <a:lvl1pPr marL="0" indent="0" algn="ctr">
              <a:lnSpc>
                <a:spcPts val="1500"/>
              </a:lnSpc>
              <a:buNone/>
              <a:defRPr sz="1000" b="0" i="0">
                <a:solidFill>
                  <a:schemeClr val="bg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pic>
        <p:nvPicPr>
          <p:cNvPr id="4" name="Picture 3">
            <a:extLst>
              <a:ext uri="{FF2B5EF4-FFF2-40B4-BE49-F238E27FC236}">
                <a16:creationId xmlns:a16="http://schemas.microsoft.com/office/drawing/2014/main" id="{BB9C96DC-D9C2-B0C8-19C8-22CCC369870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900456" y="4604755"/>
            <a:ext cx="1343087" cy="255186"/>
          </a:xfrm>
          <a:prstGeom prst="rect">
            <a:avLst/>
          </a:prstGeom>
        </p:spPr>
      </p:pic>
    </p:spTree>
    <p:extLst>
      <p:ext uri="{BB962C8B-B14F-4D97-AF65-F5344CB8AC3E}">
        <p14:creationId xmlns:p14="http://schemas.microsoft.com/office/powerpoint/2010/main" val="26147490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400050"/>
            <a:ext cx="8382000" cy="603997"/>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p:cNvSpPr>
            <a:spLocks noGrp="1"/>
          </p:cNvSpPr>
          <p:nvPr>
            <p:ph type="body" idx="1"/>
          </p:nvPr>
        </p:nvSpPr>
        <p:spPr>
          <a:xfrm>
            <a:off x="1066800" y="1200150"/>
            <a:ext cx="7696200" cy="325207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effectLst/>
                <a:latin typeface="Ember Modern Display Standard" panose="020B0503020204020204" pitchFamily="34" charset="0"/>
              </a:defRPr>
            </a:lvl1pPr>
          </a:lstStyle>
          <a:p>
            <a:r>
              <a:rPr lang="en-US" dirty="0"/>
              <a:t>Routes to Safety · FOSS4G NA 2026 · CC BY-SA 4.0</a:t>
            </a:r>
          </a:p>
        </p:txBody>
      </p:sp>
      <p:sp>
        <p:nvSpPr>
          <p:cNvPr id="6" name="Slide Number Placeholder 5"/>
          <p:cNvSpPr>
            <a:spLocks noGrp="1"/>
          </p:cNvSpPr>
          <p:nvPr>
            <p:ph type="sldNum" sz="quarter" idx="4"/>
          </p:nvPr>
        </p:nvSpPr>
        <p:spPr>
          <a:xfrm>
            <a:off x="389238" y="4757711"/>
            <a:ext cx="478536" cy="273844"/>
          </a:xfrm>
          <a:prstGeom prst="rect">
            <a:avLst/>
          </a:prstGeom>
        </p:spPr>
        <p:txBody>
          <a:bodyPr vert="horz" lIns="0" tIns="0" rIns="0" bIns="0" rtlCol="0" anchor="ctr"/>
          <a:lstStyle>
            <a:lvl1pPr algn="l">
              <a:defRPr sz="6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464419009"/>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710" r:id="rId3"/>
    <p:sldLayoutId id="2147483718" r:id="rId4"/>
    <p:sldLayoutId id="2147483719" r:id="rId5"/>
    <p:sldLayoutId id="2147483688" r:id="rId6"/>
    <p:sldLayoutId id="2147483679" r:id="rId7"/>
    <p:sldLayoutId id="2147483677" r:id="rId8"/>
    <p:sldLayoutId id="2147483680" r:id="rId9"/>
    <p:sldLayoutId id="2147483669" r:id="rId10"/>
    <p:sldLayoutId id="2147483683" r:id="rId11"/>
    <p:sldLayoutId id="2147483684" r:id="rId12"/>
    <p:sldLayoutId id="2147483685" r:id="rId13"/>
    <p:sldLayoutId id="2147483714" r:id="rId14"/>
    <p:sldLayoutId id="2147483716" r:id="rId15"/>
    <p:sldLayoutId id="2147483666" r:id="rId16"/>
    <p:sldLayoutId id="2147483664" r:id="rId17"/>
    <p:sldLayoutId id="2147483665" r:id="rId18"/>
    <p:sldLayoutId id="2147483667" r:id="rId19"/>
    <p:sldLayoutId id="2147483717" r:id="rId20"/>
    <p:sldLayoutId id="2147483668" r:id="rId21"/>
  </p:sldLayoutIdLst>
  <p:hf hdr="0" dt="0"/>
  <p:txStyles>
    <p:titleStyle>
      <a:lvl1pPr algn="l" defTabSz="685800" rtl="0" eaLnBrk="1" latinLnBrk="0" hangingPunct="1">
        <a:lnSpc>
          <a:spcPts val="2300"/>
        </a:lnSpc>
        <a:spcBef>
          <a:spcPct val="0"/>
        </a:spcBef>
        <a:buNone/>
        <a:defRPr sz="2100" b="0" i="0" kern="1200">
          <a:solidFill>
            <a:srgbClr val="1C2430"/>
          </a:solidFill>
          <a:latin typeface="Ember Modern Display Standard" panose="020B0503020204020204" pitchFamily="34" charset="0"/>
          <a:ea typeface="Amazon Ember Thin" panose="020B0303020204020204" pitchFamily="34" charset="0"/>
          <a:cs typeface="Amazon Ember Thin" panose="020B0303020204020204" pitchFamily="34" charset="0"/>
        </a:defRPr>
      </a:lvl1pPr>
    </p:titleStyle>
    <p:bodyStyle>
      <a:lvl1pPr marL="171450" indent="-171450" algn="l" defTabSz="685800" rtl="0" eaLnBrk="1" latinLnBrk="0" hangingPunct="1">
        <a:lnSpc>
          <a:spcPts val="1800"/>
        </a:lnSpc>
        <a:spcBef>
          <a:spcPts val="900"/>
        </a:spcBef>
        <a:buFont typeface="Arial" panose="020B0604020202020204" pitchFamily="34" charset="0"/>
        <a:buChar char="•"/>
        <a:defRPr sz="1300" b="0" i="0" kern="120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1pPr>
      <a:lvl2pPr marL="514350" indent="-171450" algn="l" defTabSz="685800" rtl="0" eaLnBrk="1" latinLnBrk="0" hangingPunct="1">
        <a:lnSpc>
          <a:spcPts val="1500"/>
        </a:lnSpc>
        <a:spcBef>
          <a:spcPts val="900"/>
        </a:spcBef>
        <a:buFont typeface="Arial" panose="020B0604020202020204" pitchFamily="34" charset="0"/>
        <a:buChar char="•"/>
        <a:defRPr sz="1000" b="0" i="0" kern="120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2pPr>
      <a:lvl3pPr marL="857250" indent="-171450" algn="l" defTabSz="685800" rtl="0" eaLnBrk="1" latinLnBrk="0" hangingPunct="1">
        <a:lnSpc>
          <a:spcPts val="1200"/>
        </a:lnSpc>
        <a:spcBef>
          <a:spcPts val="900"/>
        </a:spcBef>
        <a:buFont typeface="Arial" panose="020B0604020202020204" pitchFamily="34" charset="0"/>
        <a:buChar char="•"/>
        <a:defRPr sz="800" b="0" i="0" kern="120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3pPr>
      <a:lvl4pPr marL="1200150" indent="-171450" algn="l" defTabSz="685800" rtl="0" eaLnBrk="1" latinLnBrk="0" hangingPunct="1">
        <a:lnSpc>
          <a:spcPts val="1200"/>
        </a:lnSpc>
        <a:spcBef>
          <a:spcPts val="900"/>
        </a:spcBef>
        <a:buFont typeface="Arial" panose="020B0604020202020204" pitchFamily="34" charset="0"/>
        <a:buChar char="•"/>
        <a:defRPr sz="800" b="0" i="0" kern="120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4pPr>
      <a:lvl5pPr marL="1543050" indent="-171450" algn="l" defTabSz="685800" rtl="0" eaLnBrk="1" latinLnBrk="0" hangingPunct="1">
        <a:lnSpc>
          <a:spcPts val="1200"/>
        </a:lnSpc>
        <a:spcBef>
          <a:spcPts val="900"/>
        </a:spcBef>
        <a:buFont typeface="Arial" panose="020B0604020202020204" pitchFamily="34" charset="0"/>
        <a:buChar char="•"/>
        <a:defRPr sz="800" b="0" i="0" kern="1200">
          <a:solidFill>
            <a:schemeClr val="tx1"/>
          </a:solidFill>
          <a:latin typeface="Ember Modern Display Standard" panose="020B0503020204020204" pitchFamily="34" charset="0"/>
          <a:ea typeface="Amazon Ember Light" panose="020B0403020204020204" pitchFamily="34" charset="0"/>
          <a:cs typeface="Amazon Ember Light" panose="020B04030202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40" userDrawn="1">
          <p15:clr>
            <a:srgbClr val="F26B43"/>
          </p15:clr>
        </p15:guide>
        <p15:guide id="4" orient="horz" pos="252" userDrawn="1">
          <p15:clr>
            <a:srgbClr val="F26B43"/>
          </p15:clr>
        </p15:guide>
        <p15:guide id="5" pos="672" userDrawn="1">
          <p15:clr>
            <a:srgbClr val="F26B43"/>
          </p15:clr>
        </p15:guide>
        <p15:guide id="6" orient="horz" pos="756" userDrawn="1">
          <p15:clr>
            <a:srgbClr val="F26B43"/>
          </p15:clr>
        </p15:guide>
        <p15:guide id="7" pos="5520" userDrawn="1">
          <p15:clr>
            <a:srgbClr val="F26B43"/>
          </p15:clr>
        </p15:guide>
        <p15:guide id="8" pos="50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400050"/>
            <a:ext cx="8382000" cy="603997"/>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p:cNvSpPr>
            <a:spLocks noGrp="1"/>
          </p:cNvSpPr>
          <p:nvPr>
            <p:ph type="body" idx="1"/>
          </p:nvPr>
        </p:nvSpPr>
        <p:spPr>
          <a:xfrm>
            <a:off x="1066800" y="1200150"/>
            <a:ext cx="7696200" cy="325207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solidFill>
                  <a:schemeClr val="bg1"/>
                </a:solidFill>
                <a:effectLst/>
                <a:latin typeface="Ember Modern Display Standard" panose="020B0503020204020204" pitchFamily="34" charset="0"/>
              </a:defRPr>
            </a:lvl1pPr>
          </a:lstStyle>
          <a:p>
            <a:r>
              <a:rPr lang="en-US" dirty="0"/>
              <a:t>Routes to Safety · FOSS4G NA 2026 · CC BY-SA 4.0</a:t>
            </a:r>
          </a:p>
        </p:txBody>
      </p:sp>
      <p:sp>
        <p:nvSpPr>
          <p:cNvPr id="6" name="Slide Number Placeholder 5"/>
          <p:cNvSpPr>
            <a:spLocks noGrp="1"/>
          </p:cNvSpPr>
          <p:nvPr>
            <p:ph type="sldNum" sz="quarter" idx="4"/>
          </p:nvPr>
        </p:nvSpPr>
        <p:spPr>
          <a:xfrm>
            <a:off x="381000" y="4749473"/>
            <a:ext cx="478536" cy="273844"/>
          </a:xfrm>
          <a:prstGeom prst="rect">
            <a:avLst/>
          </a:prstGeom>
        </p:spPr>
        <p:txBody>
          <a:bodyPr vert="horz" lIns="0" tIns="0" rIns="0" bIns="0" rtlCol="0" anchor="ctr"/>
          <a:lstStyle>
            <a:lvl1pPr algn="l">
              <a:defRPr sz="600" b="0" i="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extLst>
      <p:ext uri="{BB962C8B-B14F-4D97-AF65-F5344CB8AC3E}">
        <p14:creationId xmlns:p14="http://schemas.microsoft.com/office/powerpoint/2010/main" val="1407231143"/>
      </p:ext>
    </p:extLst>
  </p:cSld>
  <p:clrMap bg1="lt1" tx1="dk1" bg2="lt2" tx2="dk2" accent1="accent1" accent2="accent2" accent3="accent3" accent4="accent4" accent5="accent5" accent6="accent6" hlink="hlink" folHlink="folHlink"/>
  <p:sldLayoutIdLst>
    <p:sldLayoutId id="2147483690" r:id="rId1"/>
    <p:sldLayoutId id="2147483696" r:id="rId2"/>
    <p:sldLayoutId id="2147483697" r:id="rId3"/>
    <p:sldLayoutId id="2147483698" r:id="rId4"/>
    <p:sldLayoutId id="2147483711" r:id="rId5"/>
    <p:sldLayoutId id="2147483702" r:id="rId6"/>
    <p:sldLayoutId id="2147483713" r:id="rId7"/>
    <p:sldLayoutId id="2147483715" r:id="rId8"/>
    <p:sldLayoutId id="2147483703" r:id="rId9"/>
    <p:sldLayoutId id="2147483707" r:id="rId10"/>
    <p:sldLayoutId id="2147483709" r:id="rId11"/>
  </p:sldLayoutIdLst>
  <p:hf hdr="0" dt="0"/>
  <p:txStyles>
    <p:titleStyle>
      <a:lvl1pPr algn="l" defTabSz="685800" rtl="0" eaLnBrk="1" latinLnBrk="0" hangingPunct="1">
        <a:lnSpc>
          <a:spcPts val="2300"/>
        </a:lnSpc>
        <a:spcBef>
          <a:spcPct val="0"/>
        </a:spcBef>
        <a:buNone/>
        <a:defRPr sz="2100" b="1" i="0" kern="120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p:titleStyle>
    <p:bodyStyle>
      <a:lvl1pPr marL="171450" indent="-171450" algn="l" defTabSz="685800" rtl="0" eaLnBrk="1" latinLnBrk="0" hangingPunct="1">
        <a:lnSpc>
          <a:spcPts val="1800"/>
        </a:lnSpc>
        <a:spcBef>
          <a:spcPts val="900"/>
        </a:spcBef>
        <a:buFont typeface="Arial" panose="020B0604020202020204" pitchFamily="34" charset="0"/>
        <a:buChar char="•"/>
        <a:defRPr sz="1300" b="0" i="0" kern="120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1pPr>
      <a:lvl2pPr marL="514350" indent="-171450" algn="l" defTabSz="685800" rtl="0" eaLnBrk="1" latinLnBrk="0" hangingPunct="1">
        <a:lnSpc>
          <a:spcPts val="1500"/>
        </a:lnSpc>
        <a:spcBef>
          <a:spcPts val="900"/>
        </a:spcBef>
        <a:buFont typeface="Arial" panose="020B0604020202020204" pitchFamily="34" charset="0"/>
        <a:buChar char="•"/>
        <a:defRPr sz="1000" b="0" i="0" kern="120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2pPr>
      <a:lvl3pPr marL="857250" indent="-171450" algn="l" defTabSz="685800" rtl="0" eaLnBrk="1" latinLnBrk="0" hangingPunct="1">
        <a:lnSpc>
          <a:spcPts val="1200"/>
        </a:lnSpc>
        <a:spcBef>
          <a:spcPts val="900"/>
        </a:spcBef>
        <a:buFont typeface="Arial" panose="020B0604020202020204" pitchFamily="34" charset="0"/>
        <a:buChar char="•"/>
        <a:defRPr sz="800" b="0" i="0" kern="120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3pPr>
      <a:lvl4pPr marL="1200150" indent="-171450" algn="l" defTabSz="685800" rtl="0" eaLnBrk="1" latinLnBrk="0" hangingPunct="1">
        <a:lnSpc>
          <a:spcPts val="1200"/>
        </a:lnSpc>
        <a:spcBef>
          <a:spcPts val="900"/>
        </a:spcBef>
        <a:buFont typeface="Arial" panose="020B0604020202020204" pitchFamily="34" charset="0"/>
        <a:buChar char="•"/>
        <a:defRPr sz="800" b="0" i="0" kern="120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4pPr>
      <a:lvl5pPr marL="1543050" indent="-171450" algn="l" defTabSz="685800" rtl="0" eaLnBrk="1" latinLnBrk="0" hangingPunct="1">
        <a:lnSpc>
          <a:spcPts val="1200"/>
        </a:lnSpc>
        <a:spcBef>
          <a:spcPts val="900"/>
        </a:spcBef>
        <a:buFont typeface="Arial" panose="020B0604020202020204" pitchFamily="34" charset="0"/>
        <a:buChar char="•"/>
        <a:defRPr sz="800" b="0" i="0" kern="1200">
          <a:solidFill>
            <a:schemeClr val="bg1"/>
          </a:solidFill>
          <a:latin typeface="Ember Modern Display Standard" panose="020B0503020204020204" pitchFamily="34" charset="0"/>
          <a:ea typeface="Amazon Ember" panose="020B0603020204020204" pitchFamily="34" charset="0"/>
          <a:cs typeface="Amazon Ember" panose="020B06030202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40" userDrawn="1">
          <p15:clr>
            <a:srgbClr val="F26B43"/>
          </p15:clr>
        </p15:guide>
        <p15:guide id="4" orient="horz" pos="252" userDrawn="1">
          <p15:clr>
            <a:srgbClr val="F26B43"/>
          </p15:clr>
        </p15:guide>
        <p15:guide id="5" pos="672" userDrawn="1">
          <p15:clr>
            <a:srgbClr val="F26B43"/>
          </p15:clr>
        </p15:guide>
        <p15:guide id="6" orient="horz" pos="756" userDrawn="1">
          <p15:clr>
            <a:srgbClr val="F26B43"/>
          </p15:clr>
        </p15:guide>
        <p15:guide id="7" pos="5520" userDrawn="1">
          <p15:clr>
            <a:srgbClr val="F26B43"/>
          </p15:clr>
        </p15:guide>
        <p15:guide id="8" pos="50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8.gif"/><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0.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5.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Vishal Kumar  ·  Shaishav Maisuria</a:t>
            </a:r>
          </a:p>
        </p:txBody>
      </p:sp>
      <p:sp>
        <p:nvSpPr>
          <p:cNvPr id="3" name="Subtitle 2"/>
          <p:cNvSpPr>
            <a:spLocks noGrp="1"/>
          </p:cNvSpPr>
          <p:nvPr>
            <p:ph type="subTitle" idx="1"/>
          </p:nvPr>
        </p:nvSpPr>
        <p:spPr/>
        <p:txBody>
          <a:bodyPr/>
          <a:lstStyle/>
          <a:p>
            <a:r>
              <a:t>FOSS4G NA 2026 · Sacramento · Mon 2 Nov, 09:00–12:00 · Room Beavis  ·  github.com/vishal4c/routes-to-safety-workshop</a:t>
            </a:r>
          </a:p>
        </p:txBody>
      </p:sp>
      <p:sp>
        <p:nvSpPr>
          <p:cNvPr id="6" name="Footer Placeholder 4"/>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effectLst/>
                <a:latin typeface="Ember Modern Display Standard" panose="020B0503020204020204" pitchFamily="34" charset="0"/>
              </a:defRPr>
            </a:lvl1pPr>
          </a:lstStyle>
          <a:p>
            <a:r>
              <a:rPr lang="en-US" dirty="0"/>
              <a:t>Routes to Safety · FOSS4G NA 2026 · CC BY-SA 4.0</a:t>
            </a:r>
          </a:p>
        </p:txBody>
      </p:sp>
      <p:sp>
        <p:nvSpPr>
          <p:cNvPr id="7" name="Slide Number Placeholder 5"/>
          <p:cNvSpPr>
            <a:spLocks noGrp="1"/>
          </p:cNvSpPr>
          <p:nvPr>
            <p:ph type="sldNum" sz="quarter" idx="4"/>
          </p:nvPr>
        </p:nvSpPr>
        <p:spPr>
          <a:xfrm>
            <a:off x="389238" y="4757711"/>
            <a:ext cx="478536" cy="273844"/>
          </a:xfrm>
          <a:prstGeom prst="rect">
            <a:avLst/>
          </a:prstGeom>
        </p:spPr>
        <p:txBody>
          <a:bodyPr vert="horz" lIns="0" tIns="0" rIns="0" bIns="0" rtlCol="0" anchor="ctr"/>
          <a:lstStyle>
            <a:lvl1pPr algn="l">
              <a:defRPr sz="6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
        <p:nvSpPr>
          <p:cNvPr id="8" name="TextBox 7"/>
          <p:cNvSpPr txBox="1"/>
          <p:nvPr/>
        </p:nvSpPr>
        <p:spPr>
          <a:xfrm>
            <a:off x="384048" y="1417320"/>
            <a:ext cx="7863840" cy="2194560"/>
          </a:xfrm>
          <a:prstGeom prst="rect">
            <a:avLst/>
          </a:prstGeom>
          <a:noFill/>
        </p:spPr>
        <p:txBody>
          <a:bodyPr wrap="square" anchor="t" lIns="73152" rIns="73152" tIns="54864" bIns="54864">
            <a:spAutoFit/>
          </a:bodyPr>
          <a:lstStyle/>
          <a:p>
            <a:pPr>
              <a:spcAft>
                <a:spcPts val="400"/>
              </a:spcAft>
            </a:pPr>
            <a:r>
              <a:rPr sz="4400" b="1" i="0">
                <a:solidFill>
                  <a:srgbClr val="161D26"/>
                </a:solidFill>
                <a:latin typeface="Ember Modern Display Standard"/>
              </a:rPr>
              <a:t>Routes to Safety</a:t>
            </a:r>
          </a:p>
          <a:p>
            <a:pPr>
              <a:spcAft>
                <a:spcPts val="400"/>
              </a:spcAft>
            </a:pPr>
            <a:r>
              <a:rPr sz="1800" b="0" i="0">
                <a:solidFill>
                  <a:srgbClr val="161D26"/>
                </a:solidFill>
                <a:latin typeface="Amazon Ember"/>
              </a:rPr>
              <a:t>An evacuation-services map from open geospatial data — datasets, tiles, routing, rendering</a:t>
            </a:r>
          </a:p>
          <a:p>
            <a:pPr>
              <a:spcAft>
                <a:spcPts val="400"/>
              </a:spcAft>
            </a:pPr>
            <a:r>
              <a:rPr sz="1300" b="0" i="0">
                <a:solidFill>
                  <a:srgbClr val="FF6101"/>
                </a:solidFill>
                <a:latin typeface="Amazon Ember"/>
              </a:rPr>
              <a:t>DuckDB · Overture Maps · Planetiler · PMTiles · MapLibre GL · OSRM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Open geospatial data in.</a:t>
            </a:r>
          </a:p>
          <a:p>
            <a:r>
              <a:rPr sz="3000"/>
              <a:t>An evacuation-services map — and the routes to it — out.</a:t>
            </a:r>
          </a:p>
        </p:txBody>
      </p:sp>
      <p:sp>
        <p:nvSpPr>
          <p:cNvPr id="3" name="Text Placeholder 2"/>
          <p:cNvSpPr>
            <a:spLocks noGrp="1"/>
          </p:cNvSpPr>
          <p:nvPr>
            <p:ph type="body" idx="1"/>
          </p:nvPr>
        </p:nvSpPr>
        <p:spPr/>
        <p:txBody>
          <a:bodyPr/>
          <a:lstStyle/>
          <a:p>
            <a:r>
              <a:t>Hands-on with open datasets (OpenStreetMap, Overture Maps themes, CAL FIRE) → vector tiles → a routing graph for route-based analysis → rendered in the browser. Four open tools, one per phase.</a:t>
            </a:r>
          </a:p>
        </p:txBody>
      </p:sp>
      <p:sp>
        <p:nvSpPr>
          <p:cNvPr id="9" name="Footer Placeholder 5">
            <a:extLst>
              <a:ext uri="{FF2B5EF4-FFF2-40B4-BE49-F238E27FC236}">
                <a16:creationId xmlns:a16="http://schemas.microsoft.com/office/drawing/2014/main" id="{33785C5B-DD7B-978E-D570-26AD6CB437D6}"/>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2" name="Slide Number Placeholder 6">
            <a:extLst>
              <a:ext uri="{FF2B5EF4-FFF2-40B4-BE49-F238E27FC236}">
                <a16:creationId xmlns:a16="http://schemas.microsoft.com/office/drawing/2014/main" id="{B0C1F170-8D2C-8321-4BB6-9EF7A925E8C7}"/>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work with — open datasets and open tools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841248"/>
            <a:ext cx="4069080" cy="274320"/>
          </a:xfrm>
          <a:prstGeom prst="rect">
            <a:avLst/>
          </a:prstGeom>
          <a:noFill/>
        </p:spPr>
        <p:txBody>
          <a:bodyPr wrap="square" anchor="t" lIns="73152" rIns="73152" tIns="54864" bIns="54864">
            <a:spAutoFit/>
          </a:bodyPr>
          <a:lstStyle/>
          <a:p>
            <a:pPr>
              <a:spcAft>
                <a:spcPts val="400"/>
              </a:spcAft>
            </a:pPr>
            <a:r>
              <a:rPr sz="1100" b="1" i="0">
                <a:solidFill>
                  <a:srgbClr val="FF6101"/>
                </a:solidFill>
                <a:latin typeface="Amazon Ember"/>
              </a:rPr>
              <a:t>OPEN DATASETS</a:t>
            </a:r>
          </a:p>
        </p:txBody>
      </p:sp>
      <p:sp>
        <p:nvSpPr>
          <p:cNvPr id="12" name="TextBox 11"/>
          <p:cNvSpPr txBox="1"/>
          <p:nvPr/>
        </p:nvSpPr>
        <p:spPr>
          <a:xfrm>
            <a:off x="4700016" y="841248"/>
            <a:ext cx="4069080" cy="274320"/>
          </a:xfrm>
          <a:prstGeom prst="rect">
            <a:avLst/>
          </a:prstGeom>
          <a:noFill/>
        </p:spPr>
        <p:txBody>
          <a:bodyPr wrap="square" anchor="t" lIns="73152" rIns="73152" tIns="54864" bIns="54864">
            <a:spAutoFit/>
          </a:bodyPr>
          <a:lstStyle/>
          <a:p>
            <a:pPr>
              <a:spcAft>
                <a:spcPts val="400"/>
              </a:spcAft>
            </a:pPr>
            <a:r>
              <a:rPr sz="1100" b="1" i="0">
                <a:solidFill>
                  <a:srgbClr val="FF6101"/>
                </a:solidFill>
                <a:latin typeface="Amazon Ember"/>
              </a:rPr>
              <a:t>OPEN TOOLS — one per phase</a:t>
            </a:r>
          </a:p>
        </p:txBody>
      </p:sp>
      <p:sp>
        <p:nvSpPr>
          <p:cNvPr id="13" name="Rectangle 12"/>
          <p:cNvSpPr/>
          <p:nvPr/>
        </p:nvSpPr>
        <p:spPr>
          <a:xfrm>
            <a:off x="384048" y="1143000"/>
            <a:ext cx="4069080" cy="77724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 y="1143000"/>
            <a:ext cx="64008"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1161288"/>
            <a:ext cx="2743200" cy="274320"/>
          </a:xfrm>
          <a:prstGeom prst="rect">
            <a:avLst/>
          </a:prstGeom>
          <a:noFill/>
        </p:spPr>
        <p:txBody>
          <a:bodyPr wrap="square" anchor="t" lIns="45720" rIns="45720" tIns="34290" bIns="34290">
            <a:spAutoFit/>
          </a:bodyPr>
          <a:lstStyle/>
          <a:p>
            <a:pPr>
              <a:spcAft>
                <a:spcPts val="400"/>
              </a:spcAft>
            </a:pPr>
            <a:r>
              <a:rPr sz="1250" b="1" i="0">
                <a:solidFill>
                  <a:srgbClr val="161D26"/>
                </a:solidFill>
                <a:latin typeface="Amazon Ember"/>
              </a:rPr>
              <a:t>OpenStreetMap</a:t>
            </a:r>
          </a:p>
        </p:txBody>
      </p:sp>
      <p:sp>
        <p:nvSpPr>
          <p:cNvPr id="16" name="TextBox 15"/>
          <p:cNvSpPr txBox="1"/>
          <p:nvPr/>
        </p:nvSpPr>
        <p:spPr>
          <a:xfrm>
            <a:off x="3200400" y="1188720"/>
            <a:ext cx="1207008" cy="256032"/>
          </a:xfrm>
          <a:prstGeom prst="rect">
            <a:avLst/>
          </a:prstGeom>
          <a:noFill/>
        </p:spPr>
        <p:txBody>
          <a:bodyPr wrap="square" anchor="t" lIns="45720" rIns="45720" tIns="34290" bIns="34290">
            <a:spAutoFit/>
          </a:bodyPr>
          <a:lstStyle/>
          <a:p>
            <a:pPr algn="r">
              <a:spcAft>
                <a:spcPts val="400"/>
              </a:spcAft>
            </a:pPr>
            <a:r>
              <a:rPr sz="850" b="0" i="0">
                <a:solidFill>
                  <a:srgbClr val="6B7280"/>
                </a:solidFill>
                <a:latin typeface="Amazon Ember"/>
              </a:rPr>
              <a:t>ODbL</a:t>
            </a:r>
          </a:p>
        </p:txBody>
      </p:sp>
      <p:sp>
        <p:nvSpPr>
          <p:cNvPr id="17" name="TextBox 16"/>
          <p:cNvSpPr txBox="1"/>
          <p:nvPr/>
        </p:nvSpPr>
        <p:spPr>
          <a:xfrm>
            <a:off x="530352" y="1417320"/>
            <a:ext cx="3858768" cy="502920"/>
          </a:xfrm>
          <a:prstGeom prst="rect">
            <a:avLst/>
          </a:prstGeom>
          <a:noFill/>
        </p:spPr>
        <p:txBody>
          <a:bodyPr wrap="square" anchor="t" lIns="45720" rIns="45720" tIns="34290" bIns="34290">
            <a:spAutoFit/>
          </a:bodyPr>
          <a:lstStyle/>
          <a:p>
            <a:pPr>
              <a:spcAft>
                <a:spcPts val="400"/>
              </a:spcAft>
            </a:pPr>
            <a:r>
              <a:rPr sz="950" b="0" i="0">
                <a:solidFill>
                  <a:srgbClr val="161D26"/>
                </a:solidFill>
                <a:latin typeface="Amazon Ember"/>
              </a:rPr>
              <a:t>the road network OSRM routes on — one .osm.pbf extract (Geofabrik) with turn restrictions and speed limits</a:t>
            </a:r>
          </a:p>
        </p:txBody>
      </p:sp>
      <p:sp>
        <p:nvSpPr>
          <p:cNvPr id="18" name="Rectangle 17"/>
          <p:cNvSpPr/>
          <p:nvPr/>
        </p:nvSpPr>
        <p:spPr>
          <a:xfrm>
            <a:off x="384048" y="2011680"/>
            <a:ext cx="4069080" cy="77724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4048" y="2011680"/>
            <a:ext cx="64008"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2029968"/>
            <a:ext cx="2743200" cy="274320"/>
          </a:xfrm>
          <a:prstGeom prst="rect">
            <a:avLst/>
          </a:prstGeom>
          <a:noFill/>
        </p:spPr>
        <p:txBody>
          <a:bodyPr wrap="square" anchor="t" lIns="45720" rIns="45720" tIns="34290" bIns="34290">
            <a:spAutoFit/>
          </a:bodyPr>
          <a:lstStyle/>
          <a:p>
            <a:pPr>
              <a:spcAft>
                <a:spcPts val="400"/>
              </a:spcAft>
            </a:pPr>
            <a:r>
              <a:rPr sz="1250" b="1" i="0">
                <a:solidFill>
                  <a:srgbClr val="161D26"/>
                </a:solidFill>
                <a:latin typeface="Amazon Ember"/>
              </a:rPr>
              <a:t>Overture Maps</a:t>
            </a:r>
          </a:p>
        </p:txBody>
      </p:sp>
      <p:sp>
        <p:nvSpPr>
          <p:cNvPr id="21" name="TextBox 20"/>
          <p:cNvSpPr txBox="1"/>
          <p:nvPr/>
        </p:nvSpPr>
        <p:spPr>
          <a:xfrm>
            <a:off x="3200400" y="2057400"/>
            <a:ext cx="1207008" cy="256032"/>
          </a:xfrm>
          <a:prstGeom prst="rect">
            <a:avLst/>
          </a:prstGeom>
          <a:noFill/>
        </p:spPr>
        <p:txBody>
          <a:bodyPr wrap="square" anchor="t" lIns="45720" rIns="45720" tIns="34290" bIns="34290">
            <a:spAutoFit/>
          </a:bodyPr>
          <a:lstStyle/>
          <a:p>
            <a:pPr algn="r">
              <a:spcAft>
                <a:spcPts val="400"/>
              </a:spcAft>
            </a:pPr>
            <a:r>
              <a:rPr sz="850" b="0" i="0">
                <a:solidFill>
                  <a:srgbClr val="6B7280"/>
                </a:solidFill>
                <a:latin typeface="Amazon Ember"/>
              </a:rPr>
              <a:t>ODbL · CDLA-P 2.0</a:t>
            </a:r>
          </a:p>
        </p:txBody>
      </p:sp>
      <p:sp>
        <p:nvSpPr>
          <p:cNvPr id="22" name="TextBox 21"/>
          <p:cNvSpPr txBox="1"/>
          <p:nvPr/>
        </p:nvSpPr>
        <p:spPr>
          <a:xfrm>
            <a:off x="530352" y="2286000"/>
            <a:ext cx="3858768" cy="502920"/>
          </a:xfrm>
          <a:prstGeom prst="rect">
            <a:avLst/>
          </a:prstGeom>
          <a:noFill/>
        </p:spPr>
        <p:txBody>
          <a:bodyPr wrap="square" anchor="t" lIns="45720" rIns="45720" tIns="34290" bIns="34290">
            <a:spAutoFit/>
          </a:bodyPr>
          <a:lstStyle/>
          <a:p>
            <a:pPr>
              <a:spcAft>
                <a:spcPts val="400"/>
              </a:spcAft>
            </a:pPr>
            <a:r>
              <a:rPr sz="950" b="0" i="0">
                <a:solidFill>
                  <a:srgbClr val="161D26"/>
                </a:solidFill>
                <a:latin typeface="Amazon Ember"/>
              </a:rPr>
              <a:t>themes transportation · places · divisions · base · buildings → roads, POIs, towns, water, land cover, 3D buildings — staged as GeoJSON</a:t>
            </a:r>
          </a:p>
        </p:txBody>
      </p:sp>
      <p:sp>
        <p:nvSpPr>
          <p:cNvPr id="23" name="Rectangle 22"/>
          <p:cNvSpPr/>
          <p:nvPr/>
        </p:nvSpPr>
        <p:spPr>
          <a:xfrm>
            <a:off x="384048" y="2880360"/>
            <a:ext cx="4069080" cy="77724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4048" y="2880360"/>
            <a:ext cx="64008"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898648"/>
            <a:ext cx="2743200" cy="274320"/>
          </a:xfrm>
          <a:prstGeom prst="rect">
            <a:avLst/>
          </a:prstGeom>
          <a:noFill/>
        </p:spPr>
        <p:txBody>
          <a:bodyPr wrap="square" anchor="t" lIns="45720" rIns="45720" tIns="34290" bIns="34290">
            <a:spAutoFit/>
          </a:bodyPr>
          <a:lstStyle/>
          <a:p>
            <a:pPr>
              <a:spcAft>
                <a:spcPts val="400"/>
              </a:spcAft>
            </a:pPr>
            <a:r>
              <a:rPr sz="1250" b="1" i="0">
                <a:solidFill>
                  <a:srgbClr val="161D26"/>
                </a:solidFill>
                <a:latin typeface="Amazon Ember"/>
              </a:rPr>
              <a:t>CAL FIRE FRAP</a:t>
            </a:r>
          </a:p>
        </p:txBody>
      </p:sp>
      <p:sp>
        <p:nvSpPr>
          <p:cNvPr id="26" name="TextBox 25"/>
          <p:cNvSpPr txBox="1"/>
          <p:nvPr/>
        </p:nvSpPr>
        <p:spPr>
          <a:xfrm>
            <a:off x="3200400" y="2926079"/>
            <a:ext cx="1207008" cy="256032"/>
          </a:xfrm>
          <a:prstGeom prst="rect">
            <a:avLst/>
          </a:prstGeom>
          <a:noFill/>
        </p:spPr>
        <p:txBody>
          <a:bodyPr wrap="square" anchor="t" lIns="45720" rIns="45720" tIns="34290" bIns="34290">
            <a:spAutoFit/>
          </a:bodyPr>
          <a:lstStyle/>
          <a:p>
            <a:pPr algn="r">
              <a:spcAft>
                <a:spcPts val="400"/>
              </a:spcAft>
            </a:pPr>
            <a:r>
              <a:rPr sz="850" b="0" i="0">
                <a:solidFill>
                  <a:srgbClr val="6B7280"/>
                </a:solidFill>
                <a:latin typeface="Amazon Ember"/>
              </a:rPr>
              <a:t>CC-BY</a:t>
            </a:r>
          </a:p>
        </p:txBody>
      </p:sp>
      <p:sp>
        <p:nvSpPr>
          <p:cNvPr id="27" name="TextBox 26"/>
          <p:cNvSpPr txBox="1"/>
          <p:nvPr/>
        </p:nvSpPr>
        <p:spPr>
          <a:xfrm>
            <a:off x="530352" y="3154679"/>
            <a:ext cx="3858768" cy="502920"/>
          </a:xfrm>
          <a:prstGeom prst="rect">
            <a:avLst/>
          </a:prstGeom>
          <a:noFill/>
        </p:spPr>
        <p:txBody>
          <a:bodyPr wrap="square" anchor="t" lIns="45720" rIns="45720" tIns="34290" bIns="34290">
            <a:spAutoFit/>
          </a:bodyPr>
          <a:lstStyle/>
          <a:p>
            <a:pPr>
              <a:spcAft>
                <a:spcPts val="400"/>
              </a:spcAft>
            </a:pPr>
            <a:r>
              <a:rPr sz="950" b="0" i="0">
                <a:solidFill>
                  <a:srgbClr val="161D26"/>
                </a:solidFill>
                <a:latin typeface="Amazon Ember"/>
              </a:rPr>
              <a:t>Fire Hazard Severity Zones and fire perimeters, pulled from ArcGIS feature services</a:t>
            </a:r>
          </a:p>
        </p:txBody>
      </p:sp>
      <p:sp>
        <p:nvSpPr>
          <p:cNvPr id="28" name="Rectangle 27"/>
          <p:cNvSpPr/>
          <p:nvPr/>
        </p:nvSpPr>
        <p:spPr>
          <a:xfrm>
            <a:off x="384048" y="3749039"/>
            <a:ext cx="4069080" cy="77724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84048" y="3749039"/>
            <a:ext cx="64008"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767327"/>
            <a:ext cx="2743200" cy="274320"/>
          </a:xfrm>
          <a:prstGeom prst="rect">
            <a:avLst/>
          </a:prstGeom>
          <a:noFill/>
        </p:spPr>
        <p:txBody>
          <a:bodyPr wrap="square" anchor="t" lIns="45720" rIns="45720" tIns="34290" bIns="34290">
            <a:spAutoFit/>
          </a:bodyPr>
          <a:lstStyle/>
          <a:p>
            <a:pPr>
              <a:spcAft>
                <a:spcPts val="400"/>
              </a:spcAft>
            </a:pPr>
            <a:r>
              <a:rPr sz="1250" b="1" i="0">
                <a:solidFill>
                  <a:srgbClr val="161D26"/>
                </a:solidFill>
                <a:latin typeface="Amazon Ember"/>
              </a:rPr>
              <a:t>ESA WorldCover</a:t>
            </a:r>
          </a:p>
        </p:txBody>
      </p:sp>
      <p:sp>
        <p:nvSpPr>
          <p:cNvPr id="31" name="TextBox 30"/>
          <p:cNvSpPr txBox="1"/>
          <p:nvPr/>
        </p:nvSpPr>
        <p:spPr>
          <a:xfrm>
            <a:off x="3200400" y="3794759"/>
            <a:ext cx="1207008" cy="256032"/>
          </a:xfrm>
          <a:prstGeom prst="rect">
            <a:avLst/>
          </a:prstGeom>
          <a:noFill/>
        </p:spPr>
        <p:txBody>
          <a:bodyPr wrap="square" anchor="t" lIns="45720" rIns="45720" tIns="34290" bIns="34290">
            <a:spAutoFit/>
          </a:bodyPr>
          <a:lstStyle/>
          <a:p>
            <a:pPr algn="r">
              <a:spcAft>
                <a:spcPts val="400"/>
              </a:spcAft>
            </a:pPr>
            <a:r>
              <a:rPr sz="850" b="0" i="0">
                <a:solidFill>
                  <a:srgbClr val="6B7280"/>
                </a:solidFill>
                <a:latin typeface="Amazon Ember"/>
              </a:rPr>
              <a:t>CC-BY 4.0</a:t>
            </a:r>
          </a:p>
        </p:txBody>
      </p:sp>
      <p:sp>
        <p:nvSpPr>
          <p:cNvPr id="32" name="TextBox 31"/>
          <p:cNvSpPr txBox="1"/>
          <p:nvPr/>
        </p:nvSpPr>
        <p:spPr>
          <a:xfrm>
            <a:off x="530352" y="4023359"/>
            <a:ext cx="3858768" cy="502920"/>
          </a:xfrm>
          <a:prstGeom prst="rect">
            <a:avLst/>
          </a:prstGeom>
          <a:noFill/>
        </p:spPr>
        <p:txBody>
          <a:bodyPr wrap="square" anchor="t" lIns="45720" rIns="45720" tIns="34290" bIns="34290">
            <a:spAutoFit/>
          </a:bodyPr>
          <a:lstStyle/>
          <a:p>
            <a:pPr>
              <a:spcAft>
                <a:spcPts val="400"/>
              </a:spcAft>
            </a:pPr>
            <a:r>
              <a:rPr sz="950" b="0" i="0">
                <a:solidFill>
                  <a:srgbClr val="161D26"/>
                </a:solidFill>
                <a:latin typeface="Amazon Ember"/>
              </a:rPr>
              <a:t>land cover at 10 m resolution, via the Overture base theme</a:t>
            </a:r>
          </a:p>
        </p:txBody>
      </p:sp>
      <p:sp>
        <p:nvSpPr>
          <p:cNvPr id="33" name="Rectangle 32"/>
          <p:cNvSpPr/>
          <p:nvPr/>
        </p:nvSpPr>
        <p:spPr>
          <a:xfrm>
            <a:off x="4700016" y="1143000"/>
            <a:ext cx="4069080"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46320" y="1161288"/>
            <a:ext cx="2514600" cy="274320"/>
          </a:xfrm>
          <a:prstGeom prst="rect">
            <a:avLst/>
          </a:prstGeom>
          <a:noFill/>
        </p:spPr>
        <p:txBody>
          <a:bodyPr wrap="square" anchor="t" lIns="45720" rIns="45720" tIns="34290" bIns="34290">
            <a:spAutoFit/>
          </a:bodyPr>
          <a:lstStyle/>
          <a:p>
            <a:pPr>
              <a:spcAft>
                <a:spcPts val="400"/>
              </a:spcAft>
            </a:pPr>
            <a:r>
              <a:rPr sz="1250" b="1" i="0">
                <a:solidFill>
                  <a:srgbClr val="FFFFFF"/>
                </a:solidFill>
                <a:latin typeface="Amazon Ember"/>
              </a:rPr>
              <a:t>DuckDB + spatial</a:t>
            </a:r>
          </a:p>
        </p:txBody>
      </p:sp>
      <p:sp>
        <p:nvSpPr>
          <p:cNvPr id="35" name="Rectangle 34"/>
          <p:cNvSpPr/>
          <p:nvPr/>
        </p:nvSpPr>
        <p:spPr>
          <a:xfrm>
            <a:off x="7424927" y="1234440"/>
            <a:ext cx="1252728" cy="219456"/>
          </a:xfrm>
          <a:prstGeom prst="rect">
            <a:avLst/>
          </a:prstGeom>
          <a:solidFill>
            <a:srgbClr val="FF61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850" b="1">
                <a:solidFill>
                  <a:srgbClr val="FFFFFF"/>
                </a:solidFill>
                <a:latin typeface="Amazon Ember"/>
              </a:rPr>
              <a:t>Phase 1</a:t>
            </a:r>
          </a:p>
        </p:txBody>
      </p:sp>
      <p:sp>
        <p:nvSpPr>
          <p:cNvPr id="36" name="TextBox 35"/>
          <p:cNvSpPr txBox="1"/>
          <p:nvPr/>
        </p:nvSpPr>
        <p:spPr>
          <a:xfrm>
            <a:off x="4846320" y="1417320"/>
            <a:ext cx="3858768" cy="502920"/>
          </a:xfrm>
          <a:prstGeom prst="rect">
            <a:avLst/>
          </a:prstGeom>
          <a:noFill/>
        </p:spPr>
        <p:txBody>
          <a:bodyPr wrap="square" anchor="t" lIns="45720" rIns="45720" tIns="34290" bIns="34290">
            <a:spAutoFit/>
          </a:bodyPr>
          <a:lstStyle/>
          <a:p>
            <a:pPr>
              <a:spcAft>
                <a:spcPts val="400"/>
              </a:spcAft>
            </a:pPr>
            <a:r>
              <a:rPr sz="950" b="0" i="0">
                <a:solidFill>
                  <a:srgbClr val="FFFFFF"/>
                </a:solidFill>
                <a:latin typeface="Amazon Ember"/>
              </a:rPr>
              <a:t>SQL over GeoJSON — and over Overture's Parquet on S3: a county out of the planet in seconds (bbox pushdown)</a:t>
            </a:r>
          </a:p>
        </p:txBody>
      </p:sp>
      <p:sp>
        <p:nvSpPr>
          <p:cNvPr id="37" name="Rectangle 36"/>
          <p:cNvSpPr/>
          <p:nvPr/>
        </p:nvSpPr>
        <p:spPr>
          <a:xfrm>
            <a:off x="4700016" y="2011680"/>
            <a:ext cx="4069080"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2029968"/>
            <a:ext cx="2514600" cy="274320"/>
          </a:xfrm>
          <a:prstGeom prst="rect">
            <a:avLst/>
          </a:prstGeom>
          <a:noFill/>
        </p:spPr>
        <p:txBody>
          <a:bodyPr wrap="square" anchor="t" lIns="45720" rIns="45720" tIns="34290" bIns="34290">
            <a:spAutoFit/>
          </a:bodyPr>
          <a:lstStyle/>
          <a:p>
            <a:pPr>
              <a:spcAft>
                <a:spcPts val="400"/>
              </a:spcAft>
            </a:pPr>
            <a:r>
              <a:rPr sz="1250" b="1" i="0">
                <a:solidFill>
                  <a:srgbClr val="FFFFFF"/>
                </a:solidFill>
                <a:latin typeface="Amazon Ember"/>
              </a:rPr>
              <a:t>Planetiler → PMTiles</a:t>
            </a:r>
          </a:p>
        </p:txBody>
      </p:sp>
      <p:sp>
        <p:nvSpPr>
          <p:cNvPr id="39" name="Rectangle 38"/>
          <p:cNvSpPr/>
          <p:nvPr/>
        </p:nvSpPr>
        <p:spPr>
          <a:xfrm>
            <a:off x="7424927" y="2103120"/>
            <a:ext cx="1252728" cy="219456"/>
          </a:xfrm>
          <a:prstGeom prst="rect">
            <a:avLst/>
          </a:prstGeom>
          <a:solidFill>
            <a:srgbClr val="FF61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850" b="1">
                <a:solidFill>
                  <a:srgbClr val="FFFFFF"/>
                </a:solidFill>
                <a:latin typeface="Amazon Ember"/>
              </a:rPr>
              <a:t>Phase 2a</a:t>
            </a:r>
          </a:p>
        </p:txBody>
      </p:sp>
      <p:sp>
        <p:nvSpPr>
          <p:cNvPr id="40" name="TextBox 39"/>
          <p:cNvSpPr txBox="1"/>
          <p:nvPr/>
        </p:nvSpPr>
        <p:spPr>
          <a:xfrm>
            <a:off x="4846320" y="2286000"/>
            <a:ext cx="3858768" cy="502920"/>
          </a:xfrm>
          <a:prstGeom prst="rect">
            <a:avLst/>
          </a:prstGeom>
          <a:noFill/>
        </p:spPr>
        <p:txBody>
          <a:bodyPr wrap="square" anchor="t" lIns="45720" rIns="45720" tIns="34290" bIns="34290">
            <a:spAutoFit/>
          </a:bodyPr>
          <a:lstStyle/>
          <a:p>
            <a:pPr>
              <a:spcAft>
                <a:spcPts val="400"/>
              </a:spcAft>
            </a:pPr>
            <a:r>
              <a:rPr sz="950" b="0" i="0">
                <a:solidFill>
                  <a:srgbClr val="FFFFFF"/>
                </a:solidFill>
                <a:latin typeface="Amazon Ember"/>
              </a:rPr>
              <a:t>GeoJSON → vector tiles → one static file; no tile server, only HTTP Range requests</a:t>
            </a:r>
          </a:p>
        </p:txBody>
      </p:sp>
      <p:sp>
        <p:nvSpPr>
          <p:cNvPr id="41" name="Rectangle 40"/>
          <p:cNvSpPr/>
          <p:nvPr/>
        </p:nvSpPr>
        <p:spPr>
          <a:xfrm>
            <a:off x="4700016" y="2880360"/>
            <a:ext cx="4069080"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46320" y="2898648"/>
            <a:ext cx="2514600" cy="274320"/>
          </a:xfrm>
          <a:prstGeom prst="rect">
            <a:avLst/>
          </a:prstGeom>
          <a:noFill/>
        </p:spPr>
        <p:txBody>
          <a:bodyPr wrap="square" anchor="t" lIns="45720" rIns="45720" tIns="34290" bIns="34290">
            <a:spAutoFit/>
          </a:bodyPr>
          <a:lstStyle/>
          <a:p>
            <a:pPr>
              <a:spcAft>
                <a:spcPts val="400"/>
              </a:spcAft>
            </a:pPr>
            <a:r>
              <a:rPr sz="1250" b="1" i="0">
                <a:solidFill>
                  <a:srgbClr val="FFFFFF"/>
                </a:solidFill>
                <a:latin typeface="Amazon Ember"/>
              </a:rPr>
              <a:t>OSRM</a:t>
            </a:r>
          </a:p>
        </p:txBody>
      </p:sp>
      <p:sp>
        <p:nvSpPr>
          <p:cNvPr id="43" name="Rectangle 42"/>
          <p:cNvSpPr/>
          <p:nvPr/>
        </p:nvSpPr>
        <p:spPr>
          <a:xfrm>
            <a:off x="7424927" y="2971800"/>
            <a:ext cx="1252728" cy="219456"/>
          </a:xfrm>
          <a:prstGeom prst="rect">
            <a:avLst/>
          </a:prstGeom>
          <a:solidFill>
            <a:srgbClr val="FF61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850" b="1">
                <a:solidFill>
                  <a:srgbClr val="FFFFFF"/>
                </a:solidFill>
                <a:latin typeface="Amazon Ember"/>
              </a:rPr>
              <a:t>Phase 2b · 2c · 3c</a:t>
            </a:r>
          </a:p>
        </p:txBody>
      </p:sp>
      <p:sp>
        <p:nvSpPr>
          <p:cNvPr id="44" name="TextBox 43"/>
          <p:cNvSpPr txBox="1"/>
          <p:nvPr/>
        </p:nvSpPr>
        <p:spPr>
          <a:xfrm>
            <a:off x="4846320" y="3154679"/>
            <a:ext cx="3858768" cy="502920"/>
          </a:xfrm>
          <a:prstGeom prst="rect">
            <a:avLst/>
          </a:prstGeom>
          <a:noFill/>
        </p:spPr>
        <p:txBody>
          <a:bodyPr wrap="square" anchor="t" lIns="45720" rIns="45720" tIns="34290" bIns="34290">
            <a:spAutoFit/>
          </a:bodyPr>
          <a:lstStyle/>
          <a:p>
            <a:pPr>
              <a:spcAft>
                <a:spcPts val="400"/>
              </a:spcAft>
            </a:pPr>
            <a:r>
              <a:rPr sz="950" b="0" i="0">
                <a:solidFill>
                  <a:srgbClr val="FFFFFF"/>
                </a:solidFill>
                <a:latin typeface="Amazon Ember"/>
              </a:rPr>
              <a:t>routing graph from the OSM extract; /nearest · /table · /route → nearest by road, reach bands, closures</a:t>
            </a:r>
          </a:p>
        </p:txBody>
      </p:sp>
      <p:sp>
        <p:nvSpPr>
          <p:cNvPr id="45" name="Rectangle 44"/>
          <p:cNvSpPr/>
          <p:nvPr/>
        </p:nvSpPr>
        <p:spPr>
          <a:xfrm>
            <a:off x="4700016" y="3749039"/>
            <a:ext cx="4069080" cy="777240"/>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46320" y="3767327"/>
            <a:ext cx="2514600" cy="274320"/>
          </a:xfrm>
          <a:prstGeom prst="rect">
            <a:avLst/>
          </a:prstGeom>
          <a:noFill/>
        </p:spPr>
        <p:txBody>
          <a:bodyPr wrap="square" anchor="t" lIns="45720" rIns="45720" tIns="34290" bIns="34290">
            <a:spAutoFit/>
          </a:bodyPr>
          <a:lstStyle/>
          <a:p>
            <a:pPr>
              <a:spcAft>
                <a:spcPts val="400"/>
              </a:spcAft>
            </a:pPr>
            <a:r>
              <a:rPr sz="1250" b="1" i="0">
                <a:solidFill>
                  <a:srgbClr val="FFFFFF"/>
                </a:solidFill>
                <a:latin typeface="Amazon Ember"/>
              </a:rPr>
              <a:t>MapLibre GL JS</a:t>
            </a:r>
          </a:p>
        </p:txBody>
      </p:sp>
      <p:sp>
        <p:nvSpPr>
          <p:cNvPr id="47" name="Rectangle 46"/>
          <p:cNvSpPr/>
          <p:nvPr/>
        </p:nvSpPr>
        <p:spPr>
          <a:xfrm>
            <a:off x="7424927" y="3840479"/>
            <a:ext cx="1252728" cy="219456"/>
          </a:xfrm>
          <a:prstGeom prst="rect">
            <a:avLst/>
          </a:prstGeom>
          <a:solidFill>
            <a:srgbClr val="FF61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850" b="1">
                <a:solidFill>
                  <a:srgbClr val="FFFFFF"/>
                </a:solidFill>
                <a:latin typeface="Amazon Ember"/>
              </a:rPr>
              <a:t>Phase 3</a:t>
            </a:r>
          </a:p>
        </p:txBody>
      </p:sp>
      <p:sp>
        <p:nvSpPr>
          <p:cNvPr id="48" name="TextBox 47"/>
          <p:cNvSpPr txBox="1"/>
          <p:nvPr/>
        </p:nvSpPr>
        <p:spPr>
          <a:xfrm>
            <a:off x="4846320" y="4023359"/>
            <a:ext cx="3858768" cy="502920"/>
          </a:xfrm>
          <a:prstGeom prst="rect">
            <a:avLst/>
          </a:prstGeom>
          <a:noFill/>
        </p:spPr>
        <p:txBody>
          <a:bodyPr wrap="square" anchor="t" lIns="45720" rIns="45720" tIns="34290" bIns="34290">
            <a:spAutoFit/>
          </a:bodyPr>
          <a:lstStyle/>
          <a:p>
            <a:pPr>
              <a:spcAft>
                <a:spcPts val="400"/>
              </a:spcAft>
            </a:pPr>
            <a:r>
              <a:rPr sz="950" b="0" i="0">
                <a:solidFill>
                  <a:srgbClr val="FFFFFF"/>
                </a:solidFill>
                <a:latin typeface="Amazon Ember"/>
              </a:rPr>
              <a:t>renders the tiles from a JSON style; three views over one file; routing wired into the page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will have built</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03-route.png"/>
          <p:cNvPicPr>
            <a:picLocks noChangeAspect="1"/>
          </p:cNvPicPr>
          <p:nvPr/>
        </p:nvPicPr>
        <p:blipFill>
          <a:blip r:embed="rId2"/>
          <a:stretch>
            <a:fillRect/>
          </a:stretch>
        </p:blipFill>
        <p:spPr>
          <a:xfrm>
            <a:off x="384048" y="914400"/>
            <a:ext cx="5760720" cy="3600450"/>
          </a:xfrm>
          <a:prstGeom prst="rect">
            <a:avLst/>
          </a:prstGeom>
          <a:ln w="9525">
            <a:solidFill>
              <a:srgbClr val="D5DBDA"/>
            </a:solidFill>
          </a:ln>
        </p:spPr>
      </p:pic>
      <p:sp>
        <p:nvSpPr>
          <p:cNvPr id="12" name="TextBox 11"/>
          <p:cNvSpPr txBox="1"/>
          <p:nvPr/>
        </p:nvSpPr>
        <p:spPr>
          <a:xfrm>
            <a:off x="6355080" y="914400"/>
            <a:ext cx="2423160" cy="356616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Our own vector tiles</a:t>
            </a:r>
          </a:p>
          <a:p>
            <a:pPr>
              <a:spcAft>
                <a:spcPts val="400"/>
              </a:spcAft>
            </a:pPr>
            <a:r>
              <a:rPr sz="1050" b="0" i="0">
                <a:solidFill>
                  <a:srgbClr val="161D26"/>
                </a:solidFill>
                <a:latin typeface="Amazon Ember"/>
              </a:rPr>
              <a:t>roads · water · hazard zones · fire perimeters · city labels · shelters — one 6.5 MB PMTiles file</a:t>
            </a:r>
          </a:p>
          <a:p>
            <a:pPr>
              <a:spcAft>
                <a:spcPts val="400"/>
              </a:spcAft>
            </a:pPr>
            <a:r>
              <a:rPr sz="1050" b="1" i="0">
                <a:solidFill>
                  <a:srgbClr val="161D26"/>
                </a:solidFill>
                <a:latin typeface="Amazon Ember"/>
              </a:rPr>
              <a:t>Three views, one at a time</a:t>
            </a:r>
          </a:p>
          <a:p>
            <a:pPr>
              <a:spcAft>
                <a:spcPts val="400"/>
              </a:spcAft>
            </a:pPr>
            <a:r>
              <a:rPr sz="1050" b="0" i="0">
                <a:solidFill>
                  <a:srgbClr val="161D26"/>
                </a:solidFill>
                <a:latin typeface="Amazon Ember"/>
              </a:rPr>
              <a:t>Fire evac map · Base map · Shelter reach — the legend follows the view, nothing is overlaid</a:t>
            </a:r>
          </a:p>
          <a:p>
            <a:pPr>
              <a:spcAft>
                <a:spcPts val="400"/>
              </a:spcAft>
            </a:pPr>
            <a:r>
              <a:rPr sz="1050" b="1" i="0">
                <a:solidFill>
                  <a:srgbClr val="161D26"/>
                </a:solidFill>
                <a:latin typeface="Amazon Ember"/>
              </a:rPr>
              <a:t>Live routing in every view</a:t>
            </a:r>
          </a:p>
          <a:p>
            <a:pPr>
              <a:spcAft>
                <a:spcPts val="400"/>
              </a:spcAft>
            </a:pPr>
            <a:r>
              <a:rPr sz="1050" b="0" i="0">
                <a:solidFill>
                  <a:srgbClr val="161D26"/>
                </a:solidFill>
                <a:latin typeface="Amazon Ember"/>
              </a:rPr>
              <a:t>click anywhere → nearest shelter by road, route line, ranked list (OSRM)</a:t>
            </a:r>
          </a:p>
          <a:p>
            <a:pPr>
              <a:spcAft>
                <a:spcPts val="400"/>
              </a:spcAft>
            </a:pPr>
            <a:r>
              <a:rPr sz="1050" b="1" i="0">
                <a:solidFill>
                  <a:srgbClr val="161D26"/>
                </a:solidFill>
                <a:latin typeface="Amazon Ember"/>
              </a:rPr>
              <a:t>"I-80 is closed"</a:t>
            </a:r>
          </a:p>
          <a:p>
            <a:pPr>
              <a:spcAft>
                <a:spcPts val="400"/>
              </a:spcAft>
            </a:pPr>
            <a:r>
              <a:rPr sz="1050" b="0" i="0">
                <a:solidFill>
                  <a:srgbClr val="161D26"/>
                </a:solidFill>
                <a:latin typeface="Amazon Ember"/>
              </a:rPr>
              <a:t>one parameter, new answer — and why that is not the same as detection</a:t>
            </a:r>
          </a:p>
          <a:p>
            <a:pPr>
              <a:spcAft>
                <a:spcPts val="400"/>
              </a:spcAft>
            </a:pPr>
            <a:r>
              <a:rPr sz="1050" b="1" i="0">
                <a:solidFill>
                  <a:srgbClr val="161D26"/>
                </a:solidFill>
                <a:latin typeface="Amazon Ember"/>
              </a:rPr>
              <a:t>Shelter reach</a:t>
            </a:r>
          </a:p>
          <a:p>
            <a:pPr>
              <a:spcAft>
                <a:spcPts val="400"/>
              </a:spcAft>
            </a:pPr>
            <a:r>
              <a:rPr sz="1050" b="0" i="0">
                <a:solidFill>
                  <a:srgbClr val="161D26"/>
                </a:solidFill>
                <a:latin typeface="Amazon Ember"/>
              </a:rPr>
              <a:t>≤ 10 min green · ≤ 20 blue · ≤ 30 light red, from one OSRM /table call</a:t>
            </a:r>
          </a:p>
          <a:p>
            <a:pPr>
              <a:spcAft>
                <a:spcPts val="400"/>
              </a:spcAft>
            </a:pPr>
            <a:r>
              <a:rPr sz="1050" b="1" i="0">
                <a:solidFill>
                  <a:srgbClr val="161D26"/>
                </a:solidFill>
                <a:latin typeface="Amazon Ember"/>
              </a:rPr>
              <a:t>Static files only</a:t>
            </a:r>
          </a:p>
          <a:p>
            <a:pPr>
              <a:spcAft>
                <a:spcPts val="400"/>
              </a:spcAft>
            </a:pPr>
            <a:r>
              <a:rPr sz="1050" b="0" i="0">
                <a:solidFill>
                  <a:srgbClr val="161D26"/>
                </a:solidFill>
                <a:latin typeface="Amazon Ember"/>
              </a:rPr>
              <a:t>no database, no tile server; works offline in this room</a:t>
            </a:r>
          </a:p>
        </p:txBody>
      </p:sp>
      <p:sp>
        <p:nvSpPr>
          <p:cNvPr id="13" name="TextBox 12"/>
          <p:cNvSpPr txBox="1"/>
          <p:nvPr/>
        </p:nvSpPr>
        <p:spPr>
          <a:xfrm>
            <a:off x="384048" y="4526280"/>
            <a:ext cx="576072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Public demo: vishal4c.github.io/routes-to-safety-workshop/demo/  —  Placer County I-80 corridor: Rocklin → Auburn → Colfax → Dutch Flat / Foresthill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app in motion</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demo-walkthrough.gif"/>
          <p:cNvPicPr>
            <a:picLocks noChangeAspect="1"/>
          </p:cNvPicPr>
          <p:nvPr/>
        </p:nvPicPr>
        <p:blipFill>
          <a:blip r:embed="rId2"/>
          <a:stretch>
            <a:fillRect/>
          </a:stretch>
        </p:blipFill>
        <p:spPr>
          <a:xfrm>
            <a:off x="384048" y="896112"/>
            <a:ext cx="5989320" cy="3743325"/>
          </a:xfrm>
          <a:prstGeom prst="rect">
            <a:avLst/>
          </a:prstGeom>
          <a:ln w="9525">
            <a:solidFill>
              <a:srgbClr val="D5DBDA"/>
            </a:solidFill>
          </a:ln>
        </p:spPr>
      </p:pic>
      <p:sp>
        <p:nvSpPr>
          <p:cNvPr id="12" name="TextBox 11"/>
          <p:cNvSpPr txBox="1"/>
          <p:nvPr/>
        </p:nvSpPr>
        <p:spPr>
          <a:xfrm>
            <a:off x="6537960" y="914400"/>
            <a:ext cx="2240280" cy="3566160"/>
          </a:xfrm>
          <a:prstGeom prst="rect">
            <a:avLst/>
          </a:prstGeom>
          <a:noFill/>
        </p:spPr>
        <p:txBody>
          <a:bodyPr wrap="square" anchor="t" lIns="73152" rIns="73152" tIns="54864" bIns="54864">
            <a:spAutoFit/>
          </a:bodyPr>
          <a:lstStyle/>
          <a:p>
            <a:pPr>
              <a:spcAft>
                <a:spcPts val="400"/>
              </a:spcAft>
            </a:pPr>
            <a:r>
              <a:rPr sz="1050" b="1" i="0">
                <a:solidFill>
                  <a:srgbClr val="FF6101"/>
                </a:solidFill>
                <a:latin typeface="Amazon Ember"/>
              </a:rPr>
              <a:t>1</a:t>
            </a:r>
            <a:r>
              <a:rPr sz="1050" b="0" i="0">
                <a:solidFill>
                  <a:srgbClr val="161D26"/>
                </a:solidFill>
                <a:latin typeface="Amazon Ember"/>
              </a:rPr>
              <a:t>  Drop a pin at Dutch Flat → Sierra Vista CC, 18 min</a:t>
            </a:r>
          </a:p>
          <a:p>
            <a:pPr>
              <a:spcAft>
                <a:spcPts val="400"/>
              </a:spcAft>
            </a:pPr>
            <a:r>
              <a:rPr sz="1050" b="1" i="0">
                <a:solidFill>
                  <a:srgbClr val="FF6101"/>
                </a:solidFill>
                <a:latin typeface="Amazon Ember"/>
              </a:rPr>
              <a:t>2</a:t>
            </a:r>
            <a:r>
              <a:rPr sz="1050" b="0" i="0">
                <a:solidFill>
                  <a:srgbClr val="161D26"/>
                </a:solidFill>
                <a:latin typeface="Amazon Ember"/>
              </a:rPr>
              <a:t>  Tick "I-80 closed" → same shelter, 31 min via Dutch Flat Rd</a:t>
            </a:r>
          </a:p>
          <a:p>
            <a:pPr>
              <a:spcAft>
                <a:spcPts val="400"/>
              </a:spcAft>
            </a:pPr>
            <a:r>
              <a:rPr sz="1050" b="1" i="0">
                <a:solidFill>
                  <a:srgbClr val="FF6101"/>
                </a:solidFill>
                <a:latin typeface="Amazon Ember"/>
              </a:rPr>
              <a:t>3</a:t>
            </a:r>
            <a:r>
              <a:rPr sz="1050" b="0" i="0">
                <a:solidFill>
                  <a:srgbClr val="161D26"/>
                </a:solidFill>
                <a:latin typeface="Amazon Ember"/>
              </a:rPr>
              <a:t>  Foresthill: nearest on the map (Georgetown, 12 km) ≠ nearest by road (Placer High, 36 min)</a:t>
            </a:r>
          </a:p>
          <a:p>
            <a:pPr>
              <a:spcAft>
                <a:spcPts val="400"/>
              </a:spcAft>
            </a:pPr>
            <a:r>
              <a:rPr sz="1050" b="1" i="0">
                <a:solidFill>
                  <a:srgbClr val="FF6101"/>
                </a:solidFill>
                <a:latin typeface="Amazon Ember"/>
              </a:rPr>
              <a:t>4</a:t>
            </a:r>
            <a:r>
              <a:rPr sz="1050" b="0" i="0">
                <a:solidFill>
                  <a:srgbClr val="161D26"/>
                </a:solidFill>
                <a:latin typeface="Amazon Ember"/>
              </a:rPr>
              <a:t>  Shelter reach view → 10 / 20 / 30-min bands; click Placer High → only its reach</a:t>
            </a:r>
          </a:p>
          <a:p>
            <a:pPr>
              <a:spcAft>
                <a:spcPts val="400"/>
              </a:spcAft>
            </a:pPr>
            <a:r>
              <a:rPr sz="1050" b="1" i="0">
                <a:solidFill>
                  <a:srgbClr val="FF6101"/>
                </a:solidFill>
                <a:latin typeface="Amazon Ember"/>
              </a:rPr>
              <a:t>5</a:t>
            </a:r>
            <a:r>
              <a:rPr sz="1050" b="0" i="0">
                <a:solidFill>
                  <a:srgbClr val="161D26"/>
                </a:solidFill>
                <a:latin typeface="Amazon Ember"/>
              </a:rPr>
              <a:t>  Base map view → a plain street map; the pin and the route stay — routing works in every view</a:t>
            </a:r>
          </a:p>
        </p:txBody>
      </p:sp>
      <p:sp>
        <p:nvSpPr>
          <p:cNvPr id="13" name="TextBox 12"/>
          <p:cNvSpPr txBox="1"/>
          <p:nvPr/>
        </p:nvSpPr>
        <p:spPr>
          <a:xfrm>
            <a:off x="384048" y="4572000"/>
            <a:ext cx="594360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Animated in slideshow mode. Recorded against the local OSRM container; the public demo uses router.project-osrm.org (no closure toggle there).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pipeline: one extract → a basemap and live routes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pipeline.png"/>
          <p:cNvPicPr>
            <a:picLocks noChangeAspect="1"/>
          </p:cNvPicPr>
          <p:nvPr/>
        </p:nvPicPr>
        <p:blipFill>
          <a:blip r:embed="rId2"/>
          <a:stretch>
            <a:fillRect/>
          </a:stretch>
        </p:blipFill>
        <p:spPr>
          <a:xfrm>
            <a:off x="384048" y="1048405"/>
            <a:ext cx="8385048" cy="2932389"/>
          </a:xfrm>
          <a:prstGeom prst="rect">
            <a:avLst/>
          </a:prstGeom>
        </p:spPr>
      </p:pic>
      <p:sp>
        <p:nvSpPr>
          <p:cNvPr id="12" name="TextBox 11"/>
          <p:cNvSpPr txBox="1"/>
          <p:nvPr/>
        </p:nvSpPr>
        <p:spPr>
          <a:xfrm>
            <a:off x="384048" y="4206240"/>
            <a:ext cx="8385048" cy="411480"/>
          </a:xfrm>
          <a:prstGeom prst="rect">
            <a:avLst/>
          </a:prstGeom>
          <a:noFill/>
        </p:spPr>
        <p:txBody>
          <a:bodyPr wrap="square" anchor="t" lIns="73152" rIns="73152" tIns="54864" bIns="54864">
            <a:spAutoFit/>
          </a:bodyPr>
          <a:lstStyle/>
          <a:p>
            <a:pPr>
              <a:spcAft>
                <a:spcPts val="400"/>
              </a:spcAft>
            </a:pPr>
            <a:r>
              <a:rPr sz="1050" b="1" i="0">
                <a:solidFill>
                  <a:srgbClr val="FF6101"/>
                </a:solidFill>
                <a:latin typeface="Amazon Ember"/>
              </a:rPr>
              <a:t>Phase 4: </a:t>
            </a:r>
            <a:r>
              <a:rPr sz="1050" b="0" i="0">
                <a:solidFill>
                  <a:srgbClr val="161D26"/>
                </a:solidFill>
                <a:latin typeface="Amazon Ember"/>
              </a:rPr>
              <a:t>change one bbox line in </a:t>
            </a:r>
            <a:r>
              <a:rPr sz="1050" b="0" i="0">
                <a:solidFill>
                  <a:srgbClr val="FF6101"/>
                </a:solidFill>
                <a:latin typeface="Menlo"/>
              </a:rPr>
              <a:t>versions.env</a:t>
            </a:r>
            <a:r>
              <a:rPr sz="1050" b="0" i="0">
                <a:solidFill>
                  <a:srgbClr val="161D26"/>
                </a:solidFill>
                <a:latin typeface="Amazon Ember"/>
              </a:rPr>
              <a:t> → </a:t>
            </a:r>
            <a:r>
              <a:rPr sz="1050" b="1" i="0">
                <a:solidFill>
                  <a:srgbClr val="161D26"/>
                </a:solidFill>
                <a:latin typeface="Amazon Ember"/>
              </a:rPr>
              <a:t>the nine Phase 4 steps</a:t>
            </a:r>
            <a:r>
              <a:rPr sz="1050" b="0" i="0">
                <a:solidFill>
                  <a:srgbClr val="161D26"/>
                </a:solidFill>
                <a:latin typeface="Amazon Ember"/>
              </a:rPr>
              <a:t> — fetch-overture.sh · fetch-osm.sh → build-osrm.sh · build.sh · make-coverage.py — rebuild everything for our own town.  Everything is pinned (DuckDB 2.0.0 · Planetiler 0.10.2 · pmtiles 1.31.2 · MapLibre 6.14 · OSRM v26.10.0) and verified by </a:t>
            </a:r>
            <a:r>
              <a:rPr sz="1050" b="0" i="0">
                <a:solidFill>
                  <a:srgbClr val="FF6101"/>
                </a:solidFill>
                <a:latin typeface="Menlo"/>
              </a:rPr>
              <a:t>CHECKSUMS.sha256</a:t>
            </a:r>
            <a:r>
              <a:rPr sz="1050" b="0" i="0">
                <a:solidFill>
                  <a:srgbClr val="161D26"/>
                </a:solidFill>
                <a:latin typeface="Amazon Ember"/>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 five phases, one map</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graphicFrame>
        <p:nvGraphicFramePr>
          <p:cNvPr id="11" name="Table 10"/>
          <p:cNvGraphicFramePr>
            <a:graphicFrameLocks noGrp="1"/>
          </p:cNvGraphicFramePr>
          <p:nvPr/>
        </p:nvGraphicFramePr>
        <p:xfrm>
          <a:off x="384048" y="960120"/>
          <a:ext cx="8385048" cy="2633472"/>
        </p:xfrm>
        <a:graphic>
          <a:graphicData uri="http://schemas.openxmlformats.org/drawingml/2006/table">
            <a:tbl>
              <a:tblPr firstRow="1" bandRow="1">
                <a:tableStyleId>{5C22544A-7EE6-4342-B048-85BDC9FD1C3A}</a:tableStyleId>
              </a:tblPr>
              <a:tblGrid>
                <a:gridCol w="2377440"/>
                <a:gridCol w="3840480"/>
                <a:gridCol w="2167128"/>
              </a:tblGrid>
              <a:tr h="329184">
                <a:tc>
                  <a:txBody>
                    <a:bodyPr/>
                    <a:lstStyle/>
                    <a:p>
                      <a:r>
                        <a:rPr sz="1050" b="1" i="0">
                          <a:solidFill>
                            <a:srgbClr val="FFFFFF"/>
                          </a:solidFill>
                          <a:latin typeface="Amazon Ember"/>
                        </a:rPr>
                        <a:t>Phase</a:t>
                      </a:r>
                    </a:p>
                  </a:txBody>
                  <a:tcPr marL="54864" marR="54864" marT="22860" marB="22860">
                    <a:solidFill>
                      <a:srgbClr val="161D26"/>
                    </a:solidFill>
                  </a:tcPr>
                </a:tc>
                <a:tc>
                  <a:txBody>
                    <a:bodyPr/>
                    <a:lstStyle/>
                    <a:p>
                      <a:r>
                        <a:rPr sz="1050" b="1" i="0">
                          <a:solidFill>
                            <a:srgbClr val="FFFFFF"/>
                          </a:solidFill>
                          <a:latin typeface="Amazon Ember"/>
                        </a:rPr>
                        <a:t>We do</a:t>
                      </a:r>
                    </a:p>
                  </a:txBody>
                  <a:tcPr marL="54864" marR="54864" marT="22860" marB="22860">
                    <a:solidFill>
                      <a:srgbClr val="161D26"/>
                    </a:solidFill>
                  </a:tcPr>
                </a:tc>
                <a:tc>
                  <a:txBody>
                    <a:bodyPr/>
                    <a:lstStyle/>
                    <a:p>
                      <a:r>
                        <a:rPr sz="1050" b="1" i="0">
                          <a:solidFill>
                            <a:srgbClr val="FFFFFF"/>
                          </a:solidFill>
                          <a:latin typeface="Amazon Ember"/>
                        </a:rPr>
                        <a:t>Tools</a:t>
                      </a:r>
                    </a:p>
                  </a:txBody>
                  <a:tcPr marL="54864" marR="54864" marT="22860" marB="22860">
                    <a:solidFill>
                      <a:srgbClr val="161D26"/>
                    </a:solidFill>
                  </a:tcPr>
                </a:tc>
              </a:tr>
              <a:tr h="329184">
                <a:tc>
                  <a:txBody>
                    <a:bodyPr/>
                    <a:lstStyle/>
                    <a:p>
                      <a:r>
                        <a:rPr sz="1050" b="0" i="0">
                          <a:solidFill>
                            <a:srgbClr val="161D26"/>
                          </a:solidFill>
                          <a:latin typeface="Amazon Ember"/>
                        </a:rPr>
                        <a:t>0 · Setup</a:t>
                      </a:r>
                    </a:p>
                  </a:txBody>
                  <a:tcPr marL="54864" marR="54864" marT="22860" marB="22860">
                    <a:solidFill>
                      <a:srgbClr val="F9F9F9"/>
                    </a:solidFill>
                  </a:tcPr>
                </a:tc>
                <a:tc>
                  <a:txBody>
                    <a:bodyPr/>
                    <a:lstStyle/>
                    <a:p>
                      <a:r>
                        <a:rPr sz="1050" b="0" i="0">
                          <a:solidFill>
                            <a:srgbClr val="161D26"/>
                          </a:solidFill>
                          <a:latin typeface="Amazon Ember"/>
                        </a:rPr>
                        <a:t>pick Codespaces / Docker / native · checkpoint line — the same green line on every screen</a:t>
                      </a:r>
                    </a:p>
                  </a:txBody>
                  <a:tcPr marL="54864" marR="54864" marT="22860" marB="22860">
                    <a:solidFill>
                      <a:srgbClr val="F9F9F9"/>
                    </a:solidFill>
                  </a:tcPr>
                </a:tc>
                <a:tc>
                  <a:txBody>
                    <a:bodyPr/>
                    <a:lstStyle/>
                    <a:p>
                      <a:r>
                        <a:rPr sz="1050" b="0" i="0">
                          <a:solidFill>
                            <a:srgbClr val="161D26"/>
                          </a:solidFill>
                          <a:latin typeface="Amazon Ember"/>
                        </a:rPr>
                        <a:t>DuckDB</a:t>
                      </a:r>
                    </a:p>
                  </a:txBody>
                  <a:tcPr marL="54864" marR="54864" marT="22860" marB="22860">
                    <a:solidFill>
                      <a:srgbClr val="F9F9F9"/>
                    </a:solidFill>
                  </a:tcPr>
                </a:tc>
              </a:tr>
              <a:tr h="329184">
                <a:tc>
                  <a:txBody>
                    <a:bodyPr/>
                    <a:lstStyle/>
                    <a:p>
                      <a:r>
                        <a:rPr sz="1050" b="0" i="0">
                          <a:solidFill>
                            <a:srgbClr val="161D26"/>
                          </a:solidFill>
                          <a:latin typeface="Amazon Ember"/>
                        </a:rPr>
                        <a:t>1 · Data prep</a:t>
                      </a:r>
                    </a:p>
                  </a:txBody>
                  <a:tcPr marL="54864" marR="54864" marT="22860" marB="22860">
                    <a:solidFill>
                      <a:srgbClr val="FFFFFF"/>
                    </a:solidFill>
                  </a:tcPr>
                </a:tc>
                <a:tc>
                  <a:txBody>
                    <a:bodyPr/>
                    <a:lstStyle/>
                    <a:p>
                      <a:r>
                        <a:rPr sz="1050" b="0" i="0">
                          <a:solidFill>
                            <a:srgbClr val="161D26"/>
                          </a:solidFill>
                          <a:latin typeface="Amazon Ember"/>
                        </a:rPr>
                        <a:t>1a explore · 1b shelters × hazard · 1c export</a:t>
                      </a:r>
                    </a:p>
                  </a:txBody>
                  <a:tcPr marL="54864" marR="54864" marT="22860" marB="22860">
                    <a:solidFill>
                      <a:srgbClr val="FFFFFF"/>
                    </a:solidFill>
                  </a:tcPr>
                </a:tc>
                <a:tc>
                  <a:txBody>
                    <a:bodyPr/>
                    <a:lstStyle/>
                    <a:p>
                      <a:r>
                        <a:rPr sz="1050" b="0" i="0">
                          <a:solidFill>
                            <a:srgbClr val="161D26"/>
                          </a:solidFill>
                          <a:latin typeface="Amazon Ember"/>
                        </a:rPr>
                        <a:t>DuckDB · Overture</a:t>
                      </a:r>
                    </a:p>
                  </a:txBody>
                  <a:tcPr marL="54864" marR="54864" marT="22860" marB="22860">
                    <a:solidFill>
                      <a:srgbClr val="FFFFFF"/>
                    </a:solidFill>
                  </a:tcPr>
                </a:tc>
              </a:tr>
              <a:tr h="329184">
                <a:tc>
                  <a:txBody>
                    <a:bodyPr/>
                    <a:lstStyle/>
                    <a:p>
                      <a:r>
                        <a:rPr sz="1050" b="0" i="0">
                          <a:solidFill>
                            <a:srgbClr val="161D26"/>
                          </a:solidFill>
                          <a:latin typeface="Amazon Ember"/>
                        </a:rPr>
                        <a:t>Break</a:t>
                      </a:r>
                    </a:p>
                  </a:txBody>
                  <a:tcPr marL="54864" marR="54864" marT="22860" marB="22860">
                    <a:solidFill>
                      <a:srgbClr val="F9F9F9"/>
                    </a:solidFill>
                  </a:tcPr>
                </a:tc>
                <a:tc>
                  <a:txBody>
                    <a:bodyPr/>
                    <a:lstStyle/>
                    <a:p>
                      <a:r>
                        <a:rPr sz="1050" b="0" i="0">
                          <a:solidFill>
                            <a:srgbClr val="161D26"/>
                          </a:solidFill>
                          <a:latin typeface="Amazon Ember"/>
                        </a:rPr>
                        <a:t/>
                      </a:r>
                    </a:p>
                  </a:txBody>
                  <a:tcPr marL="54864" marR="54864" marT="22860" marB="22860">
                    <a:solidFill>
                      <a:srgbClr val="F9F9F9"/>
                    </a:solidFill>
                  </a:tcPr>
                </a:tc>
                <a:tc>
                  <a:txBody>
                    <a:bodyPr/>
                    <a:lstStyle/>
                    <a:p>
                      <a:r>
                        <a:rPr sz="1050" b="0" i="0">
                          <a:solidFill>
                            <a:srgbClr val="161D26"/>
                          </a:solidFill>
                          <a:latin typeface="Amazon Ember"/>
                        </a:rPr>
                        <a:t/>
                      </a:r>
                    </a:p>
                  </a:txBody>
                  <a:tcPr marL="54864" marR="54864" marT="22860" marB="22860">
                    <a:solidFill>
                      <a:srgbClr val="F9F9F9"/>
                    </a:solidFill>
                  </a:tcPr>
                </a:tc>
              </a:tr>
              <a:tr h="329184">
                <a:tc>
                  <a:txBody>
                    <a:bodyPr/>
                    <a:lstStyle/>
                    <a:p>
                      <a:r>
                        <a:rPr sz="1050" b="0" i="0">
                          <a:solidFill>
                            <a:srgbClr val="161D26"/>
                          </a:solidFill>
                          <a:latin typeface="Amazon Ember"/>
                        </a:rPr>
                        <a:t>2 · Map artifacts</a:t>
                      </a:r>
                    </a:p>
                  </a:txBody>
                  <a:tcPr marL="54864" marR="54864" marT="22860" marB="22860">
                    <a:solidFill>
                      <a:srgbClr val="FFFFFF"/>
                    </a:solidFill>
                  </a:tcPr>
                </a:tc>
                <a:tc>
                  <a:txBody>
                    <a:bodyPr/>
                    <a:lstStyle/>
                    <a:p>
                      <a:r>
                        <a:rPr sz="1050" b="0" i="0">
                          <a:solidFill>
                            <a:srgbClr val="161D26"/>
                          </a:solidFill>
                          <a:latin typeface="Amazon Ember"/>
                        </a:rPr>
                        <a:t>2a tiles · 2b routing graph · 2c reach bands — the three artifacts the app needs (2b, 2c prebuilt)</a:t>
                      </a:r>
                    </a:p>
                  </a:txBody>
                  <a:tcPr marL="54864" marR="54864" marT="22860" marB="22860">
                    <a:solidFill>
                      <a:srgbClr val="FFFFFF"/>
                    </a:solidFill>
                  </a:tcPr>
                </a:tc>
                <a:tc>
                  <a:txBody>
                    <a:bodyPr/>
                    <a:lstStyle/>
                    <a:p>
                      <a:r>
                        <a:rPr sz="1050" b="0" i="0">
                          <a:solidFill>
                            <a:srgbClr val="161D26"/>
                          </a:solidFill>
                          <a:latin typeface="Amazon Ember"/>
                        </a:rPr>
                        <a:t>Planetiler · PMTiles · OSRM</a:t>
                      </a:r>
                    </a:p>
                  </a:txBody>
                  <a:tcPr marL="54864" marR="54864" marT="22860" marB="22860">
                    <a:solidFill>
                      <a:srgbClr val="FFFFFF"/>
                    </a:solidFill>
                  </a:tcPr>
                </a:tc>
              </a:tr>
              <a:tr h="329184">
                <a:tc>
                  <a:txBody>
                    <a:bodyPr/>
                    <a:lstStyle/>
                    <a:p>
                      <a:r>
                        <a:rPr sz="1050" b="0" i="0">
                          <a:solidFill>
                            <a:srgbClr val="161D26"/>
                          </a:solidFill>
                          <a:latin typeface="Amazon Ember"/>
                        </a:rPr>
                        <a:t>3 · Application</a:t>
                      </a:r>
                    </a:p>
                  </a:txBody>
                  <a:tcPr marL="54864" marR="54864" marT="22860" marB="22860">
                    <a:solidFill>
                      <a:srgbClr val="F9F9F9"/>
                    </a:solidFill>
                  </a:tcPr>
                </a:tc>
                <a:tc>
                  <a:txBody>
                    <a:bodyPr/>
                    <a:lstStyle/>
                    <a:p>
                      <a:r>
                        <a:rPr sz="1050" b="0" i="0">
                          <a:solidFill>
                            <a:srgbClr val="161D26"/>
                          </a:solidFill>
                          <a:latin typeface="Amazon Ember"/>
                        </a:rPr>
                        <a:t>3a style · 3b three views · 3c routing (+ the I-80 closure) · 3d finished app</a:t>
                      </a:r>
                    </a:p>
                  </a:txBody>
                  <a:tcPr marL="54864" marR="54864" marT="22860" marB="22860">
                    <a:solidFill>
                      <a:srgbClr val="F9F9F9"/>
                    </a:solidFill>
                  </a:tcPr>
                </a:tc>
                <a:tc>
                  <a:txBody>
                    <a:bodyPr/>
                    <a:lstStyle/>
                    <a:p>
                      <a:r>
                        <a:rPr sz="1050" b="0" i="0">
                          <a:solidFill>
                            <a:srgbClr val="161D26"/>
                          </a:solidFill>
                          <a:latin typeface="Amazon Ember"/>
                        </a:rPr>
                        <a:t>MapLibre · OSRM</a:t>
                      </a:r>
                    </a:p>
                  </a:txBody>
                  <a:tcPr marL="54864" marR="54864" marT="22860" marB="22860">
                    <a:solidFill>
                      <a:srgbClr val="F9F9F9"/>
                    </a:solidFill>
                  </a:tcPr>
                </a:tc>
              </a:tr>
              <a:tr h="329184">
                <a:tc>
                  <a:txBody>
                    <a:bodyPr/>
                    <a:lstStyle/>
                    <a:p>
                      <a:r>
                        <a:rPr sz="1050" b="0" i="0">
                          <a:solidFill>
                            <a:srgbClr val="161D26"/>
                          </a:solidFill>
                          <a:latin typeface="Amazon Ember"/>
                        </a:rPr>
                        <a:t>4 · Adapt</a:t>
                      </a:r>
                    </a:p>
                  </a:txBody>
                  <a:tcPr marL="54864" marR="54864" marT="22860" marB="22860">
                    <a:solidFill>
                      <a:srgbClr val="FFFFFF"/>
                    </a:solidFill>
                  </a:tcPr>
                </a:tc>
                <a:tc>
                  <a:txBody>
                    <a:bodyPr/>
                    <a:lstStyle/>
                    <a:p>
                      <a:r>
                        <a:rPr sz="1050" b="0" i="0">
                          <a:solidFill>
                            <a:srgbClr val="161D26"/>
                          </a:solidFill>
                          <a:latin typeface="Amazon Ember"/>
                        </a:rPr>
                        <a:t>one box in versions.env → the same nine steps for our own town; swap the hazard</a:t>
                      </a:r>
                    </a:p>
                  </a:txBody>
                  <a:tcPr marL="54864" marR="54864" marT="22860" marB="22860">
                    <a:solidFill>
                      <a:srgbClr val="FFFFFF"/>
                    </a:solidFill>
                  </a:tcPr>
                </a:tc>
                <a:tc>
                  <a:txBody>
                    <a:bodyPr/>
                    <a:lstStyle/>
                    <a:p>
                      <a:r>
                        <a:rPr sz="1050" b="0" i="0">
                          <a:solidFill>
                            <a:srgbClr val="161D26"/>
                          </a:solidFill>
                          <a:latin typeface="Amazon Ember"/>
                        </a:rPr>
                        <a:t>versions.env · scripts/</a:t>
                      </a:r>
                    </a:p>
                  </a:txBody>
                  <a:tcPr marL="54864" marR="54864" marT="22860" marB="22860">
                    <a:solidFill>
                      <a:srgbClr val="FFFFFF"/>
                    </a:solidFill>
                  </a:tcPr>
                </a:tc>
              </a:tr>
              <a:tr h="329184">
                <a:tc>
                  <a:txBody>
                    <a:bodyPr/>
                    <a:lstStyle/>
                    <a:p>
                      <a:r>
                        <a:rPr sz="1050" b="0" i="0">
                          <a:solidFill>
                            <a:srgbClr val="161D26"/>
                          </a:solidFill>
                          <a:latin typeface="Amazon Ember"/>
                        </a:rPr>
                        <a:t>Done</a:t>
                      </a:r>
                    </a:p>
                  </a:txBody>
                  <a:tcPr marL="54864" marR="54864" marT="22860" marB="22860">
                    <a:solidFill>
                      <a:srgbClr val="F9F9F9"/>
                    </a:solidFill>
                  </a:tcPr>
                </a:tc>
                <a:tc>
                  <a:txBody>
                    <a:bodyPr/>
                    <a:lstStyle/>
                    <a:p>
                      <a:r>
                        <a:rPr sz="1050" b="0" i="0">
                          <a:solidFill>
                            <a:srgbClr val="161D26"/>
                          </a:solidFill>
                          <a:latin typeface="Amazon Ember"/>
                        </a:rPr>
                        <a:t>Questions in the hallway</a:t>
                      </a:r>
                    </a:p>
                  </a:txBody>
                  <a:tcPr marL="54864" marR="54864" marT="22860" marB="22860">
                    <a:solidFill>
                      <a:srgbClr val="F9F9F9"/>
                    </a:solidFill>
                  </a:tcPr>
                </a:tc>
                <a:tc>
                  <a:txBody>
                    <a:bodyPr/>
                    <a:lstStyle/>
                    <a:p>
                      <a:r>
                        <a:rPr sz="1050" b="0" i="0">
                          <a:solidFill>
                            <a:srgbClr val="161D26"/>
                          </a:solidFill>
                          <a:latin typeface="Amazon Ember"/>
                        </a:rPr>
                        <a:t/>
                      </a:r>
                    </a:p>
                  </a:txBody>
                  <a:tcPr marL="54864" marR="54864" marT="22860" marB="22860">
                    <a:solidFill>
                      <a:srgbClr val="F9F9F9"/>
                    </a:solidFill>
                  </a:tcPr>
                </a:tc>
              </a:tr>
            </a:tbl>
          </a:graphicData>
        </a:graphic>
      </p:graphicFrame>
      <p:sp>
        <p:nvSpPr>
          <p:cNvPr id="12" name="TextBox 11"/>
          <p:cNvSpPr txBox="1"/>
          <p:nvPr/>
        </p:nvSpPr>
        <p:spPr>
          <a:xfrm>
            <a:off x="384048" y="3794760"/>
            <a:ext cx="8385048" cy="73152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Sticky note on the laptop lid: </a:t>
            </a:r>
            <a:r>
              <a:rPr sz="1050" b="1" i="0">
                <a:solidFill>
                  <a:srgbClr val="2E7D32"/>
                </a:solidFill>
                <a:latin typeface="Amazon Ember"/>
              </a:rPr>
              <a:t>green</a:t>
            </a:r>
            <a:r>
              <a:rPr sz="1050" b="0" i="0">
                <a:solidFill>
                  <a:srgbClr val="161D26"/>
                </a:solidFill>
                <a:latin typeface="Amazon Ember"/>
              </a:rPr>
              <a:t> = fine · </a:t>
            </a:r>
            <a:r>
              <a:rPr sz="1050" b="1" i="0">
                <a:solidFill>
                  <a:srgbClr val="C62828"/>
                </a:solidFill>
                <a:latin typeface="Amazon Ember"/>
              </a:rPr>
              <a:t>red</a:t>
            </a:r>
            <a:r>
              <a:rPr sz="1050" b="0" i="0">
                <a:solidFill>
                  <a:srgbClr val="161D26"/>
                </a:solidFill>
                <a:latin typeface="Amazon Ember"/>
              </a:rPr>
              <a:t> = stuck, come find me.  Finish early → every phase card has a finish-early exercise.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Study area: the Placer County I-80 corridor</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01-start.png"/>
          <p:cNvPicPr>
            <a:picLocks noChangeAspect="1"/>
          </p:cNvPicPr>
          <p:nvPr/>
        </p:nvPicPr>
        <p:blipFill>
          <a:blip r:embed="rId2"/>
          <a:stretch>
            <a:fillRect/>
          </a:stretch>
        </p:blipFill>
        <p:spPr>
          <a:xfrm>
            <a:off x="384048" y="914400"/>
            <a:ext cx="5120640" cy="3200400"/>
          </a:xfrm>
          <a:prstGeom prst="rect">
            <a:avLst/>
          </a:prstGeom>
          <a:ln w="9525">
            <a:solidFill>
              <a:srgbClr val="D5DBDA"/>
            </a:solidFill>
          </a:ln>
        </p:spPr>
      </p:pic>
      <p:sp>
        <p:nvSpPr>
          <p:cNvPr id="12" name="TextBox 11"/>
          <p:cNvSpPr txBox="1"/>
          <p:nvPr/>
        </p:nvSpPr>
        <p:spPr>
          <a:xfrm>
            <a:off x="5669280" y="914400"/>
            <a:ext cx="3108960" cy="361188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Rocklin → Auburn → Colfax → Dutch Flat / Foresthill</a:t>
            </a:r>
          </a:p>
          <a:p>
            <a:pPr>
              <a:spcAft>
                <a:spcPts val="400"/>
              </a:spcAft>
            </a:pPr>
            <a:r>
              <a:rPr sz="1050" b="0" i="0">
                <a:solidFill>
                  <a:srgbClr val="161D26"/>
                </a:solidFill>
                <a:latin typeface="Amazon Ember"/>
              </a:rPr>
              <a:t>bbox </a:t>
            </a:r>
            <a:r>
              <a:rPr sz="1050" b="0" i="0">
                <a:solidFill>
                  <a:srgbClr val="FF6101"/>
                </a:solidFill>
                <a:latin typeface="Menlo"/>
              </a:rPr>
              <a:t>-121.40, 38.72, -120.52, 39.20</a:t>
            </a:r>
            <a:r>
              <a:rPr sz="1050" b="0" i="0">
                <a:solidFill>
                  <a:srgbClr val="161D26"/>
                </a:solidFill>
                <a:latin typeface="Amazon Ember"/>
              </a:rPr>
              <a:t> (W, S, E, N) — about 0.4 square degrees, 36,294 drivable road segments, 10 shelters</a:t>
            </a:r>
          </a:p>
          <a:p>
            <a:pPr>
              <a:spcAft>
                <a:spcPts val="400"/>
              </a:spcAft>
            </a:pPr>
            <a:r>
              <a:rPr sz="1050" b="1" i="0">
                <a:solidFill>
                  <a:srgbClr val="161D26"/>
                </a:solidFill>
                <a:latin typeface="Amazon Ember"/>
              </a:rPr>
              <a:t>Why here</a:t>
            </a:r>
          </a:p>
          <a:p>
            <a:pPr>
              <a:spcAft>
                <a:spcPts val="400"/>
              </a:spcAft>
            </a:pPr>
            <a:r>
              <a:rPr sz="1050" b="0" i="0">
                <a:solidFill>
                  <a:srgbClr val="161D26"/>
                </a:solidFill>
                <a:latin typeface="Amazon Ember"/>
              </a:rPr>
              <a:t>River Fire, Aug 2021 — Colfax evacuated for ~2 days, 2,619 acres on the corridor</a:t>
            </a:r>
          </a:p>
          <a:p>
            <a:pPr>
              <a:spcAft>
                <a:spcPts val="400"/>
              </a:spcAft>
            </a:pPr>
            <a:r>
              <a:rPr sz="1050" b="0" i="0">
                <a:solidFill>
                  <a:srgbClr val="161D26"/>
                </a:solidFill>
                <a:latin typeface="Amazon Ember"/>
              </a:rPr>
              <a:t>Mosquito Fire, Sep 2022 — 76,771 acres; the shelter moved mid-incident to Sierra College, Rocklin. The safe place is not a fixed point.</a:t>
            </a:r>
          </a:p>
          <a:p>
            <a:pPr>
              <a:spcAft>
                <a:spcPts val="400"/>
              </a:spcAft>
            </a:pPr>
            <a:r>
              <a:rPr sz="1050" b="0" i="0">
                <a:solidFill>
                  <a:srgbClr val="161D26"/>
                </a:solidFill>
                <a:latin typeface="Amazon Ember"/>
              </a:rPr>
              <a:t>One interstate, steep canyons: nearest on the map is often not nearest by road</a:t>
            </a:r>
          </a:p>
          <a:p>
            <a:pPr>
              <a:spcAft>
                <a:spcPts val="400"/>
              </a:spcAft>
            </a:pPr>
            <a:r>
              <a:rPr sz="1050" b="1" i="0">
                <a:solidFill>
                  <a:srgbClr val="B30000"/>
                </a:solidFill>
                <a:latin typeface="Amazon Ember"/>
              </a:rPr>
              <a:t>What we leave out</a:t>
            </a:r>
          </a:p>
          <a:p>
            <a:pPr>
              <a:spcAft>
                <a:spcPts val="400"/>
              </a:spcAft>
            </a:pPr>
            <a:r>
              <a:rPr sz="1050" b="0" i="0">
                <a:solidFill>
                  <a:srgbClr val="161D26"/>
                </a:solidFill>
                <a:latin typeface="Amazon Ember"/>
              </a:rPr>
              <a:t>shelter status (open/closed/full) · drive time ≠ evacuation time · live closures · capacity</a:t>
            </a:r>
          </a:p>
        </p:txBody>
      </p:sp>
      <p:sp>
        <p:nvSpPr>
          <p:cNvPr id="13" name="TextBox 12"/>
          <p:cNvSpPr txBox="1"/>
          <p:nvPr/>
        </p:nvSpPr>
        <p:spPr>
          <a:xfrm>
            <a:off x="384048" y="4526280"/>
            <a:ext cx="512064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Shelters: 1 verified (Sierra College) + 9 candidates from Overture places; hazard: CAL FIRE FHSZ 2024 (SRA + LRA).  Teaching example, not an official evacuation resource. Drive-time estimates assume no traffic and no closures.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FF6101"/>
                </a:solidFill>
              </a:rPr>
              <a:t>PHASE 0</a:t>
            </a:r>
          </a:p>
          <a:p>
            <a:r>
              <a:rPr sz="3600"/>
              <a:t>Setup</a:t>
            </a:r>
          </a:p>
        </p:txBody>
      </p:sp>
      <p:sp>
        <p:nvSpPr>
          <p:cNvPr id="9" name="Footer Placeholder 5">
            <a:extLst>
              <a:ext uri="{FF2B5EF4-FFF2-40B4-BE49-F238E27FC236}">
                <a16:creationId xmlns:a16="http://schemas.microsoft.com/office/drawing/2014/main" id="{2D4714FF-B25D-F7C4-188C-F8378460F5CD}"/>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71F5A9F8-4432-0796-5F1F-2FC8919117FC}"/>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1069848" y="3703320"/>
            <a:ext cx="6858000" cy="640080"/>
          </a:xfrm>
          <a:prstGeom prst="rect">
            <a:avLst/>
          </a:prstGeom>
          <a:noFill/>
        </p:spPr>
        <p:txBody>
          <a:bodyPr wrap="square" anchor="t" lIns="73152" rIns="73152" tIns="54864" bIns="54864">
            <a:spAutoFit/>
          </a:bodyPr>
          <a:lstStyle/>
          <a:p>
            <a:pPr>
              <a:spcAft>
                <a:spcPts val="400"/>
              </a:spcAft>
            </a:pPr>
            <a:r>
              <a:rPr sz="1200" b="1" i="0">
                <a:solidFill>
                  <a:srgbClr val="161D26"/>
                </a:solidFill>
                <a:latin typeface="Amazon Ember"/>
              </a:rPr>
              <a:t>Welcome · pick a way to run · setup checkpoint</a:t>
            </a:r>
            <a:r>
              <a:rPr sz="1200" b="0" i="0">
                <a:solidFill>
                  <a:srgbClr val="6B7280"/>
                </a:solidFill>
                <a:latin typeface="Amazon Ember"/>
              </a:rPr>
              <a:t>   DuckDB 2.0.0 · Codespaces / Docker / native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0 in one picture — pick a way to run, run two lines, hands up</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block1-setup.png"/>
          <p:cNvPicPr>
            <a:picLocks noChangeAspect="1"/>
          </p:cNvPicPr>
          <p:nvPr/>
        </p:nvPicPr>
        <p:blipFill>
          <a:blip r:embed="rId2"/>
          <a:stretch>
            <a:fillRect/>
          </a:stretch>
        </p:blipFill>
        <p:spPr>
          <a:xfrm>
            <a:off x="384048" y="1196864"/>
            <a:ext cx="8385048" cy="2681191"/>
          </a:xfrm>
          <a:prstGeom prst="rect">
            <a:avLst/>
          </a:prstGeom>
        </p:spPr>
      </p:pic>
      <p:sp>
        <p:nvSpPr>
          <p:cNvPr id="12" name="TextBox 11"/>
          <p:cNvSpPr txBox="1"/>
          <p:nvPr/>
        </p:nvSpPr>
        <p:spPr>
          <a:xfrm>
            <a:off x="384048" y="4206240"/>
            <a:ext cx="8385048" cy="411480"/>
          </a:xfrm>
          <a:prstGeom prst="rect">
            <a:avLst/>
          </a:prstGeom>
          <a:noFill/>
        </p:spPr>
        <p:txBody>
          <a:bodyPr wrap="square" anchor="t" lIns="73152" rIns="73152" tIns="54864" bIns="54864">
            <a:spAutoFit/>
          </a:bodyPr>
          <a:lstStyle/>
          <a:p>
            <a:pPr>
              <a:spcAft>
                <a:spcPts val="400"/>
              </a:spcAft>
            </a:pPr>
            <a:r>
              <a:rPr sz="1050" b="1" i="0">
                <a:solidFill>
                  <a:srgbClr val="FF6101"/>
                </a:solidFill>
                <a:latin typeface="Amazon Ember"/>
              </a:rPr>
              <a:t>Checkpoint: </a:t>
            </a:r>
            <a:r>
              <a:rPr sz="950" b="0" i="0">
                <a:solidFill>
                  <a:srgbClr val="FF6101"/>
                </a:solidFill>
                <a:latin typeface="Menlo"/>
              </a:rPr>
              <a:t>OK — DuckDB 2.0.0 · 10 shelters · nearest to Colfax: Sierra Vista Community Center, 0.2 km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ways to run — pick one, keep a neighbour</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graphicFrame>
        <p:nvGraphicFramePr>
          <p:cNvPr id="11" name="Table 10"/>
          <p:cNvGraphicFramePr>
            <a:graphicFrameLocks noGrp="1"/>
          </p:cNvGraphicFramePr>
          <p:nvPr/>
        </p:nvGraphicFramePr>
        <p:xfrm>
          <a:off x="384048" y="960120"/>
          <a:ext cx="8385048" cy="1920240"/>
        </p:xfrm>
        <a:graphic>
          <a:graphicData uri="http://schemas.openxmlformats.org/drawingml/2006/table">
            <a:tbl>
              <a:tblPr firstRow="1" bandRow="1">
                <a:tableStyleId>{5C22544A-7EE6-4342-B048-85BDC9FD1C3A}</a:tableStyleId>
              </a:tblPr>
              <a:tblGrid>
                <a:gridCol w="1417320"/>
                <a:gridCol w="2194560"/>
                <a:gridCol w="731520"/>
                <a:gridCol w="4041648"/>
              </a:tblGrid>
              <a:tr h="384048">
                <a:tc>
                  <a:txBody>
                    <a:bodyPr/>
                    <a:lstStyle/>
                    <a:p>
                      <a:r>
                        <a:rPr sz="1000" b="1" i="0">
                          <a:solidFill>
                            <a:srgbClr val="FFFFFF"/>
                          </a:solidFill>
                          <a:latin typeface="Amazon Ember"/>
                        </a:rPr>
                        <a:t>Tier</a:t>
                      </a:r>
                    </a:p>
                  </a:txBody>
                  <a:tcPr marL="54864" marR="54864" marT="22860" marB="22860">
                    <a:solidFill>
                      <a:srgbClr val="161D26"/>
                    </a:solidFill>
                  </a:tcPr>
                </a:tc>
                <a:tc>
                  <a:txBody>
                    <a:bodyPr/>
                    <a:lstStyle/>
                    <a:p>
                      <a:r>
                        <a:rPr sz="1000" b="1" i="0">
                          <a:solidFill>
                            <a:srgbClr val="FFFFFF"/>
                          </a:solidFill>
                          <a:latin typeface="Amazon Ember"/>
                        </a:rPr>
                        <a:t>Who</a:t>
                      </a:r>
                    </a:p>
                  </a:txBody>
                  <a:tcPr marL="54864" marR="54864" marT="22860" marB="22860">
                    <a:solidFill>
                      <a:srgbClr val="161D26"/>
                    </a:solidFill>
                  </a:tcPr>
                </a:tc>
                <a:tc>
                  <a:txBody>
                    <a:bodyPr/>
                    <a:lstStyle/>
                    <a:p>
                      <a:r>
                        <a:rPr sz="1000" b="1" i="0">
                          <a:solidFill>
                            <a:srgbClr val="FFFFFF"/>
                          </a:solidFill>
                          <a:latin typeface="Amazon Ember"/>
                        </a:rPr>
                        <a:t>Routing</a:t>
                      </a:r>
                    </a:p>
                  </a:txBody>
                  <a:tcPr marL="54864" marR="54864" marT="22860" marB="22860">
                    <a:solidFill>
                      <a:srgbClr val="161D26"/>
                    </a:solidFill>
                  </a:tcPr>
                </a:tc>
                <a:tc>
                  <a:txBody>
                    <a:bodyPr/>
                    <a:lstStyle/>
                    <a:p>
                      <a:r>
                        <a:rPr sz="1000" b="1" i="0">
                          <a:solidFill>
                            <a:srgbClr val="FFFFFF"/>
                          </a:solidFill>
                          <a:latin typeface="Amazon Ember"/>
                        </a:rPr>
                        <a:t>Notes</a:t>
                      </a:r>
                    </a:p>
                  </a:txBody>
                  <a:tcPr marL="54864" marR="54864" marT="22860" marB="22860">
                    <a:solidFill>
                      <a:srgbClr val="161D26"/>
                    </a:solidFill>
                  </a:tcPr>
                </a:tc>
              </a:tr>
              <a:tr h="384048">
                <a:tc>
                  <a:txBody>
                    <a:bodyPr/>
                    <a:lstStyle/>
                    <a:p>
                      <a:r>
                        <a:rPr sz="1000" b="0" i="0">
                          <a:solidFill>
                            <a:srgbClr val="161D26"/>
                          </a:solidFill>
                          <a:latin typeface="Amazon Ember"/>
                        </a:rPr>
                        <a:t>1 · Codespaces</a:t>
                      </a:r>
                    </a:p>
                  </a:txBody>
                  <a:tcPr marL="54864" marR="54864" marT="22860" marB="22860">
                    <a:solidFill>
                      <a:srgbClr val="F9F9F9"/>
                    </a:solidFill>
                  </a:tcPr>
                </a:tc>
                <a:tc>
                  <a:txBody>
                    <a:bodyPr/>
                    <a:lstStyle/>
                    <a:p>
                      <a:r>
                        <a:rPr sz="1000" b="0" i="0">
                          <a:solidFill>
                            <a:srgbClr val="161D26"/>
                          </a:solidFill>
                          <a:latin typeface="Amazon Ember"/>
                        </a:rPr>
                        <a:t>no Docker on the laptop</a:t>
                      </a:r>
                    </a:p>
                  </a:txBody>
                  <a:tcPr marL="54864" marR="54864" marT="22860" marB="22860">
                    <a:solidFill>
                      <a:srgbClr val="F9F9F9"/>
                    </a:solidFill>
                  </a:tcPr>
                </a:tc>
                <a:tc>
                  <a:txBody>
                    <a:bodyPr/>
                    <a:lstStyle/>
                    <a:p>
                      <a:r>
                        <a:rPr sz="1000" b="0" i="0">
                          <a:solidFill>
                            <a:srgbClr val="161D26"/>
                          </a:solidFill>
                          <a:latin typeface="Amazon Ember"/>
                        </a:rPr>
                        <a:t>yes</a:t>
                      </a:r>
                    </a:p>
                  </a:txBody>
                  <a:tcPr marL="54864" marR="54864" marT="22860" marB="22860">
                    <a:solidFill>
                      <a:srgbClr val="F9F9F9"/>
                    </a:solidFill>
                  </a:tcPr>
                </a:tc>
                <a:tc>
                  <a:txBody>
                    <a:bodyPr/>
                    <a:lstStyle/>
                    <a:p>
                      <a:r>
                        <a:rPr sz="1000" b="1" i="0">
                          <a:solidFill>
                            <a:srgbClr val="161D26"/>
                          </a:solidFill>
                          <a:latin typeface="Amazon Ember"/>
                        </a:rPr>
                        <a:t>personal</a:t>
                      </a:r>
                      <a:r>
                        <a:rPr sz="1000" b="0" i="0">
                          <a:solidFill>
                            <a:srgbClr val="161D26"/>
                          </a:solidFill>
                          <a:latin typeface="Amazon Ember"/>
                        </a:rPr>
                        <a:t> GitHub account · sit next to a Docker user · 8080 via Ports tab → globe</a:t>
                      </a:r>
                    </a:p>
                  </a:txBody>
                  <a:tcPr marL="54864" marR="54864" marT="22860" marB="22860">
                    <a:solidFill>
                      <a:srgbClr val="F9F9F9"/>
                    </a:solidFill>
                  </a:tcPr>
                </a:tc>
              </a:tr>
              <a:tr h="384048">
                <a:tc>
                  <a:txBody>
                    <a:bodyPr/>
                    <a:lstStyle/>
                    <a:p>
                      <a:r>
                        <a:rPr sz="1000" b="0" i="0">
                          <a:solidFill>
                            <a:srgbClr val="161D26"/>
                          </a:solidFill>
                          <a:latin typeface="Amazon Ember"/>
                        </a:rPr>
                        <a:t>2 · Local containers</a:t>
                      </a:r>
                    </a:p>
                  </a:txBody>
                  <a:tcPr marL="54864" marR="54864" marT="22860" marB="22860">
                    <a:solidFill>
                      <a:srgbClr val="FFFFFF"/>
                    </a:solidFill>
                  </a:tcPr>
                </a:tc>
                <a:tc>
                  <a:txBody>
                    <a:bodyPr/>
                    <a:lstStyle/>
                    <a:p>
                      <a:r>
                        <a:rPr sz="1000" b="1" i="0">
                          <a:solidFill>
                            <a:srgbClr val="161D26"/>
                          </a:solidFill>
                          <a:latin typeface="Amazon Ember"/>
                        </a:rPr>
                        <a:t>recommended</a:t>
                      </a:r>
                      <a:r>
                        <a:rPr sz="1000" b="0" i="0">
                          <a:solidFill>
                            <a:srgbClr val="161D26"/>
                          </a:solidFill>
                          <a:latin typeface="Amazon Ember"/>
                        </a:rPr>
                        <a:t> where Docker / Finch is available</a:t>
                      </a:r>
                    </a:p>
                  </a:txBody>
                  <a:tcPr marL="54864" marR="54864" marT="22860" marB="22860">
                    <a:solidFill>
                      <a:srgbClr val="FFFFFF"/>
                    </a:solidFill>
                  </a:tcPr>
                </a:tc>
                <a:tc>
                  <a:txBody>
                    <a:bodyPr/>
                    <a:lstStyle/>
                    <a:p>
                      <a:r>
                        <a:rPr sz="1000" b="0" i="0">
                          <a:solidFill>
                            <a:srgbClr val="161D26"/>
                          </a:solidFill>
                          <a:latin typeface="Amazon Ember"/>
                        </a:rPr>
                        <a:t>yes</a:t>
                      </a:r>
                    </a:p>
                  </a:txBody>
                  <a:tcPr marL="54864" marR="54864" marT="22860" marB="22860">
                    <a:solidFill>
                      <a:srgbClr val="FFFFFF"/>
                    </a:solidFill>
                  </a:tcPr>
                </a:tc>
                <a:tc>
                  <a:txBody>
                    <a:bodyPr/>
                    <a:lstStyle/>
                    <a:p>
                      <a:r>
                        <a:rPr sz="1000" b="0" i="0">
                          <a:solidFill>
                            <a:srgbClr val="161D26"/>
                          </a:solidFill>
                          <a:latin typeface="Amazon Ember"/>
                        </a:rPr>
                        <a:t>survives wifi loss · Finch for corporate laptops: finch compose up</a:t>
                      </a:r>
                    </a:p>
                  </a:txBody>
                  <a:tcPr marL="54864" marR="54864" marT="22860" marB="22860">
                    <a:solidFill>
                      <a:srgbClr val="FFFFFF"/>
                    </a:solidFill>
                  </a:tcPr>
                </a:tc>
              </a:tr>
              <a:tr h="384048">
                <a:tc>
                  <a:txBody>
                    <a:bodyPr/>
                    <a:lstStyle/>
                    <a:p>
                      <a:r>
                        <a:rPr sz="1000" b="0" i="0">
                          <a:solidFill>
                            <a:srgbClr val="161D26"/>
                          </a:solidFill>
                          <a:latin typeface="Amazon Ember"/>
                        </a:rPr>
                        <a:t>3 · Native</a:t>
                      </a:r>
                    </a:p>
                  </a:txBody>
                  <a:tcPr marL="54864" marR="54864" marT="22860" marB="22860">
                    <a:solidFill>
                      <a:srgbClr val="F9F9F9"/>
                    </a:solidFill>
                  </a:tcPr>
                </a:tc>
                <a:tc>
                  <a:txBody>
                    <a:bodyPr/>
                    <a:lstStyle/>
                    <a:p>
                      <a:r>
                        <a:rPr sz="1000" b="0" i="0">
                          <a:solidFill>
                            <a:srgbClr val="161D26"/>
                          </a:solidFill>
                          <a:latin typeface="Amazon Ember"/>
                        </a:rPr>
                        <a:t>DuckDB + Java + Node, no containers</a:t>
                      </a:r>
                    </a:p>
                  </a:txBody>
                  <a:tcPr marL="54864" marR="54864" marT="22860" marB="22860">
                    <a:solidFill>
                      <a:srgbClr val="F9F9F9"/>
                    </a:solidFill>
                  </a:tcPr>
                </a:tc>
                <a:tc>
                  <a:txBody>
                    <a:bodyPr/>
                    <a:lstStyle/>
                    <a:p>
                      <a:r>
                        <a:rPr sz="1000" b="0" i="0">
                          <a:solidFill>
                            <a:srgbClr val="161D26"/>
                          </a:solidFill>
                          <a:latin typeface="Amazon Ember"/>
                        </a:rPr>
                        <a:t>no</a:t>
                      </a:r>
                    </a:p>
                  </a:txBody>
                  <a:tcPr marL="54864" marR="54864" marT="22860" marB="22860">
                    <a:solidFill>
                      <a:srgbClr val="F9F9F9"/>
                    </a:solidFill>
                  </a:tcPr>
                </a:tc>
                <a:tc>
                  <a:txBody>
                    <a:bodyPr/>
                    <a:lstStyle/>
                    <a:p>
                      <a:r>
                        <a:rPr sz="1000" b="0" i="0">
                          <a:solidFill>
                            <a:srgbClr val="161D26"/>
                          </a:solidFill>
                          <a:latin typeface="Amazon Ember"/>
                        </a:rPr>
                        <a:t>Windows: Git Bash · map + shelters only (OSRM ships no native Win/Mac binary)</a:t>
                      </a:r>
                    </a:p>
                  </a:txBody>
                  <a:tcPr marL="54864" marR="54864" marT="22860" marB="22860">
                    <a:solidFill>
                      <a:srgbClr val="F9F9F9"/>
                    </a:solidFill>
                  </a:tcPr>
                </a:tc>
              </a:tr>
              <a:tr h="384048">
                <a:tc>
                  <a:txBody>
                    <a:bodyPr/>
                    <a:lstStyle/>
                    <a:p>
                      <a:r>
                        <a:rPr sz="1000" b="0" i="0">
                          <a:solidFill>
                            <a:srgbClr val="161D26"/>
                          </a:solidFill>
                          <a:latin typeface="Amazon Ember"/>
                        </a:rPr>
                        <a:t>4 · Browser only</a:t>
                      </a:r>
                    </a:p>
                  </a:txBody>
                  <a:tcPr marL="54864" marR="54864" marT="22860" marB="22860">
                    <a:solidFill>
                      <a:srgbClr val="FFFFFF"/>
                    </a:solidFill>
                  </a:tcPr>
                </a:tc>
                <a:tc>
                  <a:txBody>
                    <a:bodyPr/>
                    <a:lstStyle/>
                    <a:p>
                      <a:r>
                        <a:rPr sz="1000" b="0" i="0">
                          <a:solidFill>
                            <a:srgbClr val="161D26"/>
                          </a:solidFill>
                          <a:latin typeface="Amazon Ember"/>
                        </a:rPr>
                        <a:t>laptop failed</a:t>
                      </a:r>
                    </a:p>
                  </a:txBody>
                  <a:tcPr marL="54864" marR="54864" marT="22860" marB="22860">
                    <a:solidFill>
                      <a:srgbClr val="FFFFFF"/>
                    </a:solidFill>
                  </a:tcPr>
                </a:tc>
                <a:tc>
                  <a:txBody>
                    <a:bodyPr/>
                    <a:lstStyle/>
                    <a:p>
                      <a:r>
                        <a:rPr sz="1000" b="0" i="0">
                          <a:solidFill>
                            <a:srgbClr val="161D26"/>
                          </a:solidFill>
                          <a:latin typeface="Amazon Ember"/>
                        </a:rPr>
                        <a:t>no</a:t>
                      </a:r>
                    </a:p>
                  </a:txBody>
                  <a:tcPr marL="54864" marR="54864" marT="22860" marB="22860">
                    <a:solidFill>
                      <a:srgbClr val="FFFFFF"/>
                    </a:solidFill>
                  </a:tcPr>
                </a:tc>
                <a:tc>
                  <a:txBody>
                    <a:bodyPr/>
                    <a:lstStyle/>
                    <a:p>
                      <a:r>
                        <a:rPr sz="1000" b="0" i="0">
                          <a:solidFill>
                            <a:srgbClr val="161D26"/>
                          </a:solidFill>
                          <a:latin typeface="Amazon Ember"/>
                        </a:rPr>
                        <a:t>Pages site: follow along, demo still routes via the public OSRM server</a:t>
                      </a:r>
                    </a:p>
                  </a:txBody>
                  <a:tcPr marL="54864" marR="54864" marT="22860" marB="22860">
                    <a:solidFill>
                      <a:srgbClr val="FFFFFF"/>
                    </a:solidFill>
                  </a:tcPr>
                </a:tc>
              </a:tr>
            </a:tbl>
          </a:graphicData>
        </a:graphic>
      </p:graphicFrame>
      <p:sp>
        <p:nvSpPr>
          <p:cNvPr id="12" name="Rectangle 11"/>
          <p:cNvSpPr/>
          <p:nvPr/>
        </p:nvSpPr>
        <p:spPr>
          <a:xfrm>
            <a:off x="384048" y="3108960"/>
            <a:ext cx="8385048" cy="132588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154680"/>
            <a:ext cx="3840480" cy="1234440"/>
          </a:xfrm>
          <a:prstGeom prst="rect">
            <a:avLst/>
          </a:prstGeom>
          <a:noFill/>
        </p:spPr>
        <p:txBody>
          <a:bodyPr wrap="square" anchor="t" lIns="73152" rIns="73152" tIns="54864" bIns="54864">
            <a:spAutoFit/>
          </a:bodyPr>
          <a:lstStyle/>
          <a:p>
            <a:pPr>
              <a:spcAft>
                <a:spcPts val="400"/>
              </a:spcAft>
            </a:pPr>
            <a:r>
              <a:rPr sz="1200" b="1" i="0">
                <a:solidFill>
                  <a:srgbClr val="FF6101"/>
                </a:solidFill>
                <a:latin typeface="Amazon Ember"/>
              </a:rPr>
              <a:t>PHASE 0 · setup checkpoint</a:t>
            </a:r>
          </a:p>
          <a:p>
            <a:pPr>
              <a:spcAft>
                <a:spcPts val="400"/>
              </a:spcAft>
            </a:pPr>
            <a:r>
              <a:rPr sz="1000" b="0" i="0">
                <a:solidFill>
                  <a:srgbClr val="161D26"/>
                </a:solidFill>
                <a:latin typeface="Amazon Ember"/>
              </a:rPr>
              <a:t>Run both lines from the repo root. Hands up when the output matches the line on the right.</a:t>
            </a:r>
          </a:p>
          <a:p>
            <a:pPr>
              <a:spcAft>
                <a:spcPts val="400"/>
              </a:spcAft>
            </a:pPr>
            <a:r>
              <a:rPr sz="1000" b="1" i="0">
                <a:solidFill>
                  <a:srgbClr val="161D26"/>
                </a:solidFill>
                <a:latin typeface="Amazon Ember"/>
              </a:rPr>
              <a:t>Still red?</a:t>
            </a:r>
            <a:r>
              <a:rPr sz="1000" b="0" i="0">
                <a:solidFill>
                  <a:srgbClr val="161D26"/>
                </a:solidFill>
                <a:latin typeface="Amazon Ember"/>
              </a:rPr>
              <a:t> Open the Codespaces link. Codespaces blocked? Open the Pages link and follow along.</a:t>
            </a:r>
          </a:p>
        </p:txBody>
      </p:sp>
      <p:sp>
        <p:nvSpPr>
          <p:cNvPr id="14" name="Rectangle 13"/>
          <p:cNvSpPr/>
          <p:nvPr/>
        </p:nvSpPr>
        <p:spPr>
          <a:xfrm>
            <a:off x="4434840" y="3200400"/>
            <a:ext cx="4206240" cy="566928"/>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1000">
                <a:solidFill>
                  <a:srgbClr val="161D26"/>
                </a:solidFill>
                <a:latin typeface="Menlo"/>
              </a:rPr>
              <a:t>python3 setup/check_setup.py</a:t>
            </a:r>
          </a:p>
          <a:p>
            <a:pPr algn="l">
              <a:spcAft>
                <a:spcPts val="0"/>
              </a:spcAft>
            </a:pPr>
            <a:r>
              <a:rPr sz="1000">
                <a:solidFill>
                  <a:srgbClr val="161D26"/>
                </a:solidFill>
                <a:latin typeface="Menlo"/>
              </a:rPr>
              <a:t>duckdb -c ".read setup/hello-geo.sql"</a:t>
            </a:r>
          </a:p>
        </p:txBody>
      </p:sp>
      <p:sp>
        <p:nvSpPr>
          <p:cNvPr id="15" name="Rectangle 14"/>
          <p:cNvSpPr/>
          <p:nvPr/>
        </p:nvSpPr>
        <p:spPr>
          <a:xfrm>
            <a:off x="4434840" y="3813048"/>
            <a:ext cx="4206240" cy="54864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850">
                <a:solidFill>
                  <a:srgbClr val="161D26"/>
                </a:solidFill>
                <a:latin typeface="Menlo"/>
              </a:rPr>
              <a:t>OK — DuckDB 2.0.0 · 10 shelters (1 verified, 9 candidate)</a:t>
            </a:r>
          </a:p>
          <a:p>
            <a:pPr algn="l">
              <a:spcAft>
                <a:spcPts val="0"/>
              </a:spcAft>
            </a:pPr>
            <a:r>
              <a:rPr sz="850">
                <a:solidFill>
                  <a:srgbClr val="161D26"/>
                </a:solidFill>
                <a:latin typeface="Menlo"/>
              </a:rPr>
              <a:t>   · nearest to Colfax (crow-flies): Sierra Vista Community Center, 0.2 km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FF6101"/>
                </a:solidFill>
              </a:rPr>
              <a:t>PHASE 1</a:t>
            </a:r>
          </a:p>
          <a:p>
            <a:r>
              <a:rPr sz="3600"/>
              <a:t>Data prep with DuckDB</a:t>
            </a:r>
          </a:p>
        </p:txBody>
      </p:sp>
      <p:sp>
        <p:nvSpPr>
          <p:cNvPr id="9" name="Footer Placeholder 5">
            <a:extLst>
              <a:ext uri="{FF2B5EF4-FFF2-40B4-BE49-F238E27FC236}">
                <a16:creationId xmlns:a16="http://schemas.microsoft.com/office/drawing/2014/main" id="{2D4714FF-B25D-F7C4-188C-F8378460F5CD}"/>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71F5A9F8-4432-0796-5F1F-2FC8919117FC}"/>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1069848" y="3703320"/>
            <a:ext cx="6858000" cy="640080"/>
          </a:xfrm>
          <a:prstGeom prst="rect">
            <a:avLst/>
          </a:prstGeom>
          <a:noFill/>
        </p:spPr>
        <p:txBody>
          <a:bodyPr wrap="square" anchor="t" lIns="73152" rIns="73152" tIns="54864" bIns="54864">
            <a:spAutoFit/>
          </a:bodyPr>
          <a:lstStyle/>
          <a:p>
            <a:pPr>
              <a:spcAft>
                <a:spcPts val="400"/>
              </a:spcAft>
            </a:pPr>
            <a:r>
              <a:rPr sz="1200" b="1" i="0">
                <a:solidFill>
                  <a:srgbClr val="161D26"/>
                </a:solidFill>
                <a:latin typeface="Amazon Ember"/>
              </a:rPr>
              <a:t>1a look around · 1b candidate shelters · 1c export · exercises</a:t>
            </a:r>
            <a:r>
              <a:rPr sz="1200" b="0" i="0">
                <a:solidFill>
                  <a:srgbClr val="6B7280"/>
                </a:solidFill>
                <a:latin typeface="Amazon Ember"/>
              </a:rPr>
              <a:t>   DuckDB 2.0.0 + spatial · Overture Maps 2026-09-23.1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1 in one picture — three SQL files, one folder of GeoJSON</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block2-duckdb.png"/>
          <p:cNvPicPr>
            <a:picLocks noChangeAspect="1"/>
          </p:cNvPicPr>
          <p:nvPr/>
        </p:nvPicPr>
        <p:blipFill>
          <a:blip r:embed="rId2"/>
          <a:stretch>
            <a:fillRect/>
          </a:stretch>
        </p:blipFill>
        <p:spPr>
          <a:xfrm>
            <a:off x="384048" y="1466284"/>
            <a:ext cx="8385048" cy="2142351"/>
          </a:xfrm>
          <a:prstGeom prst="rect">
            <a:avLst/>
          </a:prstGeom>
        </p:spPr>
      </p:pic>
      <p:sp>
        <p:nvSpPr>
          <p:cNvPr id="12" name="TextBox 11"/>
          <p:cNvSpPr txBox="1"/>
          <p:nvPr/>
        </p:nvSpPr>
        <p:spPr>
          <a:xfrm>
            <a:off x="384048" y="4206240"/>
            <a:ext cx="8385048" cy="411480"/>
          </a:xfrm>
          <a:prstGeom prst="rect">
            <a:avLst/>
          </a:prstGeom>
          <a:noFill/>
        </p:spPr>
        <p:txBody>
          <a:bodyPr wrap="square" anchor="t" lIns="73152" rIns="73152" tIns="54864" bIns="54864">
            <a:spAutoFit/>
          </a:bodyPr>
          <a:lstStyle/>
          <a:p>
            <a:pPr>
              <a:spcAft>
                <a:spcPts val="400"/>
              </a:spcAft>
            </a:pPr>
            <a:r>
              <a:rPr sz="1050" b="1" i="0">
                <a:solidFill>
                  <a:srgbClr val="FF6101"/>
                </a:solidFill>
                <a:latin typeface="Amazon Ember"/>
              </a:rPr>
              <a:t>Phase 1: </a:t>
            </a:r>
            <a:r>
              <a:rPr sz="1050" b="0" i="0">
                <a:solidFill>
                  <a:srgbClr val="161D26"/>
                </a:solidFill>
                <a:latin typeface="Amazon Ember"/>
              </a:rPr>
              <a:t>1a explore · 1b shelters · 1c export  ·  </a:t>
            </a:r>
            <a:r>
              <a:rPr sz="1050" b="1" i="0">
                <a:solidFill>
                  <a:srgbClr val="161D26"/>
                </a:solidFill>
                <a:latin typeface="Amazon Ember"/>
              </a:rPr>
              <a:t>Checkpoint </a:t>
            </a:r>
            <a:r>
              <a:rPr sz="950" b="0" i="0">
                <a:solidFill>
                  <a:srgbClr val="FF6101"/>
                </a:solidFill>
                <a:latin typeface="Menlo"/>
              </a:rPr>
              <a:t>SELECT count(*) FROM ST_Read('data/overture/roads.geojson')  →  36,294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Overture Maps in one slide</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914400"/>
            <a:ext cx="4206240" cy="3566160"/>
          </a:xfrm>
          <a:prstGeom prst="rect">
            <a:avLst/>
          </a:prstGeom>
          <a:noFill/>
        </p:spPr>
        <p:txBody>
          <a:bodyPr wrap="square" anchor="t" lIns="73152" rIns="73152" tIns="54864" bIns="54864">
            <a:spAutoFit/>
          </a:bodyPr>
          <a:lstStyle/>
          <a:p>
            <a:pPr>
              <a:spcAft>
                <a:spcPts val="400"/>
              </a:spcAft>
            </a:pPr>
            <a:r>
              <a:rPr sz="1100" b="0" i="0">
                <a:solidFill>
                  <a:srgbClr val="161D26"/>
                </a:solidFill>
                <a:latin typeface="Amazon Ember"/>
              </a:rPr>
              <a:t>Open map data from the Linux Foundation, released monthly as </a:t>
            </a:r>
            <a:r>
              <a:rPr sz="1100" b="1" i="0">
                <a:solidFill>
                  <a:srgbClr val="161D26"/>
                </a:solidFill>
                <a:latin typeface="Amazon Ember"/>
              </a:rPr>
              <a:t>GeoParquet</a:t>
            </a:r>
            <a:r>
              <a:rPr sz="1100" b="0" i="0">
                <a:solidFill>
                  <a:srgbClr val="161D26"/>
                </a:solidFill>
                <a:latin typeface="Amazon Ember"/>
              </a:rPr>
              <a:t> in themes: </a:t>
            </a:r>
            <a:r>
              <a:rPr sz="1100" b="0" i="0">
                <a:solidFill>
                  <a:srgbClr val="FF6101"/>
                </a:solidFill>
                <a:latin typeface="Menlo"/>
              </a:rPr>
              <a:t>transportation · places · base · buildings · divisions</a:t>
            </a:r>
          </a:p>
          <a:p>
            <a:pPr>
              <a:spcAft>
                <a:spcPts val="400"/>
              </a:spcAft>
            </a:pPr>
            <a:r>
              <a:rPr sz="1100" b="0" i="0">
                <a:solidFill>
                  <a:srgbClr val="161D26"/>
                </a:solidFill>
                <a:latin typeface="Amazon Ember"/>
              </a:rPr>
              <a:t>Built from OpenStreetMap plus other sources; licence differs by theme (ODbL / CDLA-Permissive 2.0)</a:t>
            </a:r>
          </a:p>
          <a:p>
            <a:pPr>
              <a:spcAft>
                <a:spcPts val="400"/>
              </a:spcAft>
            </a:pPr>
            <a:r>
              <a:rPr sz="1100" b="0" i="0">
                <a:solidFill>
                  <a:srgbClr val="161D26"/>
                </a:solidFill>
                <a:latin typeface="Amazon Ember"/>
              </a:rPr>
              <a:t>Parquet stores a </a:t>
            </a:r>
            <a:r>
              <a:rPr sz="1100" b="0" i="0">
                <a:solidFill>
                  <a:srgbClr val="FF6101"/>
                </a:solidFill>
                <a:latin typeface="Menlo"/>
              </a:rPr>
              <a:t>bbox</a:t>
            </a:r>
            <a:r>
              <a:rPr sz="1100" b="0" i="0">
                <a:solidFill>
                  <a:srgbClr val="161D26"/>
                </a:solidFill>
                <a:latin typeface="Amazon Ember"/>
              </a:rPr>
              <a:t> struct per row → DuckDB skips every file and row group outside the rectangle. Planet → Placer corridor without downloading the planet; we stage the result as GeoJSON in data/overture/.</a:t>
            </a:r>
          </a:p>
          <a:p>
            <a:pPr>
              <a:spcAft>
                <a:spcPts val="400"/>
              </a:spcAft>
            </a:pPr>
            <a:r>
              <a:rPr sz="1100" b="1" i="0">
                <a:solidFill>
                  <a:srgbClr val="161D26"/>
                </a:solidFill>
                <a:latin typeface="Amazon Ember"/>
              </a:rPr>
              <a:t>Attribution on every published map: </a:t>
            </a:r>
            <a:r>
              <a:rPr sz="1100" b="0" i="0">
                <a:solidFill>
                  <a:srgbClr val="161D26"/>
                </a:solidFill>
                <a:latin typeface="Amazon Ember"/>
              </a:rPr>
              <a:t>© OpenStreetMap contributors · © Overture Maps Foundation</a:t>
            </a:r>
          </a:p>
        </p:txBody>
      </p:sp>
      <p:sp>
        <p:nvSpPr>
          <p:cNvPr id="12" name="Rectangle 11"/>
          <p:cNvSpPr/>
          <p:nvPr/>
        </p:nvSpPr>
        <p:spPr>
          <a:xfrm>
            <a:off x="4800600" y="914400"/>
            <a:ext cx="1874519" cy="96012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987552"/>
            <a:ext cx="1874519" cy="502920"/>
          </a:xfrm>
          <a:prstGeom prst="rect">
            <a:avLst/>
          </a:prstGeom>
          <a:noFill/>
        </p:spPr>
        <p:txBody>
          <a:bodyPr wrap="square" anchor="t" lIns="73152" rIns="73152" tIns="54864" bIns="54864">
            <a:spAutoFit/>
          </a:bodyPr>
          <a:lstStyle/>
          <a:p>
            <a:pPr algn="ctr">
              <a:spcAft>
                <a:spcPts val="400"/>
              </a:spcAft>
            </a:pPr>
            <a:r>
              <a:rPr sz="2400" b="1" i="0">
                <a:solidFill>
                  <a:srgbClr val="161D26"/>
                </a:solidFill>
                <a:latin typeface="Amazon Ember"/>
              </a:rPr>
              <a:t>36,294</a:t>
            </a:r>
          </a:p>
        </p:txBody>
      </p:sp>
      <p:sp>
        <p:nvSpPr>
          <p:cNvPr id="14" name="TextBox 13"/>
          <p:cNvSpPr txBox="1"/>
          <p:nvPr/>
        </p:nvSpPr>
        <p:spPr>
          <a:xfrm>
            <a:off x="4800600" y="1481328"/>
            <a:ext cx="1874519" cy="320040"/>
          </a:xfrm>
          <a:prstGeom prst="rect">
            <a:avLst/>
          </a:prstGeom>
          <a:noFill/>
        </p:spPr>
        <p:txBody>
          <a:bodyPr wrap="square" anchor="t" lIns="73152" rIns="73152" tIns="54864" bIns="54864">
            <a:spAutoFit/>
          </a:bodyPr>
          <a:lstStyle/>
          <a:p>
            <a:pPr algn="ctr">
              <a:spcAft>
                <a:spcPts val="400"/>
              </a:spcAft>
            </a:pPr>
            <a:r>
              <a:rPr sz="1000" b="0" i="0">
                <a:solidFill>
                  <a:srgbClr val="6B7280"/>
                </a:solidFill>
                <a:latin typeface="Amazon Ember"/>
              </a:rPr>
              <a:t>drivable roads</a:t>
            </a:r>
          </a:p>
        </p:txBody>
      </p:sp>
      <p:sp>
        <p:nvSpPr>
          <p:cNvPr id="15" name="Rectangle 14"/>
          <p:cNvSpPr/>
          <p:nvPr/>
        </p:nvSpPr>
        <p:spPr>
          <a:xfrm>
            <a:off x="6812280" y="914400"/>
            <a:ext cx="1874519" cy="96012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987552"/>
            <a:ext cx="1874519" cy="502920"/>
          </a:xfrm>
          <a:prstGeom prst="rect">
            <a:avLst/>
          </a:prstGeom>
          <a:noFill/>
        </p:spPr>
        <p:txBody>
          <a:bodyPr wrap="square" anchor="t" lIns="73152" rIns="73152" tIns="54864" bIns="54864">
            <a:spAutoFit/>
          </a:bodyPr>
          <a:lstStyle/>
          <a:p>
            <a:pPr algn="ctr">
              <a:spcAft>
                <a:spcPts val="400"/>
              </a:spcAft>
            </a:pPr>
            <a:r>
              <a:rPr sz="2400" b="1" i="0">
                <a:solidFill>
                  <a:srgbClr val="161D26"/>
                </a:solidFill>
                <a:latin typeface="Amazon Ember"/>
              </a:rPr>
              <a:t>27,096</a:t>
            </a:r>
          </a:p>
        </p:txBody>
      </p:sp>
      <p:sp>
        <p:nvSpPr>
          <p:cNvPr id="17" name="TextBox 16"/>
          <p:cNvSpPr txBox="1"/>
          <p:nvPr/>
        </p:nvSpPr>
        <p:spPr>
          <a:xfrm>
            <a:off x="6812280" y="1481328"/>
            <a:ext cx="1874519" cy="320040"/>
          </a:xfrm>
          <a:prstGeom prst="rect">
            <a:avLst/>
          </a:prstGeom>
          <a:noFill/>
        </p:spPr>
        <p:txBody>
          <a:bodyPr wrap="square" anchor="t" lIns="73152" rIns="73152" tIns="54864" bIns="54864">
            <a:spAutoFit/>
          </a:bodyPr>
          <a:lstStyle/>
          <a:p>
            <a:pPr algn="ctr">
              <a:spcAft>
                <a:spcPts val="400"/>
              </a:spcAft>
            </a:pPr>
            <a:r>
              <a:rPr sz="1000" b="0" i="0">
                <a:solidFill>
                  <a:srgbClr val="6B7280"/>
                </a:solidFill>
                <a:latin typeface="Amazon Ember"/>
              </a:rPr>
              <a:t>places</a:t>
            </a:r>
          </a:p>
        </p:txBody>
      </p:sp>
      <p:sp>
        <p:nvSpPr>
          <p:cNvPr id="18" name="Rectangle 17"/>
          <p:cNvSpPr/>
          <p:nvPr/>
        </p:nvSpPr>
        <p:spPr>
          <a:xfrm>
            <a:off x="4800600" y="2057400"/>
            <a:ext cx="1874519" cy="96012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130552"/>
            <a:ext cx="1874519" cy="502920"/>
          </a:xfrm>
          <a:prstGeom prst="rect">
            <a:avLst/>
          </a:prstGeom>
          <a:noFill/>
        </p:spPr>
        <p:txBody>
          <a:bodyPr wrap="square" anchor="t" lIns="73152" rIns="73152" tIns="54864" bIns="54864">
            <a:spAutoFit/>
          </a:bodyPr>
          <a:lstStyle/>
          <a:p>
            <a:pPr algn="ctr">
              <a:spcAft>
                <a:spcPts val="400"/>
              </a:spcAft>
            </a:pPr>
            <a:r>
              <a:rPr sz="2400" b="1" i="0">
                <a:solidFill>
                  <a:srgbClr val="161D26"/>
                </a:solidFill>
                <a:latin typeface="Amazon Ember"/>
              </a:rPr>
              <a:t>121</a:t>
            </a:r>
          </a:p>
        </p:txBody>
      </p:sp>
      <p:sp>
        <p:nvSpPr>
          <p:cNvPr id="20" name="TextBox 19"/>
          <p:cNvSpPr txBox="1"/>
          <p:nvPr/>
        </p:nvSpPr>
        <p:spPr>
          <a:xfrm>
            <a:off x="4800600" y="2624328"/>
            <a:ext cx="1874519" cy="320040"/>
          </a:xfrm>
          <a:prstGeom prst="rect">
            <a:avLst/>
          </a:prstGeom>
          <a:noFill/>
        </p:spPr>
        <p:txBody>
          <a:bodyPr wrap="square" anchor="t" lIns="73152" rIns="73152" tIns="54864" bIns="54864">
            <a:spAutoFit/>
          </a:bodyPr>
          <a:lstStyle/>
          <a:p>
            <a:pPr algn="ctr">
              <a:spcAft>
                <a:spcPts val="400"/>
              </a:spcAft>
            </a:pPr>
            <a:r>
              <a:rPr sz="1000" b="0" i="0">
                <a:solidFill>
                  <a:srgbClr val="6B7280"/>
                </a:solidFill>
                <a:latin typeface="Amazon Ember"/>
              </a:rPr>
              <a:t>towns (divisions)</a:t>
            </a:r>
          </a:p>
        </p:txBody>
      </p:sp>
      <p:sp>
        <p:nvSpPr>
          <p:cNvPr id="21" name="Rectangle 20"/>
          <p:cNvSpPr/>
          <p:nvPr/>
        </p:nvSpPr>
        <p:spPr>
          <a:xfrm>
            <a:off x="6812280" y="2057400"/>
            <a:ext cx="1874519" cy="96012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2130552"/>
            <a:ext cx="1874519" cy="502920"/>
          </a:xfrm>
          <a:prstGeom prst="rect">
            <a:avLst/>
          </a:prstGeom>
          <a:noFill/>
        </p:spPr>
        <p:txBody>
          <a:bodyPr wrap="square" anchor="t" lIns="73152" rIns="73152" tIns="54864" bIns="54864">
            <a:spAutoFit/>
          </a:bodyPr>
          <a:lstStyle/>
          <a:p>
            <a:pPr algn="ctr">
              <a:spcAft>
                <a:spcPts val="400"/>
              </a:spcAft>
            </a:pPr>
            <a:r>
              <a:rPr sz="2400" b="1" i="0">
                <a:solidFill>
                  <a:srgbClr val="161D26"/>
                </a:solidFill>
                <a:latin typeface="Amazon Ember"/>
              </a:rPr>
              <a:t>1,920</a:t>
            </a:r>
          </a:p>
        </p:txBody>
      </p:sp>
      <p:sp>
        <p:nvSpPr>
          <p:cNvPr id="23" name="TextBox 22"/>
          <p:cNvSpPr txBox="1"/>
          <p:nvPr/>
        </p:nvSpPr>
        <p:spPr>
          <a:xfrm>
            <a:off x="6812280" y="2624328"/>
            <a:ext cx="1874519" cy="320040"/>
          </a:xfrm>
          <a:prstGeom prst="rect">
            <a:avLst/>
          </a:prstGeom>
          <a:noFill/>
        </p:spPr>
        <p:txBody>
          <a:bodyPr wrap="square" anchor="t" lIns="73152" rIns="73152" tIns="54864" bIns="54864">
            <a:spAutoFit/>
          </a:bodyPr>
          <a:lstStyle/>
          <a:p>
            <a:pPr algn="ctr">
              <a:spcAft>
                <a:spcPts val="400"/>
              </a:spcAft>
            </a:pPr>
            <a:r>
              <a:rPr sz="1000" b="0" i="0">
                <a:solidFill>
                  <a:srgbClr val="6B7280"/>
                </a:solidFill>
                <a:latin typeface="Amazon Ember"/>
              </a:rPr>
              <a:t>water polygons</a:t>
            </a:r>
          </a:p>
        </p:txBody>
      </p:sp>
      <p:sp>
        <p:nvSpPr>
          <p:cNvPr id="24" name="Rectangle 23"/>
          <p:cNvSpPr/>
          <p:nvPr/>
        </p:nvSpPr>
        <p:spPr>
          <a:xfrm>
            <a:off x="4800600" y="3200400"/>
            <a:ext cx="1874519" cy="96012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273552"/>
            <a:ext cx="1874519" cy="502920"/>
          </a:xfrm>
          <a:prstGeom prst="rect">
            <a:avLst/>
          </a:prstGeom>
          <a:noFill/>
        </p:spPr>
        <p:txBody>
          <a:bodyPr wrap="square" anchor="t" lIns="73152" rIns="73152" tIns="54864" bIns="54864">
            <a:spAutoFit/>
          </a:bodyPr>
          <a:lstStyle/>
          <a:p>
            <a:pPr algn="ctr">
              <a:spcAft>
                <a:spcPts val="400"/>
              </a:spcAft>
            </a:pPr>
            <a:r>
              <a:rPr sz="2400" b="1" i="0">
                <a:solidFill>
                  <a:srgbClr val="161D26"/>
                </a:solidFill>
                <a:latin typeface="Amazon Ember"/>
              </a:rPr>
              <a:t>2,564</a:t>
            </a:r>
          </a:p>
        </p:txBody>
      </p:sp>
      <p:sp>
        <p:nvSpPr>
          <p:cNvPr id="26" name="TextBox 25"/>
          <p:cNvSpPr txBox="1"/>
          <p:nvPr/>
        </p:nvSpPr>
        <p:spPr>
          <a:xfrm>
            <a:off x="4800600" y="3767328"/>
            <a:ext cx="1874519" cy="320040"/>
          </a:xfrm>
          <a:prstGeom prst="rect">
            <a:avLst/>
          </a:prstGeom>
          <a:noFill/>
        </p:spPr>
        <p:txBody>
          <a:bodyPr wrap="square" anchor="t" lIns="73152" rIns="73152" tIns="54864" bIns="54864">
            <a:spAutoFit/>
          </a:bodyPr>
          <a:lstStyle/>
          <a:p>
            <a:pPr algn="ctr">
              <a:spcAft>
                <a:spcPts val="400"/>
              </a:spcAft>
            </a:pPr>
            <a:r>
              <a:rPr sz="1000" b="0" i="0">
                <a:solidFill>
                  <a:srgbClr val="6B7280"/>
                </a:solidFill>
                <a:latin typeface="Amazon Ember"/>
              </a:rPr>
              <a:t>land-cover polygons</a:t>
            </a:r>
          </a:p>
        </p:txBody>
      </p:sp>
      <p:sp>
        <p:nvSpPr>
          <p:cNvPr id="27" name="Rectangle 26"/>
          <p:cNvSpPr/>
          <p:nvPr/>
        </p:nvSpPr>
        <p:spPr>
          <a:xfrm>
            <a:off x="6812280" y="3200400"/>
            <a:ext cx="1874519" cy="96012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3273552"/>
            <a:ext cx="1874519" cy="502920"/>
          </a:xfrm>
          <a:prstGeom prst="rect">
            <a:avLst/>
          </a:prstGeom>
          <a:noFill/>
        </p:spPr>
        <p:txBody>
          <a:bodyPr wrap="square" anchor="t" lIns="73152" rIns="73152" tIns="54864" bIns="54864">
            <a:spAutoFit/>
          </a:bodyPr>
          <a:lstStyle/>
          <a:p>
            <a:pPr algn="ctr">
              <a:spcAft>
                <a:spcPts val="400"/>
              </a:spcAft>
            </a:pPr>
            <a:r>
              <a:rPr sz="2400" b="1" i="0">
                <a:solidFill>
                  <a:srgbClr val="161D26"/>
                </a:solidFill>
                <a:latin typeface="Amazon Ember"/>
              </a:rPr>
              <a:t>12,606</a:t>
            </a:r>
          </a:p>
        </p:txBody>
      </p:sp>
      <p:sp>
        <p:nvSpPr>
          <p:cNvPr id="29" name="TextBox 28"/>
          <p:cNvSpPr txBox="1"/>
          <p:nvPr/>
        </p:nvSpPr>
        <p:spPr>
          <a:xfrm>
            <a:off x="6812280" y="3767328"/>
            <a:ext cx="1874519" cy="320040"/>
          </a:xfrm>
          <a:prstGeom prst="rect">
            <a:avLst/>
          </a:prstGeom>
          <a:noFill/>
        </p:spPr>
        <p:txBody>
          <a:bodyPr wrap="square" anchor="t" lIns="73152" rIns="73152" tIns="54864" bIns="54864">
            <a:spAutoFit/>
          </a:bodyPr>
          <a:lstStyle/>
          <a:p>
            <a:pPr algn="ctr">
              <a:spcAft>
                <a:spcPts val="400"/>
              </a:spcAft>
            </a:pPr>
            <a:r>
              <a:rPr sz="1000" b="0" i="0">
                <a:solidFill>
                  <a:srgbClr val="6B7280"/>
                </a:solidFill>
                <a:latin typeface="Amazon Ember"/>
              </a:rPr>
              <a:t>buildings (Auburn)</a:t>
            </a:r>
          </a:p>
        </p:txBody>
      </p:sp>
      <p:sp>
        <p:nvSpPr>
          <p:cNvPr id="30" name="TextBox 29"/>
          <p:cNvSpPr txBox="1"/>
          <p:nvPr/>
        </p:nvSpPr>
        <p:spPr>
          <a:xfrm>
            <a:off x="4800600" y="4389120"/>
            <a:ext cx="393192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Our study area, release 2026-09-23.1 — fetched to GeoJSON by scripts/fetch-overture.sh in 24 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SQL in three lines, then one spatial predicate</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Rectangle 10"/>
          <p:cNvSpPr/>
          <p:nvPr/>
        </p:nvSpPr>
        <p:spPr>
          <a:xfrm>
            <a:off x="384048" y="914400"/>
            <a:ext cx="4114800" cy="114300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950">
                <a:solidFill>
                  <a:srgbClr val="161D26"/>
                </a:solidFill>
                <a:latin typeface="Menlo"/>
              </a:rPr>
              <a:t>LOAD spatial;</a:t>
            </a:r>
          </a:p>
          <a:p>
            <a:pPr algn="l">
              <a:spcAft>
                <a:spcPts val="0"/>
              </a:spcAft>
            </a:pPr>
            <a:r>
              <a:rPr sz="950">
                <a:solidFill>
                  <a:srgbClr val="161D26"/>
                </a:solidFill>
                <a:latin typeface="Menlo"/>
              </a:rPr>
              <a:t>SELECT class, count(*) AS n      -- what do I want back?</a:t>
            </a:r>
          </a:p>
          <a:p>
            <a:pPr algn="l">
              <a:spcAft>
                <a:spcPts val="0"/>
              </a:spcAft>
            </a:pPr>
            <a:r>
              <a:rPr sz="950">
                <a:solidFill>
                  <a:srgbClr val="161D26"/>
                </a:solidFill>
                <a:latin typeface="Menlo"/>
              </a:rPr>
              <a:t>FROM ST_Read('data/overture/roads.geojson')</a:t>
            </a:r>
          </a:p>
          <a:p>
            <a:pPr algn="l">
              <a:spcAft>
                <a:spcPts val="0"/>
              </a:spcAft>
            </a:pPr>
            <a:r>
              <a:rPr sz="950">
                <a:solidFill>
                  <a:srgbClr val="161D26"/>
                </a:solidFill>
                <a:latin typeface="Menlo"/>
              </a:rPr>
              <a:t>GROUP BY class ORDER BY n DESC;  -- one row per group</a:t>
            </a:r>
          </a:p>
        </p:txBody>
      </p:sp>
      <p:sp>
        <p:nvSpPr>
          <p:cNvPr id="12" name="Rectangle 11"/>
          <p:cNvSpPr/>
          <p:nvPr/>
        </p:nvSpPr>
        <p:spPr>
          <a:xfrm>
            <a:off x="4663440" y="914400"/>
            <a:ext cx="4114800" cy="114300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950">
                <a:solidFill>
                  <a:srgbClr val="161D26"/>
                </a:solidFill>
                <a:latin typeface="Menlo"/>
              </a:rPr>
              <a:t>LOAD spatial;</a:t>
            </a:r>
          </a:p>
          <a:p>
            <a:pPr algn="l">
              <a:spcAft>
                <a:spcPts val="0"/>
              </a:spcAft>
            </a:pPr>
            <a:r>
              <a:rPr sz="950">
                <a:solidFill>
                  <a:srgbClr val="161D26"/>
                </a:solidFill>
                <a:latin typeface="Menlo"/>
              </a:rPr>
              <a:t>SELECT s.name FROM shelters s, fhsz h</a:t>
            </a:r>
          </a:p>
          <a:p>
            <a:pPr algn="l">
              <a:spcAft>
                <a:spcPts val="0"/>
              </a:spcAft>
            </a:pPr>
            <a:r>
              <a:rPr sz="950">
                <a:solidFill>
                  <a:srgbClr val="161D26"/>
                </a:solidFill>
                <a:latin typeface="Menlo"/>
              </a:rPr>
              <a:t>WHERE ST_Intersects(s.geom, h.geom)   -- yes / no</a:t>
            </a:r>
          </a:p>
          <a:p>
            <a:pPr algn="l">
              <a:spcAft>
                <a:spcPts val="0"/>
              </a:spcAft>
            </a:pPr>
            <a:r>
              <a:rPr sz="950">
                <a:solidFill>
                  <a:srgbClr val="161D26"/>
                </a:solidFill>
                <a:latin typeface="Menlo"/>
              </a:rPr>
              <a:t>  AND h.FHSZ_Description = 'Very High';</a:t>
            </a:r>
          </a:p>
        </p:txBody>
      </p:sp>
      <p:sp>
        <p:nvSpPr>
          <p:cNvPr id="13" name="TextBox 12"/>
          <p:cNvSpPr txBox="1"/>
          <p:nvPr/>
        </p:nvSpPr>
        <p:spPr>
          <a:xfrm>
            <a:off x="384048" y="2194560"/>
            <a:ext cx="4114800" cy="2194560"/>
          </a:xfrm>
          <a:prstGeom prst="rect">
            <a:avLst/>
          </a:prstGeom>
          <a:noFill/>
        </p:spPr>
        <p:txBody>
          <a:bodyPr wrap="square" anchor="t" lIns="73152" rIns="73152" tIns="54864" bIns="54864">
            <a:spAutoFit/>
          </a:bodyPr>
          <a:lstStyle/>
          <a:p>
            <a:pPr>
              <a:spcAft>
                <a:spcPts val="400"/>
              </a:spcAft>
            </a:pPr>
            <a:r>
              <a:rPr sz="1100" b="1" i="0">
                <a:solidFill>
                  <a:srgbClr val="161D26"/>
                </a:solidFill>
                <a:latin typeface="Amazon Ember"/>
              </a:rPr>
              <a:t>No GIS yet — this is just a table.</a:t>
            </a:r>
          </a:p>
          <a:p>
            <a:pPr>
              <a:spcAft>
                <a:spcPts val="400"/>
              </a:spcAft>
            </a:pPr>
            <a:r>
              <a:rPr sz="1100" b="0" i="0">
                <a:solidFill>
                  <a:srgbClr val="FF6101"/>
                </a:solidFill>
                <a:latin typeface="Menlo"/>
              </a:rPr>
              <a:t>SELECT</a:t>
            </a:r>
            <a:r>
              <a:rPr sz="1100" b="0" i="0">
                <a:solidFill>
                  <a:srgbClr val="161D26"/>
                </a:solidFill>
                <a:latin typeface="Amazon Ember"/>
              </a:rPr>
              <a:t> what · </a:t>
            </a:r>
            <a:r>
              <a:rPr sz="1100" b="0" i="0">
                <a:solidFill>
                  <a:srgbClr val="FF6101"/>
                </a:solidFill>
                <a:latin typeface="Menlo"/>
              </a:rPr>
              <a:t>WHERE</a:t>
            </a:r>
            <a:r>
              <a:rPr sz="1100" b="0" i="0">
                <a:solidFill>
                  <a:srgbClr val="161D26"/>
                </a:solidFill>
                <a:latin typeface="Amazon Ember"/>
              </a:rPr>
              <a:t> which rows · </a:t>
            </a:r>
            <a:r>
              <a:rPr sz="1100" b="0" i="0">
                <a:solidFill>
                  <a:srgbClr val="FF6101"/>
                </a:solidFill>
                <a:latin typeface="Menlo"/>
              </a:rPr>
              <a:t>GROUP BY</a:t>
            </a:r>
            <a:r>
              <a:rPr sz="1100" b="0" i="0">
                <a:solidFill>
                  <a:srgbClr val="161D26"/>
                </a:solidFill>
                <a:latin typeface="Amazon Ember"/>
              </a:rPr>
              <a:t> count per group</a:t>
            </a:r>
          </a:p>
          <a:p>
            <a:pPr>
              <a:spcAft>
                <a:spcPts val="400"/>
              </a:spcAft>
            </a:pPr>
            <a:r>
              <a:rPr sz="1100" b="1" i="0">
                <a:solidFill>
                  <a:srgbClr val="161D26"/>
                </a:solidFill>
                <a:latin typeface="Amazon Ember"/>
              </a:rPr>
              <a:t>Three results to expect: </a:t>
            </a:r>
            <a:r>
              <a:rPr sz="1100" b="0" i="0">
                <a:solidFill>
                  <a:srgbClr val="161D26"/>
                </a:solidFill>
                <a:latin typeface="Amazon Ember"/>
              </a:rPr>
              <a:t>residential 25,995 · tertiary 4,333 · secondary 2,792 · primary 1,305 · motorway 541 · trunk 63</a:t>
            </a:r>
          </a:p>
        </p:txBody>
      </p:sp>
      <p:sp>
        <p:nvSpPr>
          <p:cNvPr id="14" name="TextBox 13"/>
          <p:cNvSpPr txBox="1"/>
          <p:nvPr/>
        </p:nvSpPr>
        <p:spPr>
          <a:xfrm>
            <a:off x="4663440" y="2194560"/>
            <a:ext cx="4114800" cy="2194560"/>
          </a:xfrm>
          <a:prstGeom prst="rect">
            <a:avLst/>
          </a:prstGeom>
          <a:noFill/>
        </p:spPr>
        <p:txBody>
          <a:bodyPr wrap="square" anchor="t" lIns="73152" rIns="73152" tIns="54864" bIns="54864">
            <a:spAutoFit/>
          </a:bodyPr>
          <a:lstStyle/>
          <a:p>
            <a:pPr>
              <a:spcAft>
                <a:spcPts val="400"/>
              </a:spcAft>
            </a:pPr>
            <a:r>
              <a:rPr sz="1100" b="1" i="0">
                <a:solidFill>
                  <a:srgbClr val="161D26"/>
                </a:solidFill>
                <a:latin typeface="Amazon Ember"/>
              </a:rPr>
              <a:t>A predicate is a yes/no question about two shapes.</a:t>
            </a:r>
          </a:p>
          <a:p>
            <a:pPr>
              <a:spcAft>
                <a:spcPts val="400"/>
              </a:spcAft>
            </a:pPr>
            <a:r>
              <a:rPr sz="1100" b="0" i="0">
                <a:solidFill>
                  <a:srgbClr val="161D26"/>
                </a:solidFill>
                <a:latin typeface="Amazon Ember"/>
              </a:rPr>
              <a:t>It goes in WHERE like any other condition.</a:t>
            </a:r>
          </a:p>
          <a:p>
            <a:pPr>
              <a:spcAft>
                <a:spcPts val="400"/>
              </a:spcAft>
            </a:pPr>
            <a:r>
              <a:rPr sz="1100" b="1" i="0">
                <a:solidFill>
                  <a:srgbClr val="161D26"/>
                </a:solidFill>
                <a:latin typeface="Amazon Ember"/>
              </a:rPr>
              <a:t>Phase 1b answer: </a:t>
            </a:r>
            <a:r>
              <a:rPr sz="1100" b="0" i="0">
                <a:solidFill>
                  <a:srgbClr val="161D26"/>
                </a:solidFill>
                <a:latin typeface="Amazon Ember"/>
              </a:rPr>
              <a:t>three shelters sit in a Very High zone — Colfax High School, Sierra Vista Community Center, Georgetown School.</a:t>
            </a:r>
          </a:p>
          <a:p>
            <a:pPr>
              <a:spcAft>
                <a:spcPts val="400"/>
              </a:spcAft>
            </a:pPr>
            <a:r>
              <a:rPr sz="1100" b="1" i="0">
                <a:solidFill>
                  <a:srgbClr val="B30000"/>
                </a:solidFill>
                <a:latin typeface="Amazon Ember"/>
              </a:rPr>
              <a:t>DuckDB 2.0 gotcha: </a:t>
            </a:r>
            <a:r>
              <a:rPr sz="1100" b="0" i="0">
                <a:solidFill>
                  <a:srgbClr val="FF6101"/>
                </a:solidFill>
                <a:latin typeface="Menlo"/>
              </a:rPr>
              <a:t>SET geometry_always_xy = true;</a:t>
            </a:r>
            <a:r>
              <a:rPr sz="1100" b="0" i="0">
                <a:solidFill>
                  <a:srgbClr val="161D26"/>
                </a:solidFill>
                <a:latin typeface="Amazon Ember"/>
              </a:rPr>
              <a:t> right after </a:t>
            </a:r>
            <a:r>
              <a:rPr sz="1100" b="0" i="0">
                <a:solidFill>
                  <a:srgbClr val="FF6101"/>
                </a:solidFill>
                <a:latin typeface="Menlo"/>
              </a:rPr>
              <a:t>LOAD spatial;</a:t>
            </a:r>
            <a:r>
              <a:rPr sz="1100" b="0" i="0">
                <a:solidFill>
                  <a:srgbClr val="161D26"/>
                </a:solidFill>
                <a:latin typeface="Amazon Ember"/>
              </a:rPr>
              <a:t> or the GeoJSON writer swaps lat/lon.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Columns cheat sheet — raw Overture vs. our GeoJSON</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graphicFrame>
        <p:nvGraphicFramePr>
          <p:cNvPr id="11" name="Table 10"/>
          <p:cNvGraphicFramePr>
            <a:graphicFrameLocks noGrp="1"/>
          </p:cNvGraphicFramePr>
          <p:nvPr/>
        </p:nvGraphicFramePr>
        <p:xfrm>
          <a:off x="384048" y="960120"/>
          <a:ext cx="5486400" cy="1975104"/>
        </p:xfrm>
        <a:graphic>
          <a:graphicData uri="http://schemas.openxmlformats.org/drawingml/2006/table">
            <a:tbl>
              <a:tblPr firstRow="1" bandRow="1">
                <a:tableStyleId>{5C22544A-7EE6-4342-B048-85BDC9FD1C3A}</a:tableStyleId>
              </a:tblPr>
              <a:tblGrid>
                <a:gridCol w="1645920"/>
                <a:gridCol w="2103120"/>
                <a:gridCol w="1737360"/>
              </a:tblGrid>
              <a:tr h="329184">
                <a:tc>
                  <a:txBody>
                    <a:bodyPr/>
                    <a:lstStyle/>
                    <a:p>
                      <a:r>
                        <a:rPr sz="1050" b="1" i="0">
                          <a:solidFill>
                            <a:srgbClr val="FFFFFF"/>
                          </a:solidFill>
                          <a:latin typeface="Amazon Ember"/>
                        </a:rPr>
                        <a:t>We want</a:t>
                      </a:r>
                    </a:p>
                  </a:txBody>
                  <a:tcPr marL="54864" marR="54864" marT="22860" marB="22860">
                    <a:solidFill>
                      <a:srgbClr val="161D26"/>
                    </a:solidFill>
                  </a:tcPr>
                </a:tc>
                <a:tc>
                  <a:txBody>
                    <a:bodyPr/>
                    <a:lstStyle/>
                    <a:p>
                      <a:r>
                        <a:rPr sz="1050" b="1" i="0">
                          <a:solidFill>
                            <a:srgbClr val="FFFFFF"/>
                          </a:solidFill>
                          <a:latin typeface="Amazon Ember"/>
                        </a:rPr>
                        <a:t>Raw Overture (S3)</a:t>
                      </a:r>
                    </a:p>
                  </a:txBody>
                  <a:tcPr marL="54864" marR="54864" marT="22860" marB="22860">
                    <a:solidFill>
                      <a:srgbClr val="161D26"/>
                    </a:solidFill>
                  </a:tcPr>
                </a:tc>
                <a:tc>
                  <a:txBody>
                    <a:bodyPr/>
                    <a:lstStyle/>
                    <a:p>
                      <a:r>
                        <a:rPr sz="1050" b="1" i="0">
                          <a:solidFill>
                            <a:srgbClr val="FFFFFF"/>
                          </a:solidFill>
                          <a:latin typeface="Amazon Ember"/>
                        </a:rPr>
                        <a:t>Our data/overture/*.geojson</a:t>
                      </a:r>
                    </a:p>
                  </a:txBody>
                  <a:tcPr marL="54864" marR="54864" marT="22860" marB="22860">
                    <a:solidFill>
                      <a:srgbClr val="161D26"/>
                    </a:solidFill>
                  </a:tcPr>
                </a:tc>
              </a:tr>
              <a:tr h="329184">
                <a:tc>
                  <a:txBody>
                    <a:bodyPr/>
                    <a:lstStyle/>
                    <a:p>
                      <a:r>
                        <a:rPr sz="1050" b="0" i="0">
                          <a:solidFill>
                            <a:srgbClr val="161D26"/>
                          </a:solidFill>
                          <a:latin typeface="Amazon Ember"/>
                        </a:rPr>
                        <a:t>a place's name</a:t>
                      </a:r>
                    </a:p>
                  </a:txBody>
                  <a:tcPr marL="54864" marR="54864" marT="22860" marB="22860">
                    <a:solidFill>
                      <a:srgbClr val="F9F9F9"/>
                    </a:solidFill>
                  </a:tcPr>
                </a:tc>
                <a:tc>
                  <a:txBody>
                    <a:bodyPr/>
                    <a:lstStyle/>
                    <a:p>
                      <a:r>
                        <a:rPr sz="1050" b="0" i="0">
                          <a:solidFill>
                            <a:srgbClr val="FF6101"/>
                          </a:solidFill>
                          <a:latin typeface="Menlo"/>
                        </a:rPr>
                        <a:t>names.primary</a:t>
                      </a:r>
                    </a:p>
                  </a:txBody>
                  <a:tcPr marL="54864" marR="54864" marT="22860" marB="22860">
                    <a:solidFill>
                      <a:srgbClr val="F9F9F9"/>
                    </a:solidFill>
                  </a:tcPr>
                </a:tc>
                <a:tc>
                  <a:txBody>
                    <a:bodyPr/>
                    <a:lstStyle/>
                    <a:p>
                      <a:r>
                        <a:rPr sz="1050" b="0" i="0">
                          <a:solidFill>
                            <a:srgbClr val="FF6101"/>
                          </a:solidFill>
                          <a:latin typeface="Menlo"/>
                        </a:rPr>
                        <a:t>name</a:t>
                      </a:r>
                    </a:p>
                  </a:txBody>
                  <a:tcPr marL="54864" marR="54864" marT="22860" marB="22860">
                    <a:solidFill>
                      <a:srgbClr val="F9F9F9"/>
                    </a:solidFill>
                  </a:tcPr>
                </a:tc>
              </a:tr>
              <a:tr h="329184">
                <a:tc>
                  <a:txBody>
                    <a:bodyPr/>
                    <a:lstStyle/>
                    <a:p>
                      <a:r>
                        <a:rPr sz="1050" b="0" i="0">
                          <a:solidFill>
                            <a:srgbClr val="161D26"/>
                          </a:solidFill>
                          <a:latin typeface="Amazon Ember"/>
                        </a:rPr>
                        <a:t>a place's category</a:t>
                      </a:r>
                    </a:p>
                  </a:txBody>
                  <a:tcPr marL="54864" marR="54864" marT="22860" marB="22860">
                    <a:solidFill>
                      <a:srgbClr val="FFFFFF"/>
                    </a:solidFill>
                  </a:tcPr>
                </a:tc>
                <a:tc>
                  <a:txBody>
                    <a:bodyPr/>
                    <a:lstStyle/>
                    <a:p>
                      <a:r>
                        <a:rPr sz="1050" b="0" i="0">
                          <a:solidFill>
                            <a:srgbClr val="FF6101"/>
                          </a:solidFill>
                          <a:latin typeface="Menlo"/>
                        </a:rPr>
                        <a:t>taxonomy.primary</a:t>
                      </a:r>
                    </a:p>
                  </a:txBody>
                  <a:tcPr marL="54864" marR="54864" marT="22860" marB="22860">
                    <a:solidFill>
                      <a:srgbClr val="FFFFFF"/>
                    </a:solidFill>
                  </a:tcPr>
                </a:tc>
                <a:tc>
                  <a:txBody>
                    <a:bodyPr/>
                    <a:lstStyle/>
                    <a:p>
                      <a:r>
                        <a:rPr sz="1050" b="0" i="0">
                          <a:solidFill>
                            <a:srgbClr val="FF6101"/>
                          </a:solidFill>
                          <a:latin typeface="Menlo"/>
                        </a:rPr>
                        <a:t>category</a:t>
                      </a:r>
                    </a:p>
                  </a:txBody>
                  <a:tcPr marL="54864" marR="54864" marT="22860" marB="22860">
                    <a:solidFill>
                      <a:srgbClr val="FFFFFF"/>
                    </a:solidFill>
                  </a:tcPr>
                </a:tc>
              </a:tr>
              <a:tr h="329184">
                <a:tc>
                  <a:txBody>
                    <a:bodyPr/>
                    <a:lstStyle/>
                    <a:p>
                      <a:r>
                        <a:rPr sz="1050" b="0" i="0">
                          <a:solidFill>
                            <a:srgbClr val="161D26"/>
                          </a:solidFill>
                          <a:latin typeface="Amazon Ember"/>
                        </a:rPr>
                        <a:t>how sure Overture is</a:t>
                      </a:r>
                    </a:p>
                  </a:txBody>
                  <a:tcPr marL="54864" marR="54864" marT="22860" marB="22860">
                    <a:solidFill>
                      <a:srgbClr val="F9F9F9"/>
                    </a:solidFill>
                  </a:tcPr>
                </a:tc>
                <a:tc>
                  <a:txBody>
                    <a:bodyPr/>
                    <a:lstStyle/>
                    <a:p>
                      <a:r>
                        <a:rPr sz="1050" b="0" i="0">
                          <a:solidFill>
                            <a:srgbClr val="FF6101"/>
                          </a:solidFill>
                          <a:latin typeface="Menlo"/>
                        </a:rPr>
                        <a:t>confidence</a:t>
                      </a:r>
                      <a:r>
                        <a:rPr sz="1050" b="0" i="0">
                          <a:solidFill>
                            <a:srgbClr val="161D26"/>
                          </a:solidFill>
                          <a:latin typeface="Amazon Ember"/>
                        </a:rPr>
                        <a:t> (use &gt;= 0.7)</a:t>
                      </a:r>
                    </a:p>
                  </a:txBody>
                  <a:tcPr marL="54864" marR="54864" marT="22860" marB="22860">
                    <a:solidFill>
                      <a:srgbClr val="F9F9F9"/>
                    </a:solidFill>
                  </a:tcPr>
                </a:tc>
                <a:tc>
                  <a:txBody>
                    <a:bodyPr/>
                    <a:lstStyle/>
                    <a:p>
                      <a:r>
                        <a:rPr sz="1050" b="0" i="0">
                          <a:solidFill>
                            <a:srgbClr val="161D26"/>
                          </a:solidFill>
                          <a:latin typeface="Amazon Ember"/>
                        </a:rPr>
                        <a:t>same</a:t>
                      </a:r>
                    </a:p>
                  </a:txBody>
                  <a:tcPr marL="54864" marR="54864" marT="22860" marB="22860">
                    <a:solidFill>
                      <a:srgbClr val="F9F9F9"/>
                    </a:solidFill>
                  </a:tcPr>
                </a:tc>
              </a:tr>
              <a:tr h="329184">
                <a:tc>
                  <a:txBody>
                    <a:bodyPr/>
                    <a:lstStyle/>
                    <a:p>
                      <a:r>
                        <a:rPr sz="1050" b="0" i="0">
                          <a:solidFill>
                            <a:srgbClr val="161D26"/>
                          </a:solidFill>
                          <a:latin typeface="Amazon Ember"/>
                        </a:rPr>
                        <a:t>road type</a:t>
                      </a:r>
                    </a:p>
                  </a:txBody>
                  <a:tcPr marL="54864" marR="54864" marT="22860" marB="22860">
                    <a:solidFill>
                      <a:srgbClr val="FFFFFF"/>
                    </a:solidFill>
                  </a:tcPr>
                </a:tc>
                <a:tc>
                  <a:txBody>
                    <a:bodyPr/>
                    <a:lstStyle/>
                    <a:p>
                      <a:r>
                        <a:rPr sz="1050" b="0" i="0">
                          <a:solidFill>
                            <a:srgbClr val="FF6101"/>
                          </a:solidFill>
                          <a:latin typeface="Menlo"/>
                        </a:rPr>
                        <a:t>class</a:t>
                      </a:r>
                      <a:r>
                        <a:rPr sz="1050" b="0" i="0">
                          <a:solidFill>
                            <a:srgbClr val="161D26"/>
                          </a:solidFill>
                          <a:latin typeface="Amazon Ember"/>
                        </a:rPr>
                        <a:t>, </a:t>
                      </a:r>
                      <a:r>
                        <a:rPr sz="1050" b="0" i="0">
                          <a:solidFill>
                            <a:srgbClr val="FF6101"/>
                          </a:solidFill>
                          <a:latin typeface="Menlo"/>
                        </a:rPr>
                        <a:t>subclass</a:t>
                      </a:r>
                    </a:p>
                  </a:txBody>
                  <a:tcPr marL="54864" marR="54864" marT="22860" marB="22860">
                    <a:solidFill>
                      <a:srgbClr val="FFFFFF"/>
                    </a:solidFill>
                  </a:tcPr>
                </a:tc>
                <a:tc>
                  <a:txBody>
                    <a:bodyPr/>
                    <a:lstStyle/>
                    <a:p>
                      <a:r>
                        <a:rPr sz="1050" b="0" i="0">
                          <a:solidFill>
                            <a:srgbClr val="161D26"/>
                          </a:solidFill>
                          <a:latin typeface="Amazon Ember"/>
                        </a:rPr>
                        <a:t>same</a:t>
                      </a:r>
                    </a:p>
                  </a:txBody>
                  <a:tcPr marL="54864" marR="54864" marT="22860" marB="22860">
                    <a:solidFill>
                      <a:srgbClr val="FFFFFF"/>
                    </a:solidFill>
                  </a:tcPr>
                </a:tc>
              </a:tr>
              <a:tr h="329184">
                <a:tc>
                  <a:txBody>
                    <a:bodyPr/>
                    <a:lstStyle/>
                    <a:p>
                      <a:r>
                        <a:rPr sz="1050" b="0" i="0">
                          <a:solidFill>
                            <a:srgbClr val="161D26"/>
                          </a:solidFill>
                          <a:latin typeface="Amazon Ember"/>
                        </a:rPr>
                        <a:t>the shape</a:t>
                      </a:r>
                    </a:p>
                  </a:txBody>
                  <a:tcPr marL="54864" marR="54864" marT="22860" marB="22860">
                    <a:solidFill>
                      <a:srgbClr val="F9F9F9"/>
                    </a:solidFill>
                  </a:tcPr>
                </a:tc>
                <a:tc>
                  <a:txBody>
                    <a:bodyPr/>
                    <a:lstStyle/>
                    <a:p>
                      <a:r>
                        <a:rPr sz="1050" b="0" i="0">
                          <a:solidFill>
                            <a:srgbClr val="FF6101"/>
                          </a:solidFill>
                          <a:latin typeface="Menlo"/>
                        </a:rPr>
                        <a:t>geometry</a:t>
                      </a:r>
                    </a:p>
                  </a:txBody>
                  <a:tcPr marL="54864" marR="54864" marT="22860" marB="22860">
                    <a:solidFill>
                      <a:srgbClr val="F9F9F9"/>
                    </a:solidFill>
                  </a:tcPr>
                </a:tc>
                <a:tc>
                  <a:txBody>
                    <a:bodyPr/>
                    <a:lstStyle/>
                    <a:p>
                      <a:r>
                        <a:rPr sz="1050" b="0" i="0">
                          <a:solidFill>
                            <a:srgbClr val="161D26"/>
                          </a:solidFill>
                          <a:latin typeface="Amazon Ember"/>
                        </a:rPr>
                        <a:t>same</a:t>
                      </a:r>
                    </a:p>
                  </a:txBody>
                  <a:tcPr marL="54864" marR="54864" marT="22860" marB="22860">
                    <a:solidFill>
                      <a:srgbClr val="F9F9F9"/>
                    </a:solidFill>
                  </a:tcPr>
                </a:tc>
              </a:tr>
            </a:tbl>
          </a:graphicData>
        </a:graphic>
      </p:graphicFrame>
      <p:sp>
        <p:nvSpPr>
          <p:cNvPr id="12" name="TextBox 11"/>
          <p:cNvSpPr txBox="1"/>
          <p:nvPr/>
        </p:nvSpPr>
        <p:spPr>
          <a:xfrm>
            <a:off x="6080760" y="960120"/>
            <a:ext cx="2697480" cy="3474720"/>
          </a:xfrm>
          <a:prstGeom prst="rect">
            <a:avLst/>
          </a:prstGeom>
          <a:noFill/>
        </p:spPr>
        <p:txBody>
          <a:bodyPr wrap="square" anchor="t" lIns="73152" rIns="73152" tIns="54864" bIns="54864">
            <a:spAutoFit/>
          </a:bodyPr>
          <a:lstStyle/>
          <a:p>
            <a:pPr>
              <a:spcAft>
                <a:spcPts val="400"/>
              </a:spcAft>
            </a:pPr>
            <a:r>
              <a:rPr sz="1050" b="0" i="0">
                <a:solidFill>
                  <a:srgbClr val="FF6101"/>
                </a:solidFill>
                <a:latin typeface="Menlo"/>
              </a:rPr>
              <a:t>scripts/fetch-overture.sh</a:t>
            </a:r>
            <a:r>
              <a:rPr sz="1050" b="0" i="0">
                <a:solidFill>
                  <a:srgbClr val="161D26"/>
                </a:solidFill>
                <a:latin typeface="Amazon Ember"/>
              </a:rPr>
              <a:t> already flattened these — today we type the right-hand column.</a:t>
            </a:r>
          </a:p>
          <a:p>
            <a:pPr>
              <a:spcAft>
                <a:spcPts val="400"/>
              </a:spcAft>
            </a:pPr>
            <a:r>
              <a:rPr sz="1050" b="0" i="0">
                <a:solidFill>
                  <a:srgbClr val="FF6101"/>
                </a:solidFill>
                <a:latin typeface="Menlo"/>
              </a:rPr>
              <a:t>categories</a:t>
            </a:r>
            <a:r>
              <a:rPr sz="1050" b="0" i="0">
                <a:solidFill>
                  <a:srgbClr val="161D26"/>
                </a:solidFill>
                <a:latin typeface="Amazon Ember"/>
              </a:rPr>
              <a:t> was removed in Sep 2026 → </a:t>
            </a:r>
            <a:r>
              <a:rPr sz="1050" b="0" i="0">
                <a:solidFill>
                  <a:srgbClr val="FF6101"/>
                </a:solidFill>
                <a:latin typeface="Menlo"/>
              </a:rPr>
              <a:t>taxonomy.primary</a:t>
            </a:r>
          </a:p>
          <a:p>
            <a:pPr>
              <a:spcAft>
                <a:spcPts val="400"/>
              </a:spcAft>
            </a:pPr>
            <a:r>
              <a:rPr sz="1050" b="0" i="0">
                <a:solidFill>
                  <a:srgbClr val="161D26"/>
                </a:solidFill>
                <a:latin typeface="Amazon Ember"/>
              </a:rPr>
              <a:t>There is no "fairground" category — Gold Country Fairgrounds hides under another one.</a:t>
            </a:r>
          </a:p>
          <a:p>
            <a:pPr>
              <a:spcAft>
                <a:spcPts val="400"/>
              </a:spcAft>
            </a:pPr>
            <a:r>
              <a:rPr sz="1050" b="1" i="0">
                <a:solidFill>
                  <a:srgbClr val="161D26"/>
                </a:solidFill>
                <a:latin typeface="Amazon Ember"/>
              </a:rPr>
              <a:t>Writing GeoJSON: </a:t>
            </a:r>
            <a:r>
              <a:rPr sz="1050" b="0" i="0">
                <a:solidFill>
                  <a:srgbClr val="FF6101"/>
                </a:solidFill>
                <a:latin typeface="Menlo"/>
              </a:rPr>
              <a:t>SET geometry_always_xy = true</a:t>
            </a:r>
            <a:r>
              <a:rPr sz="1050" b="0" i="0">
                <a:solidFill>
                  <a:srgbClr val="161D26"/>
                </a:solidFill>
                <a:latin typeface="Amazon Ember"/>
              </a:rPr>
              <a:t> first, or lat/lon come out swapped.</a:t>
            </a:r>
          </a:p>
          <a:p>
            <a:pPr>
              <a:spcAft>
                <a:spcPts val="400"/>
              </a:spcAft>
            </a:pPr>
            <a:r>
              <a:rPr sz="1050" b="1" i="0">
                <a:solidFill>
                  <a:srgbClr val="161D26"/>
                </a:solidFill>
                <a:latin typeface="Amazon Ember"/>
              </a:rPr>
              <a:t>The noise is the lesson: </a:t>
            </a:r>
            <a:r>
              <a:rPr sz="1050" b="0" i="0">
                <a:solidFill>
                  <a:srgbClr val="161D26"/>
                </a:solidFill>
                <a:latin typeface="Amazon Ember"/>
              </a:rPr>
              <a:t>John L Sullivan Chevrolet is a community_center at confidence 0.92.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1 · hands-on — data prep with DuckDB</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896112"/>
            <a:ext cx="4160520" cy="3566160"/>
          </a:xfrm>
          <a:prstGeom prst="rect">
            <a:avLst/>
          </a:prstGeom>
          <a:noFill/>
        </p:spPr>
        <p:txBody>
          <a:bodyPr wrap="square" anchor="t" lIns="73152" rIns="73152" tIns="54864" bIns="54864">
            <a:spAutoFit/>
          </a:bodyPr>
          <a:lstStyle/>
          <a:p>
            <a:pPr>
              <a:spcAft>
                <a:spcPts val="400"/>
              </a:spcAft>
            </a:pPr>
            <a:r>
              <a:rPr sz="1000" b="1" i="0">
                <a:solidFill>
                  <a:srgbClr val="FF6101"/>
                </a:solidFill>
                <a:latin typeface="Amazon Ember"/>
              </a:rPr>
              <a:t>1a · Look around</a:t>
            </a:r>
          </a:p>
          <a:p>
            <a:pPr>
              <a:spcAft>
                <a:spcPts val="400"/>
              </a:spcAft>
            </a:pPr>
            <a:r>
              <a:rPr sz="1000" b="0" i="0">
                <a:solidFill>
                  <a:srgbClr val="FF6101"/>
                </a:solidFill>
                <a:latin typeface="Menlo"/>
              </a:rPr>
              <a:t>duckdb -c ".read 00-data/01-explore.sql"</a:t>
            </a:r>
          </a:p>
          <a:p>
            <a:pPr>
              <a:spcAft>
                <a:spcPts val="400"/>
              </a:spcAft>
            </a:pPr>
            <a:r>
              <a:rPr sz="1000" b="0" i="0">
                <a:solidFill>
                  <a:srgbClr val="161D26"/>
                </a:solidFill>
                <a:latin typeface="Amazon Ember"/>
              </a:rPr>
              <a:t>DESCRIBE roads · roads by class · top-15 place categories → expected output printed in the file</a:t>
            </a:r>
          </a:p>
          <a:p>
            <a:pPr>
              <a:spcAft>
                <a:spcPts val="400"/>
              </a:spcAft>
            </a:pPr>
            <a:r>
              <a:rPr sz="1000" b="1" i="0">
                <a:solidFill>
                  <a:srgbClr val="FF6101"/>
                </a:solidFill>
                <a:latin typeface="Amazon Ember"/>
              </a:rPr>
              <a:t>1b · Candidate shelters</a:t>
            </a:r>
          </a:p>
          <a:p>
            <a:pPr>
              <a:spcAft>
                <a:spcPts val="400"/>
              </a:spcAft>
            </a:pPr>
            <a:r>
              <a:rPr sz="1000" b="0" i="0">
                <a:solidFill>
                  <a:srgbClr val="FF6101"/>
                </a:solidFill>
                <a:latin typeface="Menlo"/>
              </a:rPr>
              <a:t>duckdb -c ".read 00-data/02-shelters.sql"</a:t>
            </a:r>
          </a:p>
          <a:p>
            <a:pPr>
              <a:spcAft>
                <a:spcPts val="400"/>
              </a:spcAft>
            </a:pPr>
            <a:r>
              <a:rPr sz="1000" b="0" i="0">
                <a:solidFill>
                  <a:srgbClr val="161D26"/>
                </a:solidFill>
                <a:latin typeface="Amazon Ember"/>
              </a:rPr>
              <a:t>community_center + confidence ≥ 0.7 → spot the Chevrolet dealer → open data/shelters.geojson → ST_Intersects with FHSZ</a:t>
            </a:r>
          </a:p>
          <a:p>
            <a:pPr>
              <a:spcAft>
                <a:spcPts val="400"/>
              </a:spcAft>
            </a:pPr>
            <a:r>
              <a:rPr sz="1000" b="1" i="0">
                <a:solidFill>
                  <a:srgbClr val="FF6101"/>
                </a:solidFill>
                <a:latin typeface="Amazon Ember"/>
              </a:rPr>
              <a:t>1c · Export</a:t>
            </a:r>
          </a:p>
          <a:p>
            <a:pPr>
              <a:spcAft>
                <a:spcPts val="400"/>
              </a:spcAft>
            </a:pPr>
            <a:r>
              <a:rPr sz="1000" b="0" i="0">
                <a:solidFill>
                  <a:srgbClr val="161D26"/>
                </a:solidFill>
                <a:latin typeface="Amazon Ember"/>
              </a:rPr>
              <a:t>write GeoJSON with SQL (right): </a:t>
            </a:r>
          </a:p>
          <a:p>
            <a:pPr>
              <a:spcAft>
                <a:spcPts val="400"/>
              </a:spcAft>
            </a:pPr>
            <a:r>
              <a:rPr sz="1000" b="0" i="0">
                <a:solidFill>
                  <a:srgbClr val="FF6101"/>
                </a:solidFill>
                <a:latin typeface="Menlo"/>
              </a:rPr>
              <a:t>duckdb -c ".read 00-data/03-export.sql"</a:t>
            </a:r>
            <a:r>
              <a:rPr sz="1000" b="0" i="0">
                <a:solidFill>
                  <a:srgbClr val="161D26"/>
                </a:solidFill>
                <a:latin typeface="Amazon Ember"/>
              </a:rPr>
              <a:t> → out/shelter-candidates.geojson, 95 places</a:t>
            </a:r>
          </a:p>
          <a:p>
            <a:pPr>
              <a:spcAft>
                <a:spcPts val="400"/>
              </a:spcAft>
            </a:pPr>
            <a:r>
              <a:rPr sz="1000" b="1" i="0">
                <a:solidFill>
                  <a:srgbClr val="161D26"/>
                </a:solidFill>
                <a:latin typeface="Amazon Ember"/>
              </a:rPr>
              <a:t>Nothing later depends on 1c</a:t>
            </a:r>
            <a:r>
              <a:rPr sz="1000" b="0" i="0">
                <a:solidFill>
                  <a:srgbClr val="161D26"/>
                </a:solidFill>
                <a:latin typeface="Amazon Ember"/>
              </a:rPr>
              <a:t> — behind? move on.</a:t>
            </a:r>
          </a:p>
        </p:txBody>
      </p:sp>
      <p:sp>
        <p:nvSpPr>
          <p:cNvPr id="12" name="Rectangle 11"/>
          <p:cNvSpPr/>
          <p:nvPr/>
        </p:nvSpPr>
        <p:spPr>
          <a:xfrm>
            <a:off x="4709160" y="914400"/>
            <a:ext cx="4069080" cy="137160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900">
                <a:solidFill>
                  <a:srgbClr val="161D26"/>
                </a:solidFill>
                <a:latin typeface="Menlo"/>
              </a:rPr>
              <a:t>LOAD spatial; SET geometry_always_xy = true;</a:t>
            </a:r>
          </a:p>
          <a:p>
            <a:pPr algn="l">
              <a:spcAft>
                <a:spcPts val="0"/>
              </a:spcAft>
            </a:pPr>
            <a:r>
              <a:rPr sz="900">
                <a:solidFill>
                  <a:srgbClr val="161D26"/>
                </a:solidFill>
                <a:latin typeface="Menlo"/>
              </a:rPr>
              <a:t>COPY (SELECT id, name, category, confidence, geom</a:t>
            </a:r>
          </a:p>
          <a:p>
            <a:pPr algn="l">
              <a:spcAft>
                <a:spcPts val="0"/>
              </a:spcAft>
            </a:pPr>
            <a:r>
              <a:rPr sz="900">
                <a:solidFill>
                  <a:srgbClr val="161D26"/>
                </a:solidFill>
                <a:latin typeface="Menlo"/>
              </a:rPr>
              <a:t>      FROM ST_Read('data/overture/places.geojson')</a:t>
            </a:r>
          </a:p>
          <a:p>
            <a:pPr algn="l">
              <a:spcAft>
                <a:spcPts val="0"/>
              </a:spcAft>
            </a:pPr>
            <a:r>
              <a:rPr sz="900">
                <a:solidFill>
                  <a:srgbClr val="161D26"/>
                </a:solidFill>
                <a:latin typeface="Menlo"/>
              </a:rPr>
              <a:t>      WHERE category IN ('school','community_center', … ))</a:t>
            </a:r>
          </a:p>
          <a:p>
            <a:pPr algn="l">
              <a:spcAft>
                <a:spcPts val="0"/>
              </a:spcAft>
            </a:pPr>
            <a:r>
              <a:rPr sz="900">
                <a:solidFill>
                  <a:srgbClr val="161D26"/>
                </a:solidFill>
                <a:latin typeface="Menlo"/>
              </a:rPr>
              <a:t>TO 'out/shelter-candidates.geojson' (FORMAT GDAL, DRIVER 'GeoJSON');</a:t>
            </a:r>
          </a:p>
        </p:txBody>
      </p:sp>
      <p:sp>
        <p:nvSpPr>
          <p:cNvPr id="13" name="TextBox 12"/>
          <p:cNvSpPr txBox="1"/>
          <p:nvPr/>
        </p:nvSpPr>
        <p:spPr>
          <a:xfrm>
            <a:off x="4709160" y="2423160"/>
            <a:ext cx="4069080" cy="2011680"/>
          </a:xfrm>
          <a:prstGeom prst="rect">
            <a:avLst/>
          </a:prstGeom>
          <a:noFill/>
        </p:spPr>
        <p:txBody>
          <a:bodyPr wrap="square" anchor="t" lIns="73152" rIns="73152" tIns="54864" bIns="54864">
            <a:spAutoFit/>
          </a:bodyPr>
          <a:lstStyle/>
          <a:p>
            <a:pPr>
              <a:spcAft>
                <a:spcPts val="400"/>
              </a:spcAft>
            </a:pPr>
            <a:r>
              <a:rPr sz="1000" b="1" i="0">
                <a:solidFill>
                  <a:srgbClr val="161D26"/>
                </a:solidFill>
                <a:latin typeface="Amazon Ember"/>
              </a:rPr>
              <a:t>Exercises</a:t>
            </a:r>
          </a:p>
          <a:p>
            <a:pPr>
              <a:spcAft>
                <a:spcPts val="400"/>
              </a:spcAft>
            </a:pPr>
            <a:r>
              <a:rPr sz="1000" b="1" i="0">
                <a:solidFill>
                  <a:srgbClr val="FF6101"/>
                </a:solidFill>
                <a:latin typeface="Amazon Ember"/>
              </a:rPr>
              <a:t>A</a:t>
            </a:r>
            <a:r>
              <a:rPr sz="1000" b="0" i="0">
                <a:solidFill>
                  <a:srgbClr val="161D26"/>
                </a:solidFill>
                <a:latin typeface="Amazon Ember"/>
              </a:rPr>
              <a:t> count motorway + trunk + primary → 1,909</a:t>
            </a:r>
          </a:p>
          <a:p>
            <a:pPr>
              <a:spcAft>
                <a:spcPts val="400"/>
              </a:spcAft>
            </a:pPr>
            <a:r>
              <a:rPr sz="1000" b="1" i="0">
                <a:solidFill>
                  <a:srgbClr val="FF6101"/>
                </a:solidFill>
                <a:latin typeface="Amazon Ember"/>
              </a:rPr>
              <a:t>B</a:t>
            </a:r>
            <a:r>
              <a:rPr sz="1000" b="0" i="0">
                <a:solidFill>
                  <a:srgbClr val="161D26"/>
                </a:solidFill>
                <a:latin typeface="Amazon Ember"/>
              </a:rPr>
              <a:t> crow-flies nearest shelter to Foresthill (-120.8182, 39.0199) → Georgetown School, 12.4 km. </a:t>
            </a:r>
            <a:r>
              <a:rPr sz="1000" b="1" i="0">
                <a:solidFill>
                  <a:srgbClr val="161D26"/>
                </a:solidFill>
                <a:latin typeface="Amazon Ember"/>
              </a:rPr>
              <a:t>Remember it for Phase 3c.</a:t>
            </a:r>
          </a:p>
          <a:p>
            <a:pPr>
              <a:spcAft>
                <a:spcPts val="400"/>
              </a:spcAft>
            </a:pPr>
            <a:r>
              <a:rPr sz="1000" b="1" i="0">
                <a:solidFill>
                  <a:srgbClr val="FF6101"/>
                </a:solidFill>
                <a:latin typeface="Amazon Ember"/>
              </a:rPr>
              <a:t>C (finish early)</a:t>
            </a:r>
            <a:r>
              <a:rPr sz="1000" b="0" i="0">
                <a:solidFill>
                  <a:srgbClr val="161D26"/>
                </a:solidFill>
                <a:latin typeface="Amazon Ember"/>
              </a:rPr>
              <a:t> count the roads inside the Colfax box with ST_Intersects</a:t>
            </a:r>
          </a:p>
          <a:p>
            <a:pPr>
              <a:spcAft>
                <a:spcPts val="400"/>
              </a:spcAft>
            </a:pPr>
            <a:r>
              <a:rPr sz="1000" b="1" i="0">
                <a:solidFill>
                  <a:srgbClr val="161D26"/>
                </a:solidFill>
                <a:latin typeface="Amazon Ember"/>
              </a:rPr>
              <a:t>Checkpoint </a:t>
            </a:r>
            <a:r>
              <a:rPr sz="850" b="0" i="0">
                <a:solidFill>
                  <a:srgbClr val="FF6101"/>
                </a:solidFill>
                <a:latin typeface="Menlo"/>
              </a:rPr>
              <a:t>duckdb -c "LOAD spatial; SELECT count(*) FROM ST_Read('data/overture/roads.geojson')"</a:t>
            </a:r>
            <a:r>
              <a:rPr sz="1000" b="0" i="0">
                <a:solidFill>
                  <a:srgbClr val="161D26"/>
                </a:solidFill>
                <a:latin typeface="Amazon Ember"/>
              </a:rPr>
              <a:t> → </a:t>
            </a:r>
            <a:r>
              <a:rPr sz="1000" b="1" i="0">
                <a:solidFill>
                  <a:srgbClr val="161D26"/>
                </a:solidFill>
                <a:latin typeface="Amazon Ember"/>
              </a:rPr>
              <a:t>36,294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FF6101"/>
                </a:solidFill>
              </a:rPr>
              <a:t>PHASE 2 → 3</a:t>
            </a:r>
          </a:p>
          <a:p>
            <a:r>
              <a:rPr sz="3600"/>
              <a:t>Map artifacts → the application</a:t>
            </a:r>
          </a:p>
        </p:txBody>
      </p:sp>
      <p:sp>
        <p:nvSpPr>
          <p:cNvPr id="9" name="Footer Placeholder 5">
            <a:extLst>
              <a:ext uri="{FF2B5EF4-FFF2-40B4-BE49-F238E27FC236}">
                <a16:creationId xmlns:a16="http://schemas.microsoft.com/office/drawing/2014/main" id="{2D4714FF-B25D-F7C4-188C-F8378460F5CD}"/>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71F5A9F8-4432-0796-5F1F-2FC8919117FC}"/>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1069848" y="3703320"/>
            <a:ext cx="6858000" cy="640080"/>
          </a:xfrm>
          <a:prstGeom prst="rect">
            <a:avLst/>
          </a:prstGeom>
          <a:noFill/>
        </p:spPr>
        <p:txBody>
          <a:bodyPr wrap="square" anchor="t" lIns="73152" rIns="73152" tIns="54864" bIns="54864">
            <a:spAutoFit/>
          </a:bodyPr>
          <a:lstStyle/>
          <a:p>
            <a:pPr>
              <a:spcAft>
                <a:spcPts val="400"/>
              </a:spcAft>
            </a:pPr>
            <a:r>
              <a:rPr sz="1200" b="1" i="0">
                <a:solidFill>
                  <a:srgbClr val="161D26"/>
                </a:solidFill>
                <a:latin typeface="Amazon Ember"/>
              </a:rPr>
              <a:t>2a build the tiles · 3a serve &amp; style · 3b three views</a:t>
            </a:r>
            <a:r>
              <a:rPr sz="1200" b="0" i="0">
                <a:solidFill>
                  <a:srgbClr val="6B7280"/>
                </a:solidFill>
                <a:latin typeface="Amazon Ember"/>
              </a:rPr>
              <a:t>   Planetiler 0.10.2 · go-pmtiles 1.31.2 · MapLibre GL JS 6.14 · pmtiles.js 4.5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2 → 3 in one picture — GeoJSON → one tile file → a styled map</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block3-tiles.png"/>
          <p:cNvPicPr>
            <a:picLocks noChangeAspect="1"/>
          </p:cNvPicPr>
          <p:nvPr/>
        </p:nvPicPr>
        <p:blipFill>
          <a:blip r:embed="rId2"/>
          <a:stretch>
            <a:fillRect/>
          </a:stretch>
        </p:blipFill>
        <p:spPr>
          <a:xfrm>
            <a:off x="384048" y="1411661"/>
            <a:ext cx="8385048" cy="2251597"/>
          </a:xfrm>
          <a:prstGeom prst="rect">
            <a:avLst/>
          </a:prstGeom>
        </p:spPr>
      </p:pic>
      <p:sp>
        <p:nvSpPr>
          <p:cNvPr id="12" name="TextBox 11"/>
          <p:cNvSpPr txBox="1"/>
          <p:nvPr/>
        </p:nvSpPr>
        <p:spPr>
          <a:xfrm>
            <a:off x="384048" y="4206240"/>
            <a:ext cx="8385048" cy="411480"/>
          </a:xfrm>
          <a:prstGeom prst="rect">
            <a:avLst/>
          </a:prstGeom>
          <a:noFill/>
        </p:spPr>
        <p:txBody>
          <a:bodyPr wrap="square" anchor="t" lIns="73152" rIns="73152" tIns="54864" bIns="54864">
            <a:spAutoFit/>
          </a:bodyPr>
          <a:lstStyle/>
          <a:p>
            <a:pPr>
              <a:spcAft>
                <a:spcPts val="400"/>
              </a:spcAft>
            </a:pPr>
            <a:r>
              <a:rPr sz="1050" b="1" i="0">
                <a:solidFill>
                  <a:srgbClr val="FF6101"/>
                </a:solidFill>
                <a:latin typeface="Amazon Ember"/>
              </a:rPr>
              <a:t>Phase 2a → 3b: </a:t>
            </a:r>
            <a:r>
              <a:rPr sz="1050" b="0" i="0">
                <a:solidFill>
                  <a:srgbClr val="161D26"/>
                </a:solidFill>
                <a:latin typeface="Amazon Ember"/>
              </a:rPr>
              <a:t>2a build the tiles · 3a serve, render, restyle · 3b three views  ·  </a:t>
            </a:r>
            <a:r>
              <a:rPr sz="1050" b="1" i="0">
                <a:solidFill>
                  <a:srgbClr val="161D26"/>
                </a:solidFill>
                <a:latin typeface="Amazon Ember"/>
              </a:rPr>
              <a:t>Checkpoint </a:t>
            </a:r>
            <a:r>
              <a:rPr sz="950" b="0" i="0">
                <a:solidFill>
                  <a:srgbClr val="FF6101"/>
                </a:solidFill>
                <a:latin typeface="Menlo"/>
              </a:rPr>
              <a:t>curl -sI -H "Range: bytes=0-15" …/out/evac.pmtiles → 206 Partial Content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tiles: the map is cut into a z/x/y quadtree</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explain-quadtree.png"/>
          <p:cNvPicPr>
            <a:picLocks noChangeAspect="1"/>
          </p:cNvPicPr>
          <p:nvPr/>
        </p:nvPicPr>
        <p:blipFill>
          <a:blip r:embed="rId2"/>
          <a:stretch>
            <a:fillRect/>
          </a:stretch>
        </p:blipFill>
        <p:spPr>
          <a:xfrm>
            <a:off x="384048" y="896112"/>
            <a:ext cx="8385048" cy="2572593"/>
          </a:xfrm>
          <a:prstGeom prst="rect">
            <a:avLst/>
          </a:prstGeom>
        </p:spPr>
      </p:pic>
      <p:sp>
        <p:nvSpPr>
          <p:cNvPr id="12" name="TextBox 11"/>
          <p:cNvSpPr txBox="1"/>
          <p:nvPr/>
        </p:nvSpPr>
        <p:spPr>
          <a:xfrm>
            <a:off x="384048" y="3520440"/>
            <a:ext cx="8385048" cy="100584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Each zoom level splits every tile into four. </a:t>
            </a:r>
            <a:r>
              <a:rPr sz="1050" b="0" i="0">
                <a:solidFill>
                  <a:srgbClr val="161D26"/>
                </a:solidFill>
                <a:latin typeface="Amazon Ember"/>
              </a:rPr>
              <a:t>z0 is the whole world in one tile; by z14 the planet is 268 million tiles — but our rectangle touches only 1,218 of them. The browser fetches the handful under the viewport, at the zoom it is showing, and nothing else.</a:t>
            </a:r>
          </a:p>
          <a:p>
            <a:pPr>
              <a:spcAft>
                <a:spcPts val="400"/>
              </a:spcAft>
            </a:pPr>
            <a:r>
              <a:rPr sz="1050" b="1" i="0">
                <a:solidFill>
                  <a:srgbClr val="161D26"/>
                </a:solidFill>
                <a:latin typeface="Amazon Ember"/>
              </a:rPr>
              <a:t>That is why one 6.5 MB file replaces a 17 MB GeoJSON and a database: </a:t>
            </a:r>
            <a:r>
              <a:rPr sz="1050" b="0" i="0">
                <a:solidFill>
                  <a:srgbClr val="161D26"/>
                </a:solidFill>
                <a:latin typeface="Amazon Ember"/>
              </a:rPr>
              <a:t>1,607 tiles for z4–14, each holding only the geometry that matters at that zoom (motorways from z6, residential streets from z10). Zoom in → a new, smaller square; pan → the neighbour square.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Vector tiles, PMTiles and the Range-request trap</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914400"/>
            <a:ext cx="4114800" cy="3566160"/>
          </a:xfrm>
          <a:prstGeom prst="rect">
            <a:avLst/>
          </a:prstGeom>
          <a:noFill/>
        </p:spPr>
        <p:txBody>
          <a:bodyPr wrap="square" anchor="t" lIns="73152" rIns="73152" tIns="54864" bIns="54864">
            <a:spAutoFit/>
          </a:bodyPr>
          <a:lstStyle/>
          <a:p>
            <a:pPr>
              <a:spcAft>
                <a:spcPts val="400"/>
              </a:spcAft>
            </a:pPr>
            <a:r>
              <a:rPr sz="1100" b="1" i="0">
                <a:solidFill>
                  <a:srgbClr val="161D26"/>
                </a:solidFill>
                <a:latin typeface="Amazon Ember"/>
              </a:rPr>
              <a:t>A browser cannot draw 36,294 roads from a 17 MB GeoJSON fast.</a:t>
            </a:r>
          </a:p>
          <a:p>
            <a:pPr>
              <a:spcAft>
                <a:spcPts val="400"/>
              </a:spcAft>
            </a:pPr>
            <a:r>
              <a:rPr sz="1100" b="0" i="0">
                <a:solidFill>
                  <a:srgbClr val="161D26"/>
                </a:solidFill>
                <a:latin typeface="Amazon Ember"/>
              </a:rPr>
              <a:t>So we cut the map into a z/x/y grid. Each tile holds geometry + attributes, not pixels → the browser draws it, so you restyle without rebuilding.</a:t>
            </a:r>
          </a:p>
          <a:p>
            <a:pPr>
              <a:spcAft>
                <a:spcPts val="400"/>
              </a:spcAft>
            </a:pPr>
            <a:r>
              <a:rPr sz="1100" b="1" i="0">
                <a:solidFill>
                  <a:srgbClr val="161D26"/>
                </a:solidFill>
                <a:latin typeface="Amazon Ember"/>
              </a:rPr>
              <a:t>PMTiles</a:t>
            </a:r>
            <a:r>
              <a:rPr sz="1100" b="0" i="0">
                <a:solidFill>
                  <a:srgbClr val="161D26"/>
                </a:solidFill>
                <a:latin typeface="Amazon Ember"/>
              </a:rPr>
              <a:t> = every tile in one file with an index. The browser asks for byte ranges; no tile server, works from any static host (GitHub Pages, S3, a USB stick).</a:t>
            </a:r>
          </a:p>
          <a:p>
            <a:pPr>
              <a:spcAft>
                <a:spcPts val="400"/>
              </a:spcAft>
            </a:pPr>
            <a:r>
              <a:rPr sz="1100" b="1" i="0">
                <a:solidFill>
                  <a:srgbClr val="B30000"/>
                </a:solidFill>
                <a:latin typeface="Amazon Ember"/>
              </a:rPr>
              <a:t>The trap: </a:t>
            </a:r>
            <a:r>
              <a:rPr sz="1100" b="0" i="0">
                <a:solidFill>
                  <a:srgbClr val="FF6101"/>
                </a:solidFill>
                <a:latin typeface="Menlo"/>
              </a:rPr>
              <a:t>python -m http.server</a:t>
            </a:r>
            <a:r>
              <a:rPr sz="1100" b="0" i="0">
                <a:solidFill>
                  <a:srgbClr val="161D26"/>
                </a:solidFill>
                <a:latin typeface="Amazon Ember"/>
              </a:rPr>
              <a:t> ignores Range headers → the map stays blank. Use Caddy (:8080) or </a:t>
            </a:r>
            <a:r>
              <a:rPr sz="1100" b="0" i="0">
                <a:solidFill>
                  <a:srgbClr val="FF6101"/>
                </a:solidFill>
                <a:latin typeface="Menlo"/>
              </a:rPr>
              <a:t>npx serve -l 8080 .</a:t>
            </a:r>
            <a:r>
              <a:rPr sz="1100" b="0" i="0">
                <a:solidFill>
                  <a:srgbClr val="161D26"/>
                </a:solidFill>
                <a:latin typeface="Amazon Ember"/>
              </a:rPr>
              <a:t> and look for </a:t>
            </a:r>
            <a:r>
              <a:rPr sz="1100" b="1" i="0">
                <a:solidFill>
                  <a:srgbClr val="161D26"/>
                </a:solidFill>
                <a:latin typeface="Amazon Ember"/>
              </a:rPr>
              <a:t>206 Partial Content</a:t>
            </a:r>
            <a:r>
              <a:rPr sz="1100" b="0" i="0">
                <a:solidFill>
                  <a:srgbClr val="161D26"/>
                </a:solidFill>
                <a:latin typeface="Amazon Ember"/>
              </a:rPr>
              <a:t>.</a:t>
            </a:r>
          </a:p>
        </p:txBody>
      </p:sp>
      <p:sp>
        <p:nvSpPr>
          <p:cNvPr id="12" name="Rectangle 11"/>
          <p:cNvSpPr/>
          <p:nvPr/>
        </p:nvSpPr>
        <p:spPr>
          <a:xfrm>
            <a:off x="4663440" y="914400"/>
            <a:ext cx="4114800" cy="100584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900">
                <a:solidFill>
                  <a:srgbClr val="161D26"/>
                </a:solidFill>
                <a:latin typeface="Menlo"/>
              </a:rPr>
              <a:t># the only test needed</a:t>
            </a:r>
          </a:p>
          <a:p>
            <a:pPr algn="l">
              <a:spcAft>
                <a:spcPts val="0"/>
              </a:spcAft>
            </a:pPr>
            <a:r>
              <a:rPr sz="900">
                <a:solidFill>
                  <a:srgbClr val="161D26"/>
                </a:solidFill>
                <a:latin typeface="Menlo"/>
              </a:rPr>
              <a:t>curl -sI -H "Range: bytes=0-15" http://localhost:8080/out/evac.pmtiles | head -1</a:t>
            </a:r>
          </a:p>
          <a:p>
            <a:pPr algn="l">
              <a:spcAft>
                <a:spcPts val="0"/>
              </a:spcAft>
            </a:pPr>
            <a:r>
              <a:rPr sz="900">
                <a:solidFill>
                  <a:srgbClr val="161D26"/>
                </a:solidFill>
                <a:latin typeface="Menlo"/>
              </a:rPr>
              <a:t>HTTP/1.1 206 Partial Content</a:t>
            </a:r>
          </a:p>
        </p:txBody>
      </p:sp>
      <p:sp>
        <p:nvSpPr>
          <p:cNvPr id="13" name="Rectangle 12"/>
          <p:cNvSpPr/>
          <p:nvPr/>
        </p:nvSpPr>
        <p:spPr>
          <a:xfrm>
            <a:off x="4663440" y="2057400"/>
            <a:ext cx="4114800" cy="237744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850">
                <a:solidFill>
                  <a:srgbClr val="161D26"/>
                </a:solidFill>
                <a:latin typeface="Menlo"/>
              </a:rPr>
              <a:t># 01-tiles/evac.yml  (excerpt — 8 layers, all local files, zero network)</a:t>
            </a:r>
          </a:p>
          <a:p>
            <a:pPr algn="l">
              <a:spcAft>
                <a:spcPts val="0"/>
              </a:spcAft>
            </a:pPr>
            <a:r>
              <a:rPr sz="850">
                <a:solidFill>
                  <a:srgbClr val="161D26"/>
                </a:solidFill>
                <a:latin typeface="Menlo"/>
              </a:rPr>
              <a:t>sources:</a:t>
            </a:r>
          </a:p>
          <a:p>
            <a:pPr algn="l">
              <a:spcAft>
                <a:spcPts val="0"/>
              </a:spcAft>
            </a:pPr>
            <a:r>
              <a:rPr sz="850">
                <a:solidFill>
                  <a:srgbClr val="161D26"/>
                </a:solidFill>
                <a:latin typeface="Menlo"/>
              </a:rPr>
              <a:t>  roads: { type: geojson, local_path: data/overture/roads.geojson }</a:t>
            </a:r>
          </a:p>
          <a:p>
            <a:pPr algn="l">
              <a:spcAft>
                <a:spcPts val="0"/>
              </a:spcAft>
            </a:pPr>
            <a:r>
              <a:rPr sz="850">
                <a:solidFill>
                  <a:srgbClr val="161D26"/>
                </a:solidFill>
                <a:latin typeface="Menlo"/>
              </a:rPr>
              <a:t>  towns: { type: geojson, local_path: data/overture/towns.geojson }</a:t>
            </a:r>
          </a:p>
          <a:p>
            <a:pPr algn="l">
              <a:spcAft>
                <a:spcPts val="0"/>
              </a:spcAft>
            </a:pPr>
            <a:r>
              <a:rPr sz="850">
                <a:solidFill>
                  <a:srgbClr val="161D26"/>
                </a:solidFill>
                <a:latin typeface="Menlo"/>
              </a:rPr>
              <a:t>layers:</a:t>
            </a:r>
          </a:p>
          <a:p>
            <a:pPr algn="l">
              <a:spcAft>
                <a:spcPts val="0"/>
              </a:spcAft>
            </a:pPr>
            <a:r>
              <a:rPr sz="850">
                <a:solidFill>
                  <a:srgbClr val="161D26"/>
                </a:solidFill>
                <a:latin typeface="Menlo"/>
              </a:rPr>
              <a:t>  - id: roads</a:t>
            </a:r>
          </a:p>
          <a:p>
            <a:pPr algn="l">
              <a:spcAft>
                <a:spcPts val="0"/>
              </a:spcAft>
            </a:pPr>
            <a:r>
              <a:rPr sz="850">
                <a:solidFill>
                  <a:srgbClr val="161D26"/>
                </a:solidFill>
                <a:latin typeface="Menlo"/>
              </a:rPr>
              <a:t>    features:</a:t>
            </a:r>
          </a:p>
          <a:p>
            <a:pPr algn="l">
              <a:spcAft>
                <a:spcPts val="0"/>
              </a:spcAft>
            </a:pPr>
            <a:r>
              <a:rPr sz="850">
                <a:solidFill>
                  <a:srgbClr val="161D26"/>
                </a:solidFill>
                <a:latin typeface="Menlo"/>
              </a:rPr>
              <a:t>      - { source: roads, geometry: line, min_zoom: 6,</a:t>
            </a:r>
          </a:p>
          <a:p>
            <a:pPr algn="l">
              <a:spcAft>
                <a:spcPts val="0"/>
              </a:spcAft>
            </a:pPr>
            <a:r>
              <a:rPr sz="850">
                <a:solidFill>
                  <a:srgbClr val="161D26"/>
                </a:solidFill>
                <a:latin typeface="Menlo"/>
              </a:rPr>
              <a:t>          include_when: { class: [motorway, trunk, primary, secondary] } }</a:t>
            </a:r>
          </a:p>
          <a:p>
            <a:pPr algn="l">
              <a:spcAft>
                <a:spcPts val="0"/>
              </a:spcAft>
            </a:pPr>
            <a:r>
              <a:rPr sz="850">
                <a:solidFill>
                  <a:srgbClr val="161D26"/>
                </a:solidFill>
                <a:latin typeface="Menlo"/>
              </a:rPr>
              <a:t>      - { source: roads, geometry: line, min_zoom: 10, min_size: 1,</a:t>
            </a:r>
          </a:p>
          <a:p>
            <a:pPr algn="l">
              <a:spcAft>
                <a:spcPts val="0"/>
              </a:spcAft>
            </a:pPr>
            <a:r>
              <a:rPr sz="850">
                <a:solidFill>
                  <a:srgbClr val="161D26"/>
                </a:solidFill>
                <a:latin typeface="Menlo"/>
              </a:rPr>
              <a:t>          exclude_when: { class: [motorway, trunk, primary, secondary] }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MapLibre style: sources, layers, and two expressions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Rectangle 10"/>
          <p:cNvSpPr/>
          <p:nvPr/>
        </p:nvSpPr>
        <p:spPr>
          <a:xfrm>
            <a:off x="384048" y="914400"/>
            <a:ext cx="4114800" cy="150876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950">
                <a:solidFill>
                  <a:srgbClr val="161D26"/>
                </a:solidFill>
                <a:latin typeface="Menlo"/>
              </a:rPr>
              <a:t>"fill-color": ["match", ["get", "FHSZ_Description"],</a:t>
            </a:r>
          </a:p>
          <a:p>
            <a:pPr algn="l">
              <a:spcAft>
                <a:spcPts val="0"/>
              </a:spcAft>
            </a:pPr>
            <a:r>
              <a:rPr sz="950">
                <a:solidFill>
                  <a:srgbClr val="161D26"/>
                </a:solidFill>
                <a:latin typeface="Menlo"/>
              </a:rPr>
              <a:t>  "Moderate",  "#fdbb84",</a:t>
            </a:r>
          </a:p>
          <a:p>
            <a:pPr algn="l">
              <a:spcAft>
                <a:spcPts val="0"/>
              </a:spcAft>
            </a:pPr>
            <a:r>
              <a:rPr sz="950">
                <a:solidFill>
                  <a:srgbClr val="161D26"/>
                </a:solidFill>
                <a:latin typeface="Menlo"/>
              </a:rPr>
              <a:t>  "High",      "#e34a33",</a:t>
            </a:r>
          </a:p>
          <a:p>
            <a:pPr algn="l">
              <a:spcAft>
                <a:spcPts val="0"/>
              </a:spcAft>
            </a:pPr>
            <a:r>
              <a:rPr sz="950">
                <a:solidFill>
                  <a:srgbClr val="161D26"/>
                </a:solidFill>
                <a:latin typeface="Menlo"/>
              </a:rPr>
              <a:t>  "Very High", "#b30000",</a:t>
            </a:r>
          </a:p>
          <a:p>
            <a:pPr algn="l">
              <a:spcAft>
                <a:spcPts val="0"/>
              </a:spcAft>
            </a:pPr>
            <a:r>
              <a:rPr sz="950">
                <a:solidFill>
                  <a:srgbClr val="161D26"/>
                </a:solidFill>
                <a:latin typeface="Menlo"/>
              </a:rPr>
              <a:t>  "#cccccc"]                       // fallback</a:t>
            </a:r>
          </a:p>
        </p:txBody>
      </p:sp>
      <p:sp>
        <p:nvSpPr>
          <p:cNvPr id="12" name="Rectangle 11"/>
          <p:cNvSpPr/>
          <p:nvPr/>
        </p:nvSpPr>
        <p:spPr>
          <a:xfrm>
            <a:off x="384048" y="2560320"/>
            <a:ext cx="4114800" cy="68580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950">
                <a:solidFill>
                  <a:srgbClr val="161D26"/>
                </a:solidFill>
                <a:latin typeface="Menlo"/>
              </a:rPr>
              <a:t>"line-width": ["step", ["zoom"], 0.6, 10, 1.2, 13, 1.6]</a:t>
            </a:r>
          </a:p>
        </p:txBody>
      </p:sp>
      <p:sp>
        <p:nvSpPr>
          <p:cNvPr id="13" name="TextBox 12"/>
          <p:cNvSpPr txBox="1"/>
          <p:nvPr/>
        </p:nvSpPr>
        <p:spPr>
          <a:xfrm>
            <a:off x="384048" y="3337560"/>
            <a:ext cx="4114800" cy="1143000"/>
          </a:xfrm>
          <a:prstGeom prst="rect">
            <a:avLst/>
          </a:prstGeom>
          <a:noFill/>
        </p:spPr>
        <p:txBody>
          <a:bodyPr wrap="square" anchor="t" lIns="73152" rIns="73152" tIns="54864" bIns="54864">
            <a:spAutoFit/>
          </a:bodyPr>
          <a:lstStyle/>
          <a:p>
            <a:pPr>
              <a:spcAft>
                <a:spcPts val="400"/>
              </a:spcAft>
            </a:pPr>
            <a:r>
              <a:rPr sz="1050" b="0" i="0">
                <a:solidFill>
                  <a:srgbClr val="FF6101"/>
                </a:solidFill>
                <a:latin typeface="Menlo"/>
              </a:rPr>
              <a:t>match</a:t>
            </a:r>
            <a:r>
              <a:rPr sz="1050" b="0" i="0">
                <a:solidFill>
                  <a:srgbClr val="161D26"/>
                </a:solidFill>
                <a:latin typeface="Amazon Ember"/>
              </a:rPr>
              <a:t> — one output per category (hazard class → OrRd)</a:t>
            </a:r>
          </a:p>
          <a:p>
            <a:pPr>
              <a:spcAft>
                <a:spcPts val="400"/>
              </a:spcAft>
            </a:pPr>
            <a:r>
              <a:rPr sz="1050" b="0" i="0">
                <a:solidFill>
                  <a:srgbClr val="FF6101"/>
                </a:solidFill>
                <a:latin typeface="Menlo"/>
              </a:rPr>
              <a:t>step</a:t>
            </a:r>
            <a:r>
              <a:rPr sz="1050" b="0" i="0">
                <a:solidFill>
                  <a:srgbClr val="161D26"/>
                </a:solidFill>
                <a:latin typeface="Amazon Ember"/>
              </a:rPr>
              <a:t> — one output per range (zoom → width)</a:t>
            </a:r>
          </a:p>
          <a:p>
            <a:pPr>
              <a:spcAft>
                <a:spcPts val="400"/>
              </a:spcAft>
            </a:pPr>
            <a:r>
              <a:rPr sz="1050" b="0" i="0">
                <a:solidFill>
                  <a:srgbClr val="161D26"/>
                </a:solidFill>
                <a:latin typeface="Amazon Ember"/>
              </a:rPr>
              <a:t>Case and spelling must match exactly: "Very High", not "very_high". FHSZ is also there as 1 | 2 | 3.</a:t>
            </a:r>
          </a:p>
        </p:txBody>
      </p:sp>
      <p:sp>
        <p:nvSpPr>
          <p:cNvPr id="14" name="Rectangle 13"/>
          <p:cNvSpPr/>
          <p:nvPr/>
        </p:nvSpPr>
        <p:spPr>
          <a:xfrm>
            <a:off x="4663440" y="914400"/>
            <a:ext cx="1280160" cy="457200"/>
          </a:xfrm>
          <a:prstGeom prst="rect">
            <a:avLst/>
          </a:prstGeom>
          <a:solidFill>
            <a:srgbClr val="FDBB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161D26"/>
                </a:solidFill>
                <a:latin typeface="Amazon Ember"/>
              </a:rPr>
              <a:t>Moderate</a:t>
            </a:r>
          </a:p>
        </p:txBody>
      </p:sp>
      <p:sp>
        <p:nvSpPr>
          <p:cNvPr id="15" name="Rectangle 14"/>
          <p:cNvSpPr/>
          <p:nvPr/>
        </p:nvSpPr>
        <p:spPr>
          <a:xfrm>
            <a:off x="6035040" y="914400"/>
            <a:ext cx="1280160" cy="457200"/>
          </a:xfrm>
          <a:prstGeom prst="rect">
            <a:avLst/>
          </a:prstGeom>
          <a:solidFill>
            <a:srgbClr val="E34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Amazon Ember"/>
              </a:rPr>
              <a:t>High</a:t>
            </a:r>
          </a:p>
        </p:txBody>
      </p:sp>
      <p:sp>
        <p:nvSpPr>
          <p:cNvPr id="16" name="Rectangle 15"/>
          <p:cNvSpPr/>
          <p:nvPr/>
        </p:nvSpPr>
        <p:spPr>
          <a:xfrm>
            <a:off x="7406640" y="914400"/>
            <a:ext cx="1280160" cy="457200"/>
          </a:xfrm>
          <a:prstGeom prst="rect">
            <a:avLst/>
          </a:prstGeom>
          <a:solidFill>
            <a:srgbClr val="B3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Amazon Ember"/>
              </a:rPr>
              <a:t>Very High</a:t>
            </a:r>
          </a:p>
        </p:txBody>
      </p:sp>
      <p:sp>
        <p:nvSpPr>
          <p:cNvPr id="17" name="TextBox 16"/>
          <p:cNvSpPr txBox="1"/>
          <p:nvPr/>
        </p:nvSpPr>
        <p:spPr>
          <a:xfrm>
            <a:off x="4663440" y="1463040"/>
            <a:ext cx="4114800" cy="301752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A style is JSON: </a:t>
            </a:r>
            <a:r>
              <a:rPr sz="1050" b="0" i="0">
                <a:solidFill>
                  <a:srgbClr val="FF6101"/>
                </a:solidFill>
                <a:latin typeface="Menlo"/>
              </a:rPr>
              <a:t>sources</a:t>
            </a:r>
            <a:r>
              <a:rPr sz="1050" b="0" i="0">
                <a:solidFill>
                  <a:srgbClr val="161D26"/>
                </a:solidFill>
                <a:latin typeface="Amazon Ember"/>
              </a:rPr>
              <a:t> (our one PMTiles file) + </a:t>
            </a:r>
            <a:r>
              <a:rPr sz="1050" b="0" i="0">
                <a:solidFill>
                  <a:srgbClr val="FF6101"/>
                </a:solidFill>
                <a:latin typeface="Menlo"/>
              </a:rPr>
              <a:t>layers</a:t>
            </a:r>
            <a:r>
              <a:rPr sz="1050" b="0" i="0">
                <a:solidFill>
                  <a:srgbClr val="161D26"/>
                </a:solidFill>
                <a:latin typeface="Amazon Ember"/>
              </a:rPr>
              <a:t> (one per thing drawn, bottom to top).</a:t>
            </a:r>
          </a:p>
          <a:p>
            <a:pPr>
              <a:spcAft>
                <a:spcPts val="400"/>
              </a:spcAft>
            </a:pPr>
            <a:r>
              <a:rPr sz="1050" b="1" i="0">
                <a:solidFill>
                  <a:srgbClr val="161D26"/>
                </a:solidFill>
                <a:latin typeface="Amazon Ember"/>
              </a:rPr>
              <a:t>Paste-in steps: </a:t>
            </a:r>
            <a:r>
              <a:rPr sz="1050" b="0" i="0">
                <a:solidFill>
                  <a:srgbClr val="161D26"/>
                </a:solidFill>
                <a:latin typeface="Amazon Ember"/>
              </a:rPr>
              <a:t>index.html sorts pasted layers by a fixed order and de-duplicates by id, so paste order never matters and step 3 can be pasted over steps 1–2.</a:t>
            </a:r>
          </a:p>
          <a:p>
            <a:pPr>
              <a:spcAft>
                <a:spcPts val="400"/>
              </a:spcAft>
            </a:pPr>
            <a:r>
              <a:rPr sz="1050" b="1" i="0">
                <a:solidFill>
                  <a:srgbClr val="161D26"/>
                </a:solidFill>
                <a:latin typeface="Amazon Ember"/>
              </a:rPr>
              <a:t>Labels: </a:t>
            </a:r>
            <a:r>
              <a:rPr sz="1050" b="0" i="0">
                <a:solidFill>
                  <a:srgbClr val="161D26"/>
                </a:solidFill>
                <a:latin typeface="Amazon Ember"/>
              </a:rPr>
              <a:t>a symbol layer with text-field + text-font; glyph PBFs are vendored in 02-web/fonts so labels work offline.</a:t>
            </a:r>
          </a:p>
          <a:p>
            <a:pPr>
              <a:spcAft>
                <a:spcPts val="400"/>
              </a:spcAft>
            </a:pPr>
            <a:r>
              <a:rPr sz="1050" b="1" i="0">
                <a:solidFill>
                  <a:srgbClr val="161D26"/>
                </a:solidFill>
                <a:latin typeface="Amazon Ember"/>
              </a:rPr>
              <a:t>Three views, one at a time: </a:t>
            </a:r>
            <a:r>
              <a:rPr sz="1050" b="0" i="0">
                <a:solidFill>
                  <a:srgbClr val="161D26"/>
                </a:solidFill>
                <a:latin typeface="Amazon Ember"/>
              </a:rPr>
              <a:t>Fire evac map · Base map (Esri street raster) · Shelter reach — setLayoutProperty(visibility) over a list of ids, legend swapped with it; no style reload, so routing keeps working.</a:t>
            </a:r>
          </a:p>
          <a:p>
            <a:pPr>
              <a:spcAft>
                <a:spcPts val="400"/>
              </a:spcAft>
            </a:pPr>
            <a:r>
              <a:rPr sz="1050" b="1" i="0">
                <a:solidFill>
                  <a:srgbClr val="161D26"/>
                </a:solidFill>
                <a:latin typeface="Amazon Ember"/>
              </a:rPr>
              <a:t>Shelter reach: </a:t>
            </a:r>
            <a:r>
              <a:rPr sz="1050" b="0" i="0">
                <a:solidFill>
                  <a:srgbClr val="161D26"/>
                </a:solidFill>
                <a:latin typeface="Amazon Ember"/>
              </a:rPr>
              <a:t>a GeoJSON source + setFilter(shelter_id); the 0–10 / 10–20 / 20–30-min rings never overlap, so they stay translucent over the roads without blending. Precomputed with OSRM /table in Phase 2c.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Phase 3 produces: three views of the same tiles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solution-evac.png"/>
          <p:cNvPicPr>
            <a:picLocks noChangeAspect="1"/>
          </p:cNvPicPr>
          <p:nvPr/>
        </p:nvPicPr>
        <p:blipFill>
          <a:blip r:embed="rId2"/>
          <a:stretch>
            <a:fillRect/>
          </a:stretch>
        </p:blipFill>
        <p:spPr>
          <a:xfrm>
            <a:off x="384048" y="914400"/>
            <a:ext cx="2734056" cy="1708785"/>
          </a:xfrm>
          <a:prstGeom prst="rect">
            <a:avLst/>
          </a:prstGeom>
          <a:ln w="9525">
            <a:solidFill>
              <a:srgbClr val="D5DBDA"/>
            </a:solidFill>
          </a:ln>
        </p:spPr>
      </p:pic>
      <p:sp>
        <p:nvSpPr>
          <p:cNvPr id="12" name="TextBox 11"/>
          <p:cNvSpPr txBox="1"/>
          <p:nvPr/>
        </p:nvSpPr>
        <p:spPr>
          <a:xfrm>
            <a:off x="384048" y="2697480"/>
            <a:ext cx="2734056" cy="822960"/>
          </a:xfrm>
          <a:prstGeom prst="rect">
            <a:avLst/>
          </a:prstGeom>
          <a:noFill/>
        </p:spPr>
        <p:txBody>
          <a:bodyPr wrap="square" anchor="t" lIns="73152" rIns="73152" tIns="54864" bIns="54864">
            <a:spAutoFit/>
          </a:bodyPr>
          <a:lstStyle/>
          <a:p>
            <a:pPr>
              <a:spcAft>
                <a:spcPts val="400"/>
              </a:spcAft>
            </a:pPr>
            <a:r>
              <a:rPr sz="950" b="1" i="0">
                <a:solidFill>
                  <a:srgbClr val="161D26"/>
                </a:solidFill>
                <a:latin typeface="Amazon Ember"/>
              </a:rPr>
              <a:t>Fire evac map</a:t>
            </a:r>
            <a:r>
              <a:rPr sz="950" b="0" i="0">
                <a:solidFill>
                  <a:srgbClr val="161D26"/>
                </a:solidFill>
                <a:latin typeface="Amazon Ember"/>
              </a:rPr>
              <a:t> — our tiles: FHSZ Moderate / High / Very High, dashed perimeters, city labels, shelters, route</a:t>
            </a:r>
          </a:p>
        </p:txBody>
      </p:sp>
      <p:pic>
        <p:nvPicPr>
          <p:cNvPr id="13" name="Picture 12" descr="solution-normal.png"/>
          <p:cNvPicPr>
            <a:picLocks noChangeAspect="1"/>
          </p:cNvPicPr>
          <p:nvPr/>
        </p:nvPicPr>
        <p:blipFill>
          <a:blip r:embed="rId3"/>
          <a:stretch>
            <a:fillRect/>
          </a:stretch>
        </p:blipFill>
        <p:spPr>
          <a:xfrm>
            <a:off x="3209544" y="914400"/>
            <a:ext cx="2734056" cy="1708785"/>
          </a:xfrm>
          <a:prstGeom prst="rect">
            <a:avLst/>
          </a:prstGeom>
          <a:ln w="9525">
            <a:solidFill>
              <a:srgbClr val="D5DBDA"/>
            </a:solidFill>
          </a:ln>
        </p:spPr>
      </p:pic>
      <p:sp>
        <p:nvSpPr>
          <p:cNvPr id="14" name="TextBox 13"/>
          <p:cNvSpPr txBox="1"/>
          <p:nvPr/>
        </p:nvSpPr>
        <p:spPr>
          <a:xfrm>
            <a:off x="3209544" y="2697480"/>
            <a:ext cx="2734056" cy="822960"/>
          </a:xfrm>
          <a:prstGeom prst="rect">
            <a:avLst/>
          </a:prstGeom>
          <a:noFill/>
        </p:spPr>
        <p:txBody>
          <a:bodyPr wrap="square" anchor="t" lIns="73152" rIns="73152" tIns="54864" bIns="54864">
            <a:spAutoFit/>
          </a:bodyPr>
          <a:lstStyle/>
          <a:p>
            <a:pPr>
              <a:spcAft>
                <a:spcPts val="400"/>
              </a:spcAft>
            </a:pPr>
            <a:r>
              <a:rPr sz="950" b="1" i="0">
                <a:solidFill>
                  <a:srgbClr val="161D26"/>
                </a:solidFill>
                <a:latin typeface="Amazon Ember"/>
              </a:rPr>
              <a:t>Base map</a:t>
            </a:r>
            <a:r>
              <a:rPr sz="950" b="0" i="0">
                <a:solidFill>
                  <a:srgbClr val="161D26"/>
                </a:solidFill>
                <a:latin typeface="Amazon Ember"/>
              </a:rPr>
              <a:t> — a standard street raster (Esri, no API key); only shelters, the pin and the route on top (needs internet)</a:t>
            </a:r>
          </a:p>
        </p:txBody>
      </p:sp>
      <p:pic>
        <p:nvPicPr>
          <p:cNvPr id="15" name="Picture 14" descr="solution-reach.png"/>
          <p:cNvPicPr>
            <a:picLocks noChangeAspect="1"/>
          </p:cNvPicPr>
          <p:nvPr/>
        </p:nvPicPr>
        <p:blipFill>
          <a:blip r:embed="rId4"/>
          <a:stretch>
            <a:fillRect/>
          </a:stretch>
        </p:blipFill>
        <p:spPr>
          <a:xfrm>
            <a:off x="6035040" y="914400"/>
            <a:ext cx="2734056" cy="1708785"/>
          </a:xfrm>
          <a:prstGeom prst="rect">
            <a:avLst/>
          </a:prstGeom>
          <a:ln w="9525">
            <a:solidFill>
              <a:srgbClr val="D5DBDA"/>
            </a:solidFill>
          </a:ln>
        </p:spPr>
      </p:pic>
      <p:sp>
        <p:nvSpPr>
          <p:cNvPr id="16" name="TextBox 15"/>
          <p:cNvSpPr txBox="1"/>
          <p:nvPr/>
        </p:nvSpPr>
        <p:spPr>
          <a:xfrm>
            <a:off x="6035040" y="2697480"/>
            <a:ext cx="2734056" cy="822960"/>
          </a:xfrm>
          <a:prstGeom prst="rect">
            <a:avLst/>
          </a:prstGeom>
          <a:noFill/>
        </p:spPr>
        <p:txBody>
          <a:bodyPr wrap="square" anchor="t" lIns="73152" rIns="73152" tIns="54864" bIns="54864">
            <a:spAutoFit/>
          </a:bodyPr>
          <a:lstStyle/>
          <a:p>
            <a:pPr>
              <a:spcAft>
                <a:spcPts val="400"/>
              </a:spcAft>
            </a:pPr>
            <a:r>
              <a:rPr sz="950" b="1" i="0">
                <a:solidFill>
                  <a:srgbClr val="161D26"/>
                </a:solidFill>
                <a:latin typeface="Amazon Ember"/>
              </a:rPr>
              <a:t>Shelter reach</a:t>
            </a:r>
            <a:r>
              <a:rPr sz="950" b="0" i="0">
                <a:solidFill>
                  <a:srgbClr val="161D26"/>
                </a:solidFill>
                <a:latin typeface="Amazon Ember"/>
              </a:rPr>
              <a:t> — ≤ 10 min green · ≤ 20 blue · ≤ 30 light red from every shelter; click a shelter for its own bands</a:t>
            </a:r>
          </a:p>
        </p:txBody>
      </p:sp>
      <p:sp>
        <p:nvSpPr>
          <p:cNvPr id="17" name="TextBox 16"/>
          <p:cNvSpPr txBox="1"/>
          <p:nvPr/>
        </p:nvSpPr>
        <p:spPr>
          <a:xfrm>
            <a:off x="384048" y="3657600"/>
            <a:ext cx="8385048" cy="73152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Strictly one view at a time: </a:t>
            </a:r>
            <a:r>
              <a:rPr sz="1050" b="0" i="0">
                <a:solidFill>
                  <a:srgbClr val="161D26"/>
                </a:solidFill>
                <a:latin typeface="Amazon Ember"/>
              </a:rPr>
              <a:t>Fire evac map, Base map or Shelter reach — the legend follows the view; the reach bands are never drawn on top of the hazard fill.  </a:t>
            </a:r>
            <a:r>
              <a:rPr sz="1050" b="1" i="0">
                <a:solidFill>
                  <a:srgbClr val="161D26"/>
                </a:solidFill>
                <a:latin typeface="Amazon Ember"/>
              </a:rPr>
              <a:t>Phase 3a checkpoint: </a:t>
            </a:r>
            <a:r>
              <a:rPr sz="1050" b="0" i="0">
                <a:solidFill>
                  <a:srgbClr val="161D26"/>
                </a:solidFill>
                <a:latin typeface="Amazon Ember"/>
              </a:rPr>
              <a:t>Very High solid red · water blue · 10 shelter circles (1 filled) · Mosquito perimeter dashed · city labels · attribution visible.  Hazard edges are zone boundaries, not a guarantee: a road just outside a polygon is not "safe".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2a → 3b · hands-on — build and style the map</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896112"/>
            <a:ext cx="8385048" cy="45720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Open the page: </a:t>
            </a:r>
            <a:r>
              <a:rPr sz="1050" b="0" i="0">
                <a:solidFill>
                  <a:srgbClr val="161D26"/>
                </a:solidFill>
                <a:latin typeface="Amazon Ember"/>
              </a:rPr>
              <a:t>Codespaces → Ports tab → 8080 → globe · Docker → </a:t>
            </a:r>
            <a:r>
              <a:rPr sz="1050" b="0" i="0">
                <a:solidFill>
                  <a:srgbClr val="FF6101"/>
                </a:solidFill>
                <a:latin typeface="Menlo"/>
              </a:rPr>
              <a:t>http://localhost:8080/02-web/</a:t>
            </a:r>
            <a:r>
              <a:rPr sz="1050" b="0" i="0">
                <a:solidFill>
                  <a:srgbClr val="161D26"/>
                </a:solidFill>
                <a:latin typeface="Amazon Ember"/>
              </a:rPr>
              <a:t> · Native → </a:t>
            </a:r>
            <a:r>
              <a:rPr sz="1050" b="0" i="0">
                <a:solidFill>
                  <a:srgbClr val="FF6101"/>
                </a:solidFill>
                <a:latin typeface="Menlo"/>
              </a:rPr>
              <a:t>npx serve -l 8080 .</a:t>
            </a:r>
            <a:r>
              <a:rPr sz="1050" b="0" i="0">
                <a:solidFill>
                  <a:srgbClr val="161D26"/>
                </a:solidFill>
                <a:latin typeface="Amazon Ember"/>
              </a:rPr>
              <a:t> then the same URL</a:t>
            </a:r>
          </a:p>
        </p:txBody>
      </p:sp>
      <p:sp>
        <p:nvSpPr>
          <p:cNvPr id="12" name="TextBox 11"/>
          <p:cNvSpPr txBox="1"/>
          <p:nvPr/>
        </p:nvSpPr>
        <p:spPr>
          <a:xfrm>
            <a:off x="384048" y="1371600"/>
            <a:ext cx="4160520" cy="3108960"/>
          </a:xfrm>
          <a:prstGeom prst="rect">
            <a:avLst/>
          </a:prstGeom>
          <a:noFill/>
        </p:spPr>
        <p:txBody>
          <a:bodyPr wrap="square" anchor="t" lIns="73152" rIns="73152" tIns="54864" bIns="54864">
            <a:spAutoFit/>
          </a:bodyPr>
          <a:lstStyle/>
          <a:p>
            <a:pPr>
              <a:spcAft>
                <a:spcPts val="400"/>
              </a:spcAft>
            </a:pPr>
            <a:r>
              <a:rPr sz="1000" b="1" i="0">
                <a:solidFill>
                  <a:srgbClr val="FF6101"/>
                </a:solidFill>
                <a:latin typeface="Amazon Ember"/>
              </a:rPr>
              <a:t>2a · Build the tiles</a:t>
            </a:r>
          </a:p>
          <a:p>
            <a:pPr>
              <a:spcAft>
                <a:spcPts val="400"/>
              </a:spcAft>
            </a:pPr>
            <a:r>
              <a:rPr sz="850" b="0" i="0">
                <a:solidFill>
                  <a:srgbClr val="FF6101"/>
                </a:solidFill>
                <a:latin typeface="Menlo"/>
              </a:rPr>
              <a:t>01-tiles/build.sh      # = java -jar planetiler.jar generate-custom --schema=01-tiles/evac.yml --output=out/evac.pmtiles</a:t>
            </a:r>
          </a:p>
          <a:p>
            <a:pPr>
              <a:spcAft>
                <a:spcPts val="400"/>
              </a:spcAft>
            </a:pPr>
            <a:r>
              <a:rPr sz="1000" b="0" i="0">
                <a:solidFill>
                  <a:srgbClr val="FF6101"/>
                </a:solidFill>
                <a:latin typeface="Menlo"/>
              </a:rPr>
              <a:t>pmtiles show out/evac.pmtiles</a:t>
            </a:r>
          </a:p>
          <a:p>
            <a:pPr>
              <a:spcAft>
                <a:spcPts val="400"/>
              </a:spcAft>
            </a:pPr>
            <a:r>
              <a:rPr sz="1000" b="0" i="0">
                <a:solidFill>
                  <a:srgbClr val="161D26"/>
                </a:solidFill>
                <a:latin typeface="Amazon Ember"/>
              </a:rPr>
              <a:t>Expected: 1,607 tiles, zoom 4–14, 8 layers, ≈ 6.5 MB, ~4 s. · no PMTiles? → </a:t>
            </a:r>
          </a:p>
          <a:p>
            <a:pPr>
              <a:spcAft>
                <a:spcPts val="400"/>
              </a:spcAft>
            </a:pPr>
            <a:r>
              <a:rPr sz="1000" b="0" i="0">
                <a:solidFill>
                  <a:srgbClr val="FF6101"/>
                </a:solidFill>
                <a:latin typeface="Menlo"/>
              </a:rPr>
              <a:t>cp data/prebuilt/evac.pmtiles out/</a:t>
            </a:r>
          </a:p>
          <a:p>
            <a:pPr>
              <a:spcAft>
                <a:spcPts val="400"/>
              </a:spcAft>
            </a:pPr>
            <a:r>
              <a:rPr sz="1000" b="1" i="0">
                <a:solidFill>
                  <a:srgbClr val="FF6101"/>
                </a:solidFill>
                <a:latin typeface="Amazon Ember"/>
              </a:rPr>
              <a:t>3a · Serve &amp; render (step 1)</a:t>
            </a:r>
          </a:p>
          <a:p>
            <a:pPr>
              <a:spcAft>
                <a:spcPts val="400"/>
              </a:spcAft>
            </a:pPr>
            <a:r>
              <a:rPr sz="1000" b="0" i="0">
                <a:solidFill>
                  <a:srgbClr val="161D26"/>
                </a:solidFill>
                <a:latin typeface="Amazon Ember"/>
              </a:rPr>
              <a:t>in 02-web/index.html find </a:t>
            </a:r>
          </a:p>
          <a:p>
            <a:pPr>
              <a:spcAft>
                <a:spcPts val="400"/>
              </a:spcAft>
            </a:pPr>
            <a:r>
              <a:rPr sz="1000" b="0" i="0">
                <a:solidFill>
                  <a:srgbClr val="FF6101"/>
                </a:solidFill>
                <a:latin typeface="Menlo"/>
              </a:rPr>
              <a:t>// STEP 1: paste here</a:t>
            </a:r>
            <a:r>
              <a:rPr sz="1000" b="0" i="0">
                <a:solidFill>
                  <a:srgbClr val="161D26"/>
                </a:solidFill>
                <a:latin typeface="Amazon Ember"/>
              </a:rPr>
              <a:t> → paste steps/step1-roads.json → reload; uncomment AttributionControl → grey roads + attribution bottom-right</a:t>
            </a:r>
          </a:p>
        </p:txBody>
      </p:sp>
      <p:sp>
        <p:nvSpPr>
          <p:cNvPr id="13" name="TextBox 12"/>
          <p:cNvSpPr txBox="1"/>
          <p:nvPr/>
        </p:nvSpPr>
        <p:spPr>
          <a:xfrm>
            <a:off x="4709160" y="1371600"/>
            <a:ext cx="4069080" cy="3108960"/>
          </a:xfrm>
          <a:prstGeom prst="rect">
            <a:avLst/>
          </a:prstGeom>
          <a:noFill/>
        </p:spPr>
        <p:txBody>
          <a:bodyPr wrap="square" anchor="t" lIns="73152" rIns="73152" tIns="54864" bIns="54864">
            <a:spAutoFit/>
          </a:bodyPr>
          <a:lstStyle/>
          <a:p>
            <a:pPr>
              <a:spcAft>
                <a:spcPts val="400"/>
              </a:spcAft>
            </a:pPr>
            <a:r>
              <a:rPr sz="1000" b="1" i="0">
                <a:solidFill>
                  <a:srgbClr val="FF6101"/>
                </a:solidFill>
                <a:latin typeface="Amazon Ember"/>
              </a:rPr>
              <a:t>3a · Restyle (steps 2–4)</a:t>
            </a:r>
          </a:p>
          <a:p>
            <a:pPr>
              <a:spcAft>
                <a:spcPts val="400"/>
              </a:spcAft>
            </a:pPr>
            <a:r>
              <a:rPr sz="1000" b="1" i="0">
                <a:solidFill>
                  <a:srgbClr val="FF6101"/>
                </a:solidFill>
                <a:latin typeface="Amazon Ember"/>
              </a:rPr>
              <a:t>step2</a:t>
            </a:r>
            <a:r>
              <a:rPr sz="1000" b="0" i="0">
                <a:solidFill>
                  <a:srgbClr val="161D26"/>
                </a:solidFill>
                <a:latin typeface="Amazon Ember"/>
              </a:rPr>
              <a:t>: hazard match (OrRd) · water fill · land cover · shelters filled = verified, hollow = candidate · city labels</a:t>
            </a:r>
          </a:p>
          <a:p>
            <a:pPr>
              <a:spcAft>
                <a:spcPts val="400"/>
              </a:spcAft>
            </a:pPr>
            <a:r>
              <a:rPr sz="1000" b="1" i="0">
                <a:solidFill>
                  <a:srgbClr val="FF6101"/>
                </a:solidFill>
                <a:latin typeface="Amazon Ember"/>
              </a:rPr>
              <a:t>step3</a:t>
            </a:r>
            <a:r>
              <a:rPr sz="1000" b="0" i="0">
                <a:solidFill>
                  <a:srgbClr val="161D26"/>
                </a:solidFill>
                <a:latin typeface="Amazon Ember"/>
              </a:rPr>
              <a:t> (if time): fire perimeters dashed grey</a:t>
            </a:r>
          </a:p>
          <a:p>
            <a:pPr>
              <a:spcAft>
                <a:spcPts val="400"/>
              </a:spcAft>
            </a:pPr>
            <a:r>
              <a:rPr sz="1000" b="1" i="0">
                <a:solidFill>
                  <a:srgbClr val="FF6101"/>
                </a:solidFill>
                <a:latin typeface="Amazon Ember"/>
              </a:rPr>
              <a:t>step4</a:t>
            </a:r>
            <a:r>
              <a:rPr sz="1000" b="0" i="0">
                <a:solidFill>
                  <a:srgbClr val="161D26"/>
                </a:solidFill>
                <a:latin typeface="Amazon Ember"/>
              </a:rPr>
              <a:t> (finish early): click popup with name · fill-extrusion on buildings (zoom ≥ 13, tilt)</a:t>
            </a:r>
          </a:p>
          <a:p>
            <a:pPr>
              <a:spcAft>
                <a:spcPts val="400"/>
              </a:spcAft>
            </a:pPr>
            <a:r>
              <a:rPr sz="1000" b="1" i="0">
                <a:solidFill>
                  <a:srgbClr val="161D26"/>
                </a:solidFill>
                <a:latin typeface="Amazon Ember"/>
              </a:rPr>
              <a:t> stuck? → </a:t>
            </a:r>
            <a:r>
              <a:rPr sz="1000" b="0" i="0">
                <a:solidFill>
                  <a:srgbClr val="161D26"/>
                </a:solidFill>
                <a:latin typeface="Amazon Ember"/>
              </a:rPr>
              <a:t>paste steps/step3-styled.json;  totally lost → open 02-web/solution.html</a:t>
            </a:r>
          </a:p>
          <a:p>
            <a:pPr>
              <a:spcAft>
                <a:spcPts val="400"/>
              </a:spcAft>
            </a:pPr>
            <a:r>
              <a:rPr sz="1000" b="1" i="0">
                <a:solidFill>
                  <a:srgbClr val="161D26"/>
                </a:solidFill>
                <a:latin typeface="Amazon Ember"/>
              </a:rPr>
              <a:t>Checkpoint </a:t>
            </a:r>
            <a:r>
              <a:rPr sz="1000" b="0" i="0">
                <a:solidFill>
                  <a:srgbClr val="161D26"/>
                </a:solidFill>
                <a:latin typeface="Amazon Ember"/>
              </a:rPr>
              <a:t>Very High solid red · water blue · 10 shelters (1 filled) · Mosquito perimeter dashed · attribution visible</a:t>
            </a:r>
          </a:p>
          <a:p>
            <a:pPr>
              <a:spcAft>
                <a:spcPts val="400"/>
              </a:spcAft>
            </a:pPr>
            <a:r>
              <a:rPr sz="1000" b="1" i="0">
                <a:solidFill>
                  <a:srgbClr val="FF6101"/>
                </a:solidFill>
                <a:latin typeface="Amazon Ember"/>
              </a:rPr>
              <a:t>3b · Three views</a:t>
            </a:r>
            <a:r>
              <a:rPr sz="1000" b="0" i="0">
                <a:solidFill>
                  <a:srgbClr val="161D26"/>
                </a:solidFill>
                <a:latin typeface="Amazon Ember"/>
              </a:rPr>
              <a:t> — try the Base map and Shelter reach buttons, one view at a time: a plain street map, or each shelter's 10 / 20 / 30-min drive-time bands (click a shelter to isolate it); then come back, it is the same page.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FF6101"/>
                </a:solidFill>
              </a:rPr>
              <a:t>PHASE 3c</a:t>
            </a:r>
          </a:p>
          <a:p>
            <a:r>
              <a:rPr sz="3600"/>
              <a:t>Routing in the application (OSRM)</a:t>
            </a:r>
          </a:p>
        </p:txBody>
      </p:sp>
      <p:sp>
        <p:nvSpPr>
          <p:cNvPr id="9" name="Footer Placeholder 5">
            <a:extLst>
              <a:ext uri="{FF2B5EF4-FFF2-40B4-BE49-F238E27FC236}">
                <a16:creationId xmlns:a16="http://schemas.microsoft.com/office/drawing/2014/main" id="{2D4714FF-B25D-F7C4-188C-F8378460F5CD}"/>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71F5A9F8-4432-0796-5F1F-2FC8919117FC}"/>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1069848" y="3703320"/>
            <a:ext cx="6858000" cy="640080"/>
          </a:xfrm>
          <a:prstGeom prst="rect">
            <a:avLst/>
          </a:prstGeom>
          <a:noFill/>
        </p:spPr>
        <p:txBody>
          <a:bodyPr wrap="square" anchor="t" lIns="73152" rIns="73152" tIns="54864" bIns="54864">
            <a:spAutoFit/>
          </a:bodyPr>
          <a:lstStyle/>
          <a:p>
            <a:pPr>
              <a:spcAft>
                <a:spcPts val="400"/>
              </a:spcAft>
            </a:pPr>
            <a:r>
              <a:rPr sz="1200" b="1" i="0">
                <a:solidFill>
                  <a:srgbClr val="161D26"/>
                </a:solidFill>
                <a:latin typeface="Amazon Ember"/>
              </a:rPr>
              <a:t>the routing graph (2b) · /nearest · /table → argmin → /route · I-80 closed</a:t>
            </a:r>
            <a:r>
              <a:rPr sz="1200" b="0" i="0">
                <a:solidFill>
                  <a:srgbClr val="6B7280"/>
                </a:solidFill>
                <a:latin typeface="Amazon Ember"/>
              </a:rPr>
              <a:t>   OSRM v26.10.0 (MLD) · tiers 1–2 route, tiers 3–4 pair 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3c in one picture — preprocess once, then three HTTP calls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block4-osrm.png"/>
          <p:cNvPicPr>
            <a:picLocks noChangeAspect="1"/>
          </p:cNvPicPr>
          <p:nvPr/>
        </p:nvPicPr>
        <p:blipFill>
          <a:blip r:embed="rId2"/>
          <a:stretch>
            <a:fillRect/>
          </a:stretch>
        </p:blipFill>
        <p:spPr>
          <a:xfrm>
            <a:off x="384048" y="1635020"/>
            <a:ext cx="8385048" cy="1804878"/>
          </a:xfrm>
          <a:prstGeom prst="rect">
            <a:avLst/>
          </a:prstGeom>
        </p:spPr>
      </p:pic>
      <p:sp>
        <p:nvSpPr>
          <p:cNvPr id="12" name="TextBox 11"/>
          <p:cNvSpPr txBox="1"/>
          <p:nvPr/>
        </p:nvSpPr>
        <p:spPr>
          <a:xfrm>
            <a:off x="384048" y="4206240"/>
            <a:ext cx="8385048" cy="411480"/>
          </a:xfrm>
          <a:prstGeom prst="rect">
            <a:avLst/>
          </a:prstGeom>
          <a:noFill/>
        </p:spPr>
        <p:txBody>
          <a:bodyPr wrap="square" anchor="t" lIns="73152" rIns="73152" tIns="54864" bIns="54864">
            <a:spAutoFit/>
          </a:bodyPr>
          <a:lstStyle/>
          <a:p>
            <a:pPr>
              <a:spcAft>
                <a:spcPts val="400"/>
              </a:spcAft>
            </a:pPr>
            <a:r>
              <a:rPr sz="1050" b="1" i="0">
                <a:solidFill>
                  <a:srgbClr val="FF6101"/>
                </a:solidFill>
                <a:latin typeface="Amazon Ember"/>
              </a:rPr>
              <a:t>Phase 3c: </a:t>
            </a:r>
            <a:r>
              <a:rPr sz="1050" b="0" i="0">
                <a:solidFill>
                  <a:srgbClr val="161D26"/>
                </a:solidFill>
                <a:latin typeface="Amazon Ember"/>
              </a:rPr>
              <a:t>hello route (/nearest) · nearest by road (/table → argmin → /route) · I-80 closed (exclude=motorway)  ·  </a:t>
            </a:r>
            <a:r>
              <a:rPr sz="1050" b="1" i="0">
                <a:solidFill>
                  <a:srgbClr val="161D26"/>
                </a:solidFill>
                <a:latin typeface="Amazon Ember"/>
              </a:rPr>
              <a:t>Teaching numbers </a:t>
            </a:r>
            <a:r>
              <a:rPr sz="1050" b="0" i="0">
                <a:solidFill>
                  <a:srgbClr val="161D26"/>
                </a:solidFill>
                <a:latin typeface="Amazon Ember"/>
              </a:rPr>
              <a:t>Dutch Flat → Sierra Vista CC 17.1 min, 31.3 min with I-80 closed · Foresthill → Placer High 35.8 min / 31.8 km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 routing graph: nearest on the map ≠ nearest by road</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explain-shortest-path.png"/>
          <p:cNvPicPr>
            <a:picLocks noChangeAspect="1"/>
          </p:cNvPicPr>
          <p:nvPr/>
        </p:nvPicPr>
        <p:blipFill>
          <a:blip r:embed="rId2"/>
          <a:stretch>
            <a:fillRect/>
          </a:stretch>
        </p:blipFill>
        <p:spPr>
          <a:xfrm>
            <a:off x="384048" y="914400"/>
            <a:ext cx="5760720" cy="2678805"/>
          </a:xfrm>
          <a:prstGeom prst="rect">
            <a:avLst/>
          </a:prstGeom>
        </p:spPr>
      </p:pic>
      <p:sp>
        <p:nvSpPr>
          <p:cNvPr id="12" name="TextBox 11"/>
          <p:cNvSpPr txBox="1"/>
          <p:nvPr/>
        </p:nvSpPr>
        <p:spPr>
          <a:xfrm>
            <a:off x="6355080" y="914400"/>
            <a:ext cx="2423160" cy="3566160"/>
          </a:xfrm>
          <a:prstGeom prst="rect">
            <a:avLst/>
          </a:prstGeom>
          <a:noFill/>
        </p:spPr>
        <p:txBody>
          <a:bodyPr wrap="square" anchor="t" lIns="73152" rIns="73152" tIns="54864" bIns="54864">
            <a:spAutoFit/>
          </a:bodyPr>
          <a:lstStyle/>
          <a:p>
            <a:pPr>
              <a:spcAft>
                <a:spcPts val="400"/>
              </a:spcAft>
            </a:pPr>
            <a:r>
              <a:rPr sz="1000" b="1" i="0">
                <a:solidFill>
                  <a:srgbClr val="161D26"/>
                </a:solidFill>
                <a:latin typeface="Amazon Ember"/>
              </a:rPr>
              <a:t>The crow lies</a:t>
            </a:r>
          </a:p>
          <a:p>
            <a:pPr>
              <a:spcAft>
                <a:spcPts val="400"/>
              </a:spcAft>
            </a:pPr>
            <a:r>
              <a:rPr sz="1000" b="0" i="0">
                <a:solidFill>
                  <a:srgbClr val="161D26"/>
                </a:solidFill>
                <a:latin typeface="Amazon Ember"/>
              </a:rPr>
              <a:t>S1 is closest on the map, 25 min by road. S2 looks farther but is 21 min: a canyon, a river or a missing bridge bends the real distance.</a:t>
            </a:r>
          </a:p>
          <a:p>
            <a:pPr>
              <a:spcAft>
                <a:spcPts val="400"/>
              </a:spcAft>
            </a:pPr>
            <a:r>
              <a:rPr sz="1000" b="1" i="0">
                <a:solidFill>
                  <a:srgbClr val="161D26"/>
                </a:solidFill>
                <a:latin typeface="Amazon Ember"/>
              </a:rPr>
              <a:t>A road network is a graph</a:t>
            </a:r>
          </a:p>
          <a:p>
            <a:pPr>
              <a:spcAft>
                <a:spcPts val="400"/>
              </a:spcAft>
            </a:pPr>
            <a:r>
              <a:rPr sz="1000" b="0" i="0">
                <a:solidFill>
                  <a:srgbClr val="161D26"/>
                </a:solidFill>
                <a:latin typeface="Amazon Ember"/>
              </a:rPr>
              <a:t>nodes = intersections, edges = road segments weighted in seconds. Dijkstra grows outward from the pin, cheapest node first, until it has settled every shelter.</a:t>
            </a:r>
          </a:p>
          <a:p>
            <a:pPr>
              <a:spcAft>
                <a:spcPts val="400"/>
              </a:spcAft>
            </a:pPr>
            <a:r>
              <a:rPr sz="1000" b="1" i="0">
                <a:solidFill>
                  <a:srgbClr val="161D26"/>
                </a:solidFill>
                <a:latin typeface="Amazon Ember"/>
              </a:rPr>
              <a:t>Why preprocess</a:t>
            </a:r>
          </a:p>
          <a:p>
            <a:pPr>
              <a:spcAft>
                <a:spcPts val="400"/>
              </a:spcAft>
            </a:pPr>
            <a:r>
              <a:rPr sz="1000" b="0" i="0">
                <a:solidFill>
                  <a:srgbClr val="161D26"/>
                </a:solidFill>
                <a:latin typeface="Amazon Ember"/>
              </a:rPr>
              <a:t>on 36,294 roads a search per click is fine; on a region it is not. OSRM builds the graph once (15 s, 99 MB) and answers /nearest, /table and /route in milliseconds.</a:t>
            </a:r>
          </a:p>
          <a:p>
            <a:pPr>
              <a:spcAft>
                <a:spcPts val="400"/>
              </a:spcAft>
            </a:pPr>
            <a:r>
              <a:rPr sz="1000" b="1" i="0">
                <a:solidFill>
                  <a:srgbClr val="161D26"/>
                </a:solidFill>
                <a:latin typeface="Amazon Ember"/>
              </a:rPr>
              <a:t>Build-once artifact</a:t>
            </a:r>
          </a:p>
          <a:p>
            <a:pPr>
              <a:spcAft>
                <a:spcPts val="400"/>
              </a:spcAft>
            </a:pPr>
            <a:r>
              <a:rPr sz="1000" b="0" i="0">
                <a:solidFill>
                  <a:srgbClr val="161D26"/>
                </a:solidFill>
                <a:latin typeface="Amazon Ember"/>
              </a:rPr>
              <a:t>like the tiles: made in Phase 2, consumed by the app in Phase 3c.</a:t>
            </a:r>
          </a:p>
        </p:txBody>
      </p:sp>
      <p:sp>
        <p:nvSpPr>
          <p:cNvPr id="13" name="TextBox 12"/>
          <p:cNvSpPr txBox="1"/>
          <p:nvPr/>
        </p:nvSpPr>
        <p:spPr>
          <a:xfrm>
            <a:off x="384048" y="4526280"/>
            <a:ext cx="576072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Edge weights = length ÷ free-flow speed. Pink: the cheapest path pin → C → D → F → S2. Grey dashed: the straight line the map suggests.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Routing in three minutes, and three HTTP calls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914400"/>
            <a:ext cx="4114800" cy="3566160"/>
          </a:xfrm>
          <a:prstGeom prst="rect">
            <a:avLst/>
          </a:prstGeom>
          <a:noFill/>
        </p:spPr>
        <p:txBody>
          <a:bodyPr wrap="square" anchor="t" lIns="73152" rIns="73152" tIns="54864" bIns="54864">
            <a:spAutoFit/>
          </a:bodyPr>
          <a:lstStyle/>
          <a:p>
            <a:pPr>
              <a:spcAft>
                <a:spcPts val="400"/>
              </a:spcAft>
            </a:pPr>
            <a:r>
              <a:rPr sz="1100" b="1" i="0">
                <a:solidFill>
                  <a:srgbClr val="161D26"/>
                </a:solidFill>
                <a:latin typeface="Amazon Ember"/>
              </a:rPr>
              <a:t>A road map is a graph</a:t>
            </a:r>
            <a:r>
              <a:rPr sz="1100" b="0" i="0">
                <a:solidFill>
                  <a:srgbClr val="161D26"/>
                </a:solidFill>
                <a:latin typeface="Amazon Ember"/>
              </a:rPr>
              <a:t>: intersections are nodes, segments are edges, each edge costs seconds (length ÷ free-flow speed).</a:t>
            </a:r>
          </a:p>
          <a:p>
            <a:pPr>
              <a:spcAft>
                <a:spcPts val="400"/>
              </a:spcAft>
            </a:pPr>
            <a:r>
              <a:rPr sz="1100" b="1" i="0">
                <a:solidFill>
                  <a:srgbClr val="161D26"/>
                </a:solidFill>
                <a:latin typeface="Amazon Ember"/>
              </a:rPr>
              <a:t>A route is the cheapest path</a:t>
            </a:r>
            <a:r>
              <a:rPr sz="1100" b="0" i="0">
                <a:solidFill>
                  <a:srgbClr val="161D26"/>
                </a:solidFill>
                <a:latin typeface="Amazon Ember"/>
              </a:rPr>
              <a:t> — Dijkstra explores outward until it reaches the target.</a:t>
            </a:r>
          </a:p>
          <a:p>
            <a:pPr>
              <a:spcAft>
                <a:spcPts val="400"/>
              </a:spcAft>
            </a:pPr>
            <a:r>
              <a:rPr sz="1100" b="1" i="0">
                <a:solidFill>
                  <a:srgbClr val="161D26"/>
                </a:solidFill>
                <a:latin typeface="Amazon Ember"/>
              </a:rPr>
              <a:t>Too slow at scale</a:t>
            </a:r>
            <a:r>
              <a:rPr sz="1100" b="0" i="0">
                <a:solidFill>
                  <a:srgbClr val="161D26"/>
                </a:solidFill>
                <a:latin typeface="Amazon Ember"/>
              </a:rPr>
              <a:t> → OSRM preprocesses once: </a:t>
            </a:r>
            <a:r>
              <a:rPr sz="1100" b="1" i="0">
                <a:solidFill>
                  <a:srgbClr val="161D26"/>
                </a:solidFill>
                <a:latin typeface="Amazon Ember"/>
              </a:rPr>
              <a:t>MLD</a:t>
            </a:r>
            <a:r>
              <a:rPr sz="1100" b="0" i="0">
                <a:solidFill>
                  <a:srgbClr val="161D26"/>
                </a:solidFill>
                <a:latin typeface="Amazon Ember"/>
              </a:rPr>
              <a:t> partitions the graph into cells and precomputes costs between cell borders. Our graph: 15 s to build, 99 MB.</a:t>
            </a:r>
          </a:p>
          <a:p>
            <a:pPr>
              <a:spcAft>
                <a:spcPts val="400"/>
              </a:spcAft>
            </a:pPr>
            <a:r>
              <a:rPr sz="1100" b="1" i="0">
                <a:solidFill>
                  <a:srgbClr val="B30000"/>
                </a:solidFill>
                <a:latin typeface="Amazon Ember"/>
              </a:rPr>
              <a:t>Weights are free-flow speeds, not traffic.</a:t>
            </a:r>
            <a:r>
              <a:rPr sz="1100" b="0" i="0">
                <a:solidFill>
                  <a:srgbClr val="161D26"/>
                </a:solidFill>
                <a:latin typeface="Amazon Ember"/>
              </a:rPr>
              <a:t> "36 minutes" means 36 minutes on an empty road.</a:t>
            </a:r>
          </a:p>
        </p:txBody>
      </p:sp>
      <p:graphicFrame>
        <p:nvGraphicFramePr>
          <p:cNvPr id="12" name="Table 11"/>
          <p:cNvGraphicFramePr>
            <a:graphicFrameLocks noGrp="1"/>
          </p:cNvGraphicFramePr>
          <p:nvPr/>
        </p:nvGraphicFramePr>
        <p:xfrm>
          <a:off x="4663440" y="914400"/>
          <a:ext cx="4114800" cy="1316736"/>
        </p:xfrm>
        <a:graphic>
          <a:graphicData uri="http://schemas.openxmlformats.org/drawingml/2006/table">
            <a:tbl>
              <a:tblPr firstRow="1" bandRow="1">
                <a:tableStyleId>{5C22544A-7EE6-4342-B048-85BDC9FD1C3A}</a:tableStyleId>
              </a:tblPr>
              <a:tblGrid>
                <a:gridCol w="914400"/>
                <a:gridCol w="3200400"/>
              </a:tblGrid>
              <a:tr h="329184">
                <a:tc>
                  <a:txBody>
                    <a:bodyPr/>
                    <a:lstStyle/>
                    <a:p>
                      <a:r>
                        <a:rPr sz="1050" b="1" i="0">
                          <a:solidFill>
                            <a:srgbClr val="FFFFFF"/>
                          </a:solidFill>
                          <a:latin typeface="Amazon Ember"/>
                        </a:rPr>
                        <a:t>Call</a:t>
                      </a:r>
                    </a:p>
                  </a:txBody>
                  <a:tcPr marL="54864" marR="54864" marT="22860" marB="22860">
                    <a:solidFill>
                      <a:srgbClr val="161D26"/>
                    </a:solidFill>
                  </a:tcPr>
                </a:tc>
                <a:tc>
                  <a:txBody>
                    <a:bodyPr/>
                    <a:lstStyle/>
                    <a:p>
                      <a:r>
                        <a:rPr sz="1050" b="1" i="0">
                          <a:solidFill>
                            <a:srgbClr val="FFFFFF"/>
                          </a:solidFill>
                          <a:latin typeface="Amazon Ember"/>
                        </a:rPr>
                        <a:t>Question it answers</a:t>
                      </a:r>
                    </a:p>
                  </a:txBody>
                  <a:tcPr marL="54864" marR="54864" marT="22860" marB="22860">
                    <a:solidFill>
                      <a:srgbClr val="161D26"/>
                    </a:solidFill>
                  </a:tcPr>
                </a:tc>
              </a:tr>
              <a:tr h="329184">
                <a:tc>
                  <a:txBody>
                    <a:bodyPr/>
                    <a:lstStyle/>
                    <a:p>
                      <a:r>
                        <a:rPr sz="1050" b="0" i="0">
                          <a:solidFill>
                            <a:srgbClr val="FF6101"/>
                          </a:solidFill>
                          <a:latin typeface="Menlo"/>
                        </a:rPr>
                        <a:t>/nearest</a:t>
                      </a:r>
                    </a:p>
                  </a:txBody>
                  <a:tcPr marL="54864" marR="54864" marT="22860" marB="22860">
                    <a:solidFill>
                      <a:srgbClr val="F9F9F9"/>
                    </a:solidFill>
                  </a:tcPr>
                </a:tc>
                <a:tc>
                  <a:txBody>
                    <a:bodyPr/>
                    <a:lstStyle/>
                    <a:p>
                      <a:r>
                        <a:rPr sz="1050" b="0" i="0">
                          <a:solidFill>
                            <a:srgbClr val="161D26"/>
                          </a:solidFill>
                          <a:latin typeface="Amazon Ember"/>
                        </a:rPr>
                        <a:t>Which road point is closest to this coordinate? (snap)</a:t>
                      </a:r>
                    </a:p>
                  </a:txBody>
                  <a:tcPr marL="54864" marR="54864" marT="22860" marB="22860">
                    <a:solidFill>
                      <a:srgbClr val="F9F9F9"/>
                    </a:solidFill>
                  </a:tcPr>
                </a:tc>
              </a:tr>
              <a:tr h="329184">
                <a:tc>
                  <a:txBody>
                    <a:bodyPr/>
                    <a:lstStyle/>
                    <a:p>
                      <a:r>
                        <a:rPr sz="1050" b="0" i="0">
                          <a:solidFill>
                            <a:srgbClr val="FF6101"/>
                          </a:solidFill>
                          <a:latin typeface="Menlo"/>
                        </a:rPr>
                        <a:t>/route</a:t>
                      </a:r>
                    </a:p>
                  </a:txBody>
                  <a:tcPr marL="54864" marR="54864" marT="22860" marB="22860">
                    <a:solidFill>
                      <a:srgbClr val="FFFFFF"/>
                    </a:solidFill>
                  </a:tcPr>
                </a:tc>
                <a:tc>
                  <a:txBody>
                    <a:bodyPr/>
                    <a:lstStyle/>
                    <a:p>
                      <a:r>
                        <a:rPr sz="1050" b="0" i="0">
                          <a:solidFill>
                            <a:srgbClr val="161D26"/>
                          </a:solidFill>
                          <a:latin typeface="Amazon Ember"/>
                        </a:rPr>
                        <a:t>Path + duration + distance between two points</a:t>
                      </a:r>
                    </a:p>
                  </a:txBody>
                  <a:tcPr marL="54864" marR="54864" marT="22860" marB="22860">
                    <a:solidFill>
                      <a:srgbClr val="FFFFFF"/>
                    </a:solidFill>
                  </a:tcPr>
                </a:tc>
              </a:tr>
              <a:tr h="329184">
                <a:tc>
                  <a:txBody>
                    <a:bodyPr/>
                    <a:lstStyle/>
                    <a:p>
                      <a:r>
                        <a:rPr sz="1050" b="0" i="0">
                          <a:solidFill>
                            <a:srgbClr val="FF6101"/>
                          </a:solidFill>
                          <a:latin typeface="Menlo"/>
                        </a:rPr>
                        <a:t>/table</a:t>
                      </a:r>
                    </a:p>
                  </a:txBody>
                  <a:tcPr marL="54864" marR="54864" marT="22860" marB="22860">
                    <a:solidFill>
                      <a:srgbClr val="F9F9F9"/>
                    </a:solidFill>
                  </a:tcPr>
                </a:tc>
                <a:tc>
                  <a:txBody>
                    <a:bodyPr/>
                    <a:lstStyle/>
                    <a:p>
                      <a:r>
                        <a:rPr sz="1050" b="0" i="0">
                          <a:solidFill>
                            <a:srgbClr val="161D26"/>
                          </a:solidFill>
                          <a:latin typeface="Amazon Ember"/>
                        </a:rPr>
                        <a:t>Durations (and distances) from many points to many points</a:t>
                      </a:r>
                    </a:p>
                  </a:txBody>
                  <a:tcPr marL="54864" marR="54864" marT="22860" marB="22860">
                    <a:solidFill>
                      <a:srgbClr val="F9F9F9"/>
                    </a:solidFill>
                  </a:tcPr>
                </a:tc>
              </a:tr>
            </a:tbl>
          </a:graphicData>
        </a:graphic>
      </p:graphicFrame>
      <p:sp>
        <p:nvSpPr>
          <p:cNvPr id="13" name="Rectangle 12"/>
          <p:cNvSpPr/>
          <p:nvPr/>
        </p:nvSpPr>
        <p:spPr>
          <a:xfrm>
            <a:off x="4663440" y="2377440"/>
            <a:ext cx="4114800" cy="502920"/>
          </a:xfrm>
          <a:prstGeom prst="rect">
            <a:avLst/>
          </a:prstGeom>
          <a:solidFill>
            <a:srgbClr val="F9F9F9"/>
          </a:solidFill>
          <a:ln w="9525">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l">
              <a:spcAft>
                <a:spcPts val="0"/>
              </a:spcAft>
            </a:pPr>
            <a:r>
              <a:rPr sz="850">
                <a:solidFill>
                  <a:srgbClr val="161D26"/>
                </a:solidFill>
                <a:latin typeface="Menlo"/>
              </a:rPr>
              <a:t>GET $OSRM_URL/{service}/v1/driving/{lon},{lat};{lon},{lat}   # longitude first!</a:t>
            </a:r>
          </a:p>
        </p:txBody>
      </p:sp>
      <p:graphicFrame>
        <p:nvGraphicFramePr>
          <p:cNvPr id="14" name="Table 13"/>
          <p:cNvGraphicFramePr>
            <a:graphicFrameLocks noGrp="1"/>
          </p:cNvGraphicFramePr>
          <p:nvPr/>
        </p:nvGraphicFramePr>
        <p:xfrm>
          <a:off x="4663440" y="3017520"/>
          <a:ext cx="4114800" cy="1243584"/>
        </p:xfrm>
        <a:graphic>
          <a:graphicData uri="http://schemas.openxmlformats.org/drawingml/2006/table">
            <a:tbl>
              <a:tblPr firstRow="1" bandRow="1">
                <a:tableStyleId>{5C22544A-7EE6-4342-B048-85BDC9FD1C3A}</a:tableStyleId>
              </a:tblPr>
              <a:tblGrid>
                <a:gridCol w="1371600"/>
                <a:gridCol w="2743200"/>
              </a:tblGrid>
              <a:tr h="310896">
                <a:tc>
                  <a:txBody>
                    <a:bodyPr/>
                    <a:lstStyle/>
                    <a:p>
                      <a:r>
                        <a:rPr sz="950" b="1" i="0">
                          <a:solidFill>
                            <a:srgbClr val="FFFFFF"/>
                          </a:solidFill>
                          <a:latin typeface="Amazon Ember"/>
                        </a:rPr>
                        <a:t>Tier</a:t>
                      </a:r>
                    </a:p>
                  </a:txBody>
                  <a:tcPr marL="54864" marR="54864" marT="22860" marB="22860">
                    <a:solidFill>
                      <a:srgbClr val="161D26"/>
                    </a:solidFill>
                  </a:tcPr>
                </a:tc>
                <a:tc>
                  <a:txBody>
                    <a:bodyPr/>
                    <a:lstStyle/>
                    <a:p>
                      <a:r>
                        <a:rPr sz="950" b="1" i="0">
                          <a:solidFill>
                            <a:srgbClr val="FFFFFF"/>
                          </a:solidFill>
                          <a:latin typeface="Amazon Ember"/>
                        </a:rPr>
                        <a:t>$OSRM_URL</a:t>
                      </a:r>
                    </a:p>
                  </a:txBody>
                  <a:tcPr marL="54864" marR="54864" marT="22860" marB="22860">
                    <a:solidFill>
                      <a:srgbClr val="161D26"/>
                    </a:solidFill>
                  </a:tcPr>
                </a:tc>
              </a:tr>
              <a:tr h="310896">
                <a:tc>
                  <a:txBody>
                    <a:bodyPr/>
                    <a:lstStyle/>
                    <a:p>
                      <a:r>
                        <a:rPr sz="950" b="0" i="0">
                          <a:solidFill>
                            <a:srgbClr val="161D26"/>
                          </a:solidFill>
                          <a:latin typeface="Amazon Ember"/>
                        </a:rPr>
                        <a:t>1 Codespaces</a:t>
                      </a:r>
                    </a:p>
                  </a:txBody>
                  <a:tcPr marL="54864" marR="54864" marT="22860" marB="22860">
                    <a:solidFill>
                      <a:srgbClr val="F9F9F9"/>
                    </a:solidFill>
                  </a:tcPr>
                </a:tc>
                <a:tc>
                  <a:txBody>
                    <a:bodyPr/>
                    <a:lstStyle/>
                    <a:p>
                      <a:r>
                        <a:rPr sz="950" b="0" i="0">
                          <a:solidFill>
                            <a:srgbClr val="FF6101"/>
                          </a:solidFill>
                          <a:latin typeface="Menlo"/>
                        </a:rPr>
                        <a:t>&lt;forwarded-8080-URL&gt;/osrm</a:t>
                      </a:r>
                      <a:r>
                        <a:rPr sz="950" b="0" i="0">
                          <a:solidFill>
                            <a:srgbClr val="161D26"/>
                          </a:solidFill>
                          <a:latin typeface="Amazon Ember"/>
                        </a:rPr>
                        <a:t> (Ports → globe; never forward 5000)</a:t>
                      </a:r>
                    </a:p>
                  </a:txBody>
                  <a:tcPr marL="54864" marR="54864" marT="22860" marB="22860">
                    <a:solidFill>
                      <a:srgbClr val="F9F9F9"/>
                    </a:solidFill>
                  </a:tcPr>
                </a:tc>
              </a:tr>
              <a:tr h="310896">
                <a:tc>
                  <a:txBody>
                    <a:bodyPr/>
                    <a:lstStyle/>
                    <a:p>
                      <a:r>
                        <a:rPr sz="950" b="0" i="0">
                          <a:solidFill>
                            <a:srgbClr val="161D26"/>
                          </a:solidFill>
                          <a:latin typeface="Amazon Ember"/>
                        </a:rPr>
                        <a:t>2 Local Docker / Finch</a:t>
                      </a:r>
                    </a:p>
                  </a:txBody>
                  <a:tcPr marL="54864" marR="54864" marT="22860" marB="22860">
                    <a:solidFill>
                      <a:srgbClr val="FFFFFF"/>
                    </a:solidFill>
                  </a:tcPr>
                </a:tc>
                <a:tc>
                  <a:txBody>
                    <a:bodyPr/>
                    <a:lstStyle/>
                    <a:p>
                      <a:r>
                        <a:rPr sz="950" b="0" i="0">
                          <a:solidFill>
                            <a:srgbClr val="FF6101"/>
                          </a:solidFill>
                          <a:latin typeface="Menlo"/>
                        </a:rPr>
                        <a:t>http://localhost:8080/osrm</a:t>
                      </a:r>
                      <a:r>
                        <a:rPr sz="950" b="0" i="0">
                          <a:solidFill>
                            <a:srgbClr val="161D26"/>
                          </a:solidFill>
                          <a:latin typeface="Amazon Ember"/>
                        </a:rPr>
                        <a:t> (Caddy strips /osrm → osrm:5000)</a:t>
                      </a:r>
                    </a:p>
                  </a:txBody>
                  <a:tcPr marL="54864" marR="54864" marT="22860" marB="22860">
                    <a:solidFill>
                      <a:srgbClr val="FFFFFF"/>
                    </a:solidFill>
                  </a:tcPr>
                </a:tc>
              </a:tr>
              <a:tr h="310896">
                <a:tc>
                  <a:txBody>
                    <a:bodyPr/>
                    <a:lstStyle/>
                    <a:p>
                      <a:r>
                        <a:rPr sz="950" b="0" i="0">
                          <a:solidFill>
                            <a:srgbClr val="161D26"/>
                          </a:solidFill>
                          <a:latin typeface="Amazon Ember"/>
                        </a:rPr>
                        <a:t>3 Native · 4 Browser</a:t>
                      </a:r>
                    </a:p>
                  </a:txBody>
                  <a:tcPr marL="54864" marR="54864" marT="22860" marB="22860">
                    <a:solidFill>
                      <a:srgbClr val="F9F9F9"/>
                    </a:solidFill>
                  </a:tcPr>
                </a:tc>
                <a:tc>
                  <a:txBody>
                    <a:bodyPr/>
                    <a:lstStyle/>
                    <a:p>
                      <a:r>
                        <a:rPr sz="950" b="0" i="0">
                          <a:solidFill>
                            <a:srgbClr val="161D26"/>
                          </a:solidFill>
                          <a:latin typeface="Amazon Ember"/>
                        </a:rPr>
                        <a:t>no routing — pair with a neighbour</a:t>
                      </a:r>
                    </a:p>
                  </a:txBody>
                  <a:tcPr marL="54864" marR="54864" marT="22860" marB="22860">
                    <a:solidFill>
                      <a:srgbClr val="F9F9F9"/>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browser and OSRM say to each other</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block4-sequence.png"/>
          <p:cNvPicPr>
            <a:picLocks noChangeAspect="1"/>
          </p:cNvPicPr>
          <p:nvPr/>
        </p:nvPicPr>
        <p:blipFill>
          <a:blip r:embed="rId2"/>
          <a:stretch>
            <a:fillRect/>
          </a:stretch>
        </p:blipFill>
        <p:spPr>
          <a:xfrm>
            <a:off x="1365022" y="868680"/>
            <a:ext cx="6413955" cy="374903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Nearest on the map ≠ nearest by road</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05-foresthill.png"/>
          <p:cNvPicPr>
            <a:picLocks noChangeAspect="1"/>
          </p:cNvPicPr>
          <p:nvPr/>
        </p:nvPicPr>
        <p:blipFill>
          <a:blip r:embed="rId2"/>
          <a:stretch>
            <a:fillRect/>
          </a:stretch>
        </p:blipFill>
        <p:spPr>
          <a:xfrm>
            <a:off x="384048" y="914400"/>
            <a:ext cx="5120640" cy="3200400"/>
          </a:xfrm>
          <a:prstGeom prst="rect">
            <a:avLst/>
          </a:prstGeom>
          <a:ln w="9525">
            <a:solidFill>
              <a:srgbClr val="D5DBDA"/>
            </a:solidFill>
          </a:ln>
        </p:spPr>
      </p:pic>
      <p:sp>
        <p:nvSpPr>
          <p:cNvPr id="12" name="TextBox 11"/>
          <p:cNvSpPr txBox="1"/>
          <p:nvPr/>
        </p:nvSpPr>
        <p:spPr>
          <a:xfrm>
            <a:off x="5669280" y="914400"/>
            <a:ext cx="3108960" cy="356616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Foresthill</a:t>
            </a:r>
            <a:r>
              <a:rPr sz="1050" b="0" i="0">
                <a:solidFill>
                  <a:srgbClr val="161D26"/>
                </a:solidFill>
                <a:latin typeface="Amazon Ember"/>
              </a:rPr>
              <a:t> sits on a ridge above the American River canyon.</a:t>
            </a:r>
          </a:p>
          <a:p>
            <a:pPr>
              <a:spcAft>
                <a:spcPts val="400"/>
              </a:spcAft>
            </a:pPr>
            <a:r>
              <a:rPr sz="1050" b="1" i="0">
                <a:solidFill>
                  <a:srgbClr val="161D26"/>
                </a:solidFill>
                <a:latin typeface="Amazon Ember"/>
              </a:rPr>
              <a:t>Exercise B (crow-flies): </a:t>
            </a:r>
            <a:r>
              <a:rPr sz="1050" b="0" i="0">
                <a:solidFill>
                  <a:srgbClr val="161D26"/>
                </a:solidFill>
                <a:latin typeface="Amazon Ember"/>
              </a:rPr>
              <a:t>Georgetown School, 12.4 km</a:t>
            </a:r>
          </a:p>
          <a:p>
            <a:pPr>
              <a:spcAft>
                <a:spcPts val="400"/>
              </a:spcAft>
            </a:pPr>
            <a:r>
              <a:rPr sz="1050" b="1" i="0">
                <a:solidFill>
                  <a:srgbClr val="161D26"/>
                </a:solidFill>
                <a:latin typeface="Amazon Ember"/>
              </a:rPr>
              <a:t>Phase 3c (/table, by road): </a:t>
            </a:r>
            <a:r>
              <a:rPr sz="1050" b="0" i="0">
                <a:solidFill>
                  <a:srgbClr val="161D26"/>
                </a:solidFill>
                <a:latin typeface="Amazon Ember"/>
              </a:rPr>
              <a:t>Placer High School, 35.8 min / 31.8 km. Georgetown is 59.7 min / 54 km by road.</a:t>
            </a:r>
          </a:p>
          <a:p>
            <a:pPr>
              <a:spcAft>
                <a:spcPts val="400"/>
              </a:spcAft>
            </a:pPr>
            <a:r>
              <a:rPr sz="1050" b="0" i="0">
                <a:solidFill>
                  <a:srgbClr val="161D26"/>
                </a:solidFill>
                <a:latin typeface="Amazon Ember"/>
              </a:rPr>
              <a:t>A ridge, a river canyon or a missing bridge makes the "close" shelter far. This is why the shelter list is ranked by /table, not by ST_Distance.</a:t>
            </a:r>
          </a:p>
          <a:p>
            <a:pPr>
              <a:spcAft>
                <a:spcPts val="400"/>
              </a:spcAft>
            </a:pPr>
            <a:r>
              <a:rPr sz="1050" b="1" i="0">
                <a:solidFill>
                  <a:srgbClr val="161D26"/>
                </a:solidFill>
                <a:latin typeface="Amazon Ember"/>
              </a:rPr>
              <a:t>How the graph was built: </a:t>
            </a:r>
            <a:r>
              <a:rPr sz="850" b="0" i="0">
                <a:solidFill>
                  <a:srgbClr val="FF6101"/>
                </a:solidFill>
                <a:latin typeface="Menlo"/>
              </a:rPr>
              <a:t>osmium extract -b &lt;bbox&gt; norcal-latest.osm.pbf → osrm-extract -p car.lua → osrm-partition → osrm-customize → osrm-routed --algorithm mld --max-table-size 500</a:t>
            </a:r>
          </a:p>
          <a:p>
            <a:pPr>
              <a:spcAft>
                <a:spcPts val="400"/>
              </a:spcAft>
            </a:pPr>
            <a:r>
              <a:rPr sz="1050" b="1" i="0">
                <a:solidFill>
                  <a:srgbClr val="FF6101"/>
                </a:solidFill>
                <a:latin typeface="Amazon Ember"/>
              </a:rPr>
              <a:t>Finish early?</a:t>
            </a:r>
            <a:r>
              <a:rPr sz="1050" b="0" i="0">
                <a:solidFill>
                  <a:srgbClr val="161D26"/>
                </a:solidFill>
                <a:latin typeface="Amazon Ember"/>
              </a:rPr>
              <a:t> build the graph by hand: </a:t>
            </a:r>
            <a:r>
              <a:rPr sz="850" b="0" i="0">
                <a:solidFill>
                  <a:srgbClr val="FF6101"/>
                </a:solidFill>
                <a:latin typeface="Menlo"/>
              </a:rPr>
              <a:t>scripts/build-osrm.sh data/osm/colfax.osm.pbf</a:t>
            </a:r>
          </a:p>
        </p:txBody>
      </p:sp>
      <p:sp>
        <p:nvSpPr>
          <p:cNvPr id="13" name="TextBox 12"/>
          <p:cNvSpPr txBox="1"/>
          <p:nvPr/>
        </p:nvSpPr>
        <p:spPr>
          <a:xfrm>
            <a:off x="384048" y="4526280"/>
            <a:ext cx="512064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Demo at Foresthill (-120.8182, 39.0199): ranked list from one /table call, route from /route.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routes to coverage: /table once, draw the reach</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06-reach-all.png"/>
          <p:cNvPicPr>
            <a:picLocks noChangeAspect="1"/>
          </p:cNvPicPr>
          <p:nvPr/>
        </p:nvPicPr>
        <p:blipFill>
          <a:blip r:embed="rId2"/>
          <a:stretch>
            <a:fillRect/>
          </a:stretch>
        </p:blipFill>
        <p:spPr>
          <a:xfrm>
            <a:off x="384048" y="914400"/>
            <a:ext cx="4114800" cy="2571750"/>
          </a:xfrm>
          <a:prstGeom prst="rect">
            <a:avLst/>
          </a:prstGeom>
          <a:ln w="9525">
            <a:solidFill>
              <a:srgbClr val="D5DBDA"/>
            </a:solidFill>
          </a:ln>
        </p:spPr>
      </p:pic>
      <p:sp>
        <p:nvSpPr>
          <p:cNvPr id="12" name="TextBox 11"/>
          <p:cNvSpPr txBox="1"/>
          <p:nvPr/>
        </p:nvSpPr>
        <p:spPr>
          <a:xfrm>
            <a:off x="384048" y="3566160"/>
            <a:ext cx="411480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Shelter reach view — all shelters: ≤ 10 min green · ≤ 20 blue · ≤ 30 light red (dissolved H3 cells)</a:t>
            </a:r>
          </a:p>
        </p:txBody>
      </p:sp>
      <p:pic>
        <p:nvPicPr>
          <p:cNvPr id="13" name="Picture 12" descr="07-reach-auburn.png"/>
          <p:cNvPicPr>
            <a:picLocks noChangeAspect="1"/>
          </p:cNvPicPr>
          <p:nvPr/>
        </p:nvPicPr>
        <p:blipFill>
          <a:blip r:embed="rId3"/>
          <a:stretch>
            <a:fillRect/>
          </a:stretch>
        </p:blipFill>
        <p:spPr>
          <a:xfrm>
            <a:off x="4645152" y="914400"/>
            <a:ext cx="4114800" cy="2571750"/>
          </a:xfrm>
          <a:prstGeom prst="rect">
            <a:avLst/>
          </a:prstGeom>
          <a:ln w="9525">
            <a:solidFill>
              <a:srgbClr val="D5DBDA"/>
            </a:solidFill>
          </a:ln>
        </p:spPr>
      </p:pic>
      <p:sp>
        <p:nvSpPr>
          <p:cNvPr id="14" name="TextBox 13"/>
          <p:cNvSpPr txBox="1"/>
          <p:nvPr/>
        </p:nvSpPr>
        <p:spPr>
          <a:xfrm>
            <a:off x="4645152" y="3566160"/>
            <a:ext cx="4114800" cy="274320"/>
          </a:xfrm>
          <a:prstGeom prst="rect">
            <a:avLst/>
          </a:prstGeom>
          <a:noFill/>
        </p:spPr>
        <p:txBody>
          <a:bodyPr wrap="square" anchor="t" lIns="73152" rIns="73152" tIns="54864" bIns="54864">
            <a:spAutoFit/>
          </a:bodyPr>
          <a:lstStyle/>
          <a:p>
            <a:pPr>
              <a:spcAft>
                <a:spcPts val="400"/>
              </a:spcAft>
            </a:pPr>
            <a:r>
              <a:rPr sz="900" b="0" i="0">
                <a:solidFill>
                  <a:srgbClr val="6B7280"/>
                </a:solidFill>
                <a:latin typeface="Amazon Ember"/>
              </a:rPr>
              <a:t>Click a shelter → only its 10 / 20 / 30-minute reach</a:t>
            </a:r>
          </a:p>
        </p:txBody>
      </p:sp>
      <p:sp>
        <p:nvSpPr>
          <p:cNvPr id="15" name="TextBox 14"/>
          <p:cNvSpPr txBox="1"/>
          <p:nvPr/>
        </p:nvSpPr>
        <p:spPr>
          <a:xfrm>
            <a:off x="384048" y="3931920"/>
            <a:ext cx="8385048" cy="594360"/>
          </a:xfrm>
          <a:prstGeom prst="rect">
            <a:avLst/>
          </a:prstGeom>
          <a:noFill/>
        </p:spPr>
        <p:txBody>
          <a:bodyPr wrap="square" anchor="t" lIns="73152" rIns="73152" tIns="54864" bIns="54864">
            <a:spAutoFit/>
          </a:bodyPr>
          <a:lstStyle/>
          <a:p>
            <a:pPr>
              <a:spcAft>
                <a:spcPts val="400"/>
              </a:spcAft>
            </a:pPr>
            <a:r>
              <a:rPr sz="1050" b="0" i="0">
                <a:solidFill>
                  <a:srgbClr val="FF6101"/>
                </a:solidFill>
                <a:latin typeface="Menlo"/>
              </a:rPr>
              <a:t>scripts/make-coverage.py</a:t>
            </a:r>
            <a:r>
              <a:rPr sz="1050" b="0" i="0">
                <a:solidFill>
                  <a:srgbClr val="161D26"/>
                </a:solidFill>
                <a:latin typeface="Amazon Ember"/>
              </a:rPr>
              <a:t>: H3 res-8 grid over the bbox (3,341 cells with a road) → one batched </a:t>
            </a:r>
            <a:r>
              <a:rPr sz="1050" b="0" i="0">
                <a:solidFill>
                  <a:srgbClr val="FF6101"/>
                </a:solidFill>
                <a:latin typeface="Menlo"/>
              </a:rPr>
              <a:t>/table</a:t>
            </a:r>
            <a:r>
              <a:rPr sz="1050" b="0" i="0">
                <a:solidFill>
                  <a:srgbClr val="161D26"/>
                </a:solidFill>
                <a:latin typeface="Amazon Ember"/>
              </a:rPr>
              <a:t> call (cells × 10 shelters) → DuckDB dissolves the cells into one band per shelter. Stretch A in Phase 3c is the 400-point version with </a:t>
            </a:r>
            <a:r>
              <a:rPr sz="1050" b="0" i="0">
                <a:solidFill>
                  <a:srgbClr val="FF6101"/>
                </a:solidFill>
                <a:latin typeface="Menlo"/>
              </a:rPr>
              <a:t>grid.sql</a:t>
            </a:r>
            <a:r>
              <a:rPr sz="1050" b="0" i="0">
                <a:solidFill>
                  <a:srgbClr val="161D26"/>
                </a:solidFill>
                <a:latin typeface="Amazon Ember"/>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3c · hands-on — routing</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896112"/>
            <a:ext cx="4160520" cy="3611880"/>
          </a:xfrm>
          <a:prstGeom prst="rect">
            <a:avLst/>
          </a:prstGeom>
          <a:noFill/>
        </p:spPr>
        <p:txBody>
          <a:bodyPr wrap="square" anchor="t" lIns="73152" rIns="73152" tIns="54864" bIns="54864">
            <a:spAutoFit/>
          </a:bodyPr>
          <a:lstStyle/>
          <a:p>
            <a:pPr>
              <a:spcAft>
                <a:spcPts val="400"/>
              </a:spcAft>
            </a:pPr>
            <a:r>
              <a:rPr sz="1000" b="1" i="0">
                <a:solidFill>
                  <a:srgbClr val="FF6101"/>
                </a:solidFill>
                <a:latin typeface="Amazon Ember"/>
              </a:rPr>
              <a:t>Step 1 · Hello route</a:t>
            </a:r>
          </a:p>
          <a:p>
            <a:pPr>
              <a:spcAft>
                <a:spcPts val="400"/>
              </a:spcAft>
            </a:pPr>
            <a:r>
              <a:rPr sz="900" b="0" i="0">
                <a:solidFill>
                  <a:srgbClr val="FF6101"/>
                </a:solidFill>
                <a:latin typeface="Menlo"/>
              </a:rPr>
              <a:t>curl "$OSRM_URL/nearest/v1/driving/-121.08,38.90"</a:t>
            </a:r>
            <a:r>
              <a:rPr sz="1000" b="0" i="0">
                <a:solidFill>
                  <a:srgbClr val="161D26"/>
                </a:solidFill>
                <a:latin typeface="Amazon Ember"/>
              </a:rPr>
              <a:t>  (PowerShell: curl.exe)</a:t>
            </a:r>
          </a:p>
          <a:p>
            <a:pPr>
              <a:spcAft>
                <a:spcPts val="400"/>
              </a:spcAft>
            </a:pPr>
            <a:r>
              <a:rPr sz="1000" b="0" i="0">
                <a:solidFill>
                  <a:srgbClr val="161D26"/>
                </a:solidFill>
                <a:latin typeface="Amazon Ember"/>
              </a:rPr>
              <a:t>Expected: JSON with "code":"Ok" and a waypoints array. Then /route…?geometries=geojson; paste via steps/step1-route.js → pink line Foresthill → Placer High, console "Route: 35.8 min, 31.8 km".</a:t>
            </a:r>
          </a:p>
          <a:p>
            <a:pPr>
              <a:spcAft>
                <a:spcPts val="400"/>
              </a:spcAft>
            </a:pPr>
            <a:r>
              <a:rPr sz="1000" b="1" i="0">
                <a:solidFill>
                  <a:srgbClr val="FF6101"/>
                </a:solidFill>
                <a:latin typeface="Amazon Ember"/>
              </a:rPr>
              <a:t>Step 2 · Nearest shelter by road</a:t>
            </a:r>
          </a:p>
          <a:p>
            <a:pPr>
              <a:spcAft>
                <a:spcPts val="400"/>
              </a:spcAft>
            </a:pPr>
            <a:r>
              <a:rPr sz="1000" b="0" i="0">
                <a:solidFill>
                  <a:srgbClr val="161D26"/>
                </a:solidFill>
                <a:latin typeface="Amazon Ember"/>
              </a:rPr>
              <a:t>in steps/step2-scaffold.js </a:t>
            </a:r>
          </a:p>
          <a:p>
            <a:pPr>
              <a:spcAft>
                <a:spcPts val="400"/>
              </a:spcAft>
            </a:pPr>
            <a:r>
              <a:rPr sz="1000" b="1" i="0">
                <a:solidFill>
                  <a:srgbClr val="161D26"/>
                </a:solidFill>
                <a:latin typeface="Amazon Ember"/>
              </a:rPr>
              <a:t>we write 6 lines</a:t>
            </a:r>
            <a:r>
              <a:rPr sz="1000" b="0" i="0">
                <a:solidFill>
                  <a:srgbClr val="161D26"/>
                </a:solidFill>
                <a:latin typeface="Amazon Ember"/>
              </a:rPr>
              <a:t>: /table URL → argmin durations[0] → /route → setData → popup. Compare with Exercise B. Drag either marker.</a:t>
            </a:r>
          </a:p>
          <a:p>
            <a:pPr>
              <a:spcAft>
                <a:spcPts val="400"/>
              </a:spcAft>
            </a:pPr>
            <a:r>
              <a:rPr sz="1000" b="1" i="0">
                <a:solidFill>
                  <a:srgbClr val="161D26"/>
                </a:solidFill>
                <a:latin typeface="Amazon Ember"/>
              </a:rPr>
              <a:t> not routing? → </a:t>
            </a:r>
            <a:r>
              <a:rPr sz="1000" b="0" i="0">
                <a:solidFill>
                  <a:srgbClr val="161D26"/>
                </a:solidFill>
                <a:latin typeface="Amazon Ember"/>
              </a:rPr>
              <a:t>open steps/step3-solution.js</a:t>
            </a:r>
          </a:p>
        </p:txBody>
      </p:sp>
      <p:sp>
        <p:nvSpPr>
          <p:cNvPr id="12" name="TextBox 11"/>
          <p:cNvSpPr txBox="1"/>
          <p:nvPr/>
        </p:nvSpPr>
        <p:spPr>
          <a:xfrm>
            <a:off x="4709160" y="896112"/>
            <a:ext cx="4069080" cy="3611880"/>
          </a:xfrm>
          <a:prstGeom prst="rect">
            <a:avLst/>
          </a:prstGeom>
          <a:noFill/>
        </p:spPr>
        <p:txBody>
          <a:bodyPr wrap="square" anchor="t" lIns="73152" rIns="73152" tIns="54864" bIns="54864">
            <a:spAutoFit/>
          </a:bodyPr>
          <a:lstStyle/>
          <a:p>
            <a:pPr>
              <a:spcAft>
                <a:spcPts val="400"/>
              </a:spcAft>
            </a:pPr>
            <a:r>
              <a:rPr sz="1000" b="1" i="0">
                <a:solidFill>
                  <a:srgbClr val="FF6101"/>
                </a:solidFill>
                <a:latin typeface="Amazon Ember"/>
              </a:rPr>
              <a:t>Step 3 · I-80 is closed</a:t>
            </a:r>
          </a:p>
          <a:p>
            <a:pPr>
              <a:spcAft>
                <a:spcPts val="400"/>
              </a:spcAft>
            </a:pPr>
            <a:r>
              <a:rPr sz="1000" b="0" i="0">
                <a:solidFill>
                  <a:srgbClr val="161D26"/>
                </a:solidFill>
                <a:latin typeface="Amazon Ember"/>
              </a:rPr>
              <a:t>add the </a:t>
            </a:r>
          </a:p>
          <a:p>
            <a:pPr>
              <a:spcAft>
                <a:spcPts val="400"/>
              </a:spcAft>
            </a:pPr>
            <a:r>
              <a:rPr sz="1000" b="0" i="0">
                <a:solidFill>
                  <a:srgbClr val="FF6101"/>
                </a:solidFill>
                <a:latin typeface="Menlo"/>
              </a:rPr>
              <a:t>&amp;exclude=motorway</a:t>
            </a:r>
            <a:r>
              <a:rPr sz="1000" b="0" i="0">
                <a:solidFill>
                  <a:srgbClr val="161D26"/>
                </a:solidFill>
                <a:latin typeface="Amazon Ember"/>
              </a:rPr>
              <a:t> toggle; start from </a:t>
            </a:r>
            <a:r>
              <a:rPr sz="1000" b="1" i="0">
                <a:solidFill>
                  <a:srgbClr val="161D26"/>
                </a:solidFill>
                <a:latin typeface="Amazon Ember"/>
              </a:rPr>
              <a:t>Dutch Flat (-120.838, 39.198)</a:t>
            </a:r>
            <a:r>
              <a:rPr sz="1000" b="0" i="0">
                <a:solidFill>
                  <a:srgbClr val="161D26"/>
                </a:solidFill>
                <a:latin typeface="Amazon Ember"/>
              </a:rPr>
              <a:t>: 17 → 31 min to Sierra Vista CC, the route leaves I-80 for Dutch Flat Rd / Rollins Lake Rd.</a:t>
            </a:r>
          </a:p>
          <a:p>
            <a:pPr>
              <a:spcAft>
                <a:spcPts val="400"/>
              </a:spcAft>
            </a:pPr>
            <a:r>
              <a:rPr sz="1000" b="1" i="0">
                <a:solidFill>
                  <a:srgbClr val="B30000"/>
                </a:solidFill>
                <a:latin typeface="Amazon Ember"/>
              </a:rPr>
              <a:t>Real closures aren't a parameter</a:t>
            </a:r>
            <a:r>
              <a:rPr sz="1000" b="0" i="0">
                <a:solidFill>
                  <a:srgbClr val="161D26"/>
                </a:solidFill>
                <a:latin typeface="Amazon Ember"/>
              </a:rPr>
              <a:t> — nobody flags a downed power line before someone drives into it. This shows the calculation, not detection.</a:t>
            </a:r>
          </a:p>
          <a:p>
            <a:pPr>
              <a:spcAft>
                <a:spcPts val="400"/>
              </a:spcAft>
            </a:pPr>
            <a:r>
              <a:rPr sz="1000" b="1" i="0">
                <a:solidFill>
                  <a:srgbClr val="161D26"/>
                </a:solidFill>
                <a:latin typeface="Amazon Ember"/>
              </a:rPr>
              <a:t>Tiers 3/4: </a:t>
            </a:r>
            <a:r>
              <a:rPr sz="1000" b="0" i="0">
                <a:solidFill>
                  <a:srgbClr val="161D26"/>
                </a:solidFill>
                <a:latin typeface="Amazon Ember"/>
              </a:rPr>
              <a:t>no routing by design — pair with a Docker/Codespaces neighbour or follow the screen.</a:t>
            </a:r>
          </a:p>
          <a:p>
            <a:pPr>
              <a:spcAft>
                <a:spcPts val="400"/>
              </a:spcAft>
            </a:pPr>
            <a:r>
              <a:rPr sz="1000" b="1" i="0">
                <a:solidFill>
                  <a:srgbClr val="FF6101"/>
                </a:solidFill>
                <a:latin typeface="Amazon Ember"/>
              </a:rPr>
              <a:t>Finish early? Stretch A</a:t>
            </a:r>
            <a:r>
              <a:rPr sz="1000" b="0" i="0">
                <a:solidFill>
                  <a:srgbClr val="161D26"/>
                </a:solidFill>
                <a:latin typeface="Amazon Ember"/>
              </a:rPr>
              <a:t> 15-min reach: grid.sql → one /table POST (400 points)   </a:t>
            </a:r>
            <a:r>
              <a:rPr sz="1000" b="1" i="0">
                <a:solidFill>
                  <a:srgbClr val="FF6101"/>
                </a:solidFill>
                <a:latin typeface="Amazon Ember"/>
              </a:rPr>
              <a:t>Stretch B</a:t>
            </a:r>
            <a:r>
              <a:rPr sz="1000" b="0" i="0">
                <a:solidFill>
                  <a:srgbClr val="161D26"/>
                </a:solidFill>
                <a:latin typeface="Amazon Ember"/>
              </a:rPr>
              <a:t> build the graph for Colfax — finish at home, the repo has the solution.</a:t>
            </a:r>
          </a:p>
          <a:p>
            <a:pPr>
              <a:spcAft>
                <a:spcPts val="400"/>
              </a:spcAft>
            </a:pPr>
            <a:r>
              <a:rPr sz="1000" b="1" i="0">
                <a:solidFill>
                  <a:srgbClr val="161D26"/>
                </a:solidFill>
                <a:latin typeface="Amazon Ember"/>
              </a:rPr>
              <a:t>Checkpoint </a:t>
            </a:r>
            <a:r>
              <a:rPr sz="1000" b="0" i="0">
                <a:solidFill>
                  <a:srgbClr val="161D26"/>
                </a:solidFill>
                <a:latin typeface="Amazon Ember"/>
              </a:rPr>
              <a:t>drag anywhere → line + popup update; toggle changes the route; footer disclaimer visible.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FF6101"/>
                </a:solidFill>
              </a:rPr>
              <a:t>PHASE 4</a:t>
            </a:r>
          </a:p>
          <a:p>
            <a:r>
              <a:rPr sz="3600"/>
              <a:t>Adapt the pipeline to a community of our choice</a:t>
            </a:r>
          </a:p>
        </p:txBody>
      </p:sp>
      <p:sp>
        <p:nvSpPr>
          <p:cNvPr id="9" name="Footer Placeholder 5">
            <a:extLst>
              <a:ext uri="{FF2B5EF4-FFF2-40B4-BE49-F238E27FC236}">
                <a16:creationId xmlns:a16="http://schemas.microsoft.com/office/drawing/2014/main" id="{2D4714FF-B25D-F7C4-188C-F8378460F5CD}"/>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71F5A9F8-4432-0796-5F1F-2FC8919117FC}"/>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1069848" y="3703320"/>
            <a:ext cx="6858000" cy="640080"/>
          </a:xfrm>
          <a:prstGeom prst="rect">
            <a:avLst/>
          </a:prstGeom>
          <a:noFill/>
        </p:spPr>
        <p:txBody>
          <a:bodyPr wrap="square" anchor="t" lIns="73152" rIns="73152" tIns="54864" bIns="54864">
            <a:spAutoFit/>
          </a:bodyPr>
          <a:lstStyle/>
          <a:p>
            <a:pPr>
              <a:spcAft>
                <a:spcPts val="400"/>
              </a:spcAft>
            </a:pPr>
            <a:r>
              <a:rPr sz="1200" b="1" i="0">
                <a:solidFill>
                  <a:srgbClr val="161D26"/>
                </a:solidFill>
                <a:latin typeface="Amazon Ember"/>
              </a:rPr>
              <a:t>one box → fetch → build → the same pages</a:t>
            </a:r>
            <a:r>
              <a:rPr sz="1200" b="0" i="0">
                <a:solidFill>
                  <a:srgbClr val="6B7280"/>
                </a:solidFill>
                <a:latin typeface="Amazon Ember"/>
              </a:rPr>
              <a:t>   versions.env · fetch-overture.sh · fetch-osm.sh · build-osrm.sh · build.sh · make-coverage.py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4 in one picture — one box, the same scripts, our own town</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block5-adapt.png"/>
          <p:cNvPicPr>
            <a:picLocks noChangeAspect="1"/>
          </p:cNvPicPr>
          <p:nvPr/>
        </p:nvPicPr>
        <p:blipFill>
          <a:blip r:embed="rId2"/>
          <a:stretch>
            <a:fillRect/>
          </a:stretch>
        </p:blipFill>
        <p:spPr>
          <a:xfrm>
            <a:off x="384048" y="1569020"/>
            <a:ext cx="8385048" cy="1936879"/>
          </a:xfrm>
          <a:prstGeom prst="rect">
            <a:avLst/>
          </a:prstGeom>
        </p:spPr>
      </p:pic>
      <p:sp>
        <p:nvSpPr>
          <p:cNvPr id="12" name="TextBox 11"/>
          <p:cNvSpPr txBox="1"/>
          <p:nvPr/>
        </p:nvSpPr>
        <p:spPr>
          <a:xfrm>
            <a:off x="384048" y="4206240"/>
            <a:ext cx="8385048" cy="411480"/>
          </a:xfrm>
          <a:prstGeom prst="rect">
            <a:avLst/>
          </a:prstGeom>
          <a:noFill/>
        </p:spPr>
        <p:txBody>
          <a:bodyPr wrap="square" anchor="t" lIns="73152" rIns="73152" tIns="54864" bIns="54864">
            <a:spAutoFit/>
          </a:bodyPr>
          <a:lstStyle/>
          <a:p>
            <a:pPr>
              <a:spcAft>
                <a:spcPts val="400"/>
              </a:spcAft>
            </a:pPr>
            <a:r>
              <a:rPr sz="1050" b="1" i="0">
                <a:solidFill>
                  <a:srgbClr val="FF6101"/>
                </a:solidFill>
                <a:latin typeface="Amazon Ember"/>
              </a:rPr>
              <a:t>Phase 4: </a:t>
            </a:r>
            <a:r>
              <a:rPr sz="1050" b="0" i="0">
                <a:solidFill>
                  <a:srgbClr val="161D26"/>
                </a:solidFill>
                <a:latin typeface="Amazon Ember"/>
              </a:rPr>
              <a:t>fetch-overture.sh → fetch-hazard.sh → shelters → fetch-osm.sh + build-osrm.sh → build.sh → make-coverage.py → 5 marked lines  ·  </a:t>
            </a:r>
            <a:r>
              <a:rPr sz="1050" b="1" i="0">
                <a:solidFill>
                  <a:srgbClr val="161D26"/>
                </a:solidFill>
                <a:latin typeface="Amazon Ember"/>
              </a:rPr>
              <a:t>Pinned: </a:t>
            </a:r>
            <a:r>
              <a:rPr sz="1050" b="0" i="0">
                <a:solidFill>
                  <a:srgbClr val="161D26"/>
                </a:solidFill>
                <a:latin typeface="Amazon Ember"/>
              </a:rPr>
              <a:t>DuckDB 2.0.0 · Planetiler 0.10.2 · pmtiles 1.31.2 · MapLibre 6.14 · OSRM v26.10.0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Reproducibility, then swap the community</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384048" y="914400"/>
            <a:ext cx="4114800" cy="3566160"/>
          </a:xfrm>
          <a:prstGeom prst="rect">
            <a:avLst/>
          </a:prstGeom>
          <a:noFill/>
        </p:spPr>
        <p:txBody>
          <a:bodyPr wrap="square" anchor="t" lIns="73152" rIns="73152" tIns="54864" bIns="54864">
            <a:spAutoFit/>
          </a:bodyPr>
          <a:lstStyle/>
          <a:p>
            <a:pPr>
              <a:spcAft>
                <a:spcPts val="400"/>
              </a:spcAft>
            </a:pPr>
            <a:r>
              <a:rPr sz="1100" b="1" i="0">
                <a:solidFill>
                  <a:srgbClr val="161D26"/>
                </a:solidFill>
                <a:latin typeface="Amazon Ember"/>
              </a:rPr>
              <a:t>If we can't rebuild it next year with the same answers, it's a demo, not a method.</a:t>
            </a:r>
          </a:p>
          <a:p>
            <a:pPr>
              <a:spcAft>
                <a:spcPts val="400"/>
              </a:spcAft>
            </a:pPr>
            <a:r>
              <a:rPr sz="1100" b="0" i="0">
                <a:solidFill>
                  <a:srgbClr val="FF6101"/>
                </a:solidFill>
                <a:latin typeface="Menlo"/>
              </a:rPr>
              <a:t>versions.env</a:t>
            </a:r>
            <a:r>
              <a:rPr sz="1100" b="0" i="0">
                <a:solidFill>
                  <a:srgbClr val="161D26"/>
                </a:solidFill>
                <a:latin typeface="Amazon Ember"/>
              </a:rPr>
              <a:t> — one file pins every tool and image; </a:t>
            </a:r>
            <a:r>
              <a:rPr sz="1100" b="0" i="0">
                <a:solidFill>
                  <a:srgbClr val="FF6101"/>
                </a:solidFill>
                <a:latin typeface="Menlo"/>
              </a:rPr>
              <a:t>scripts/check-versions.sh</a:t>
            </a:r>
            <a:r>
              <a:rPr sz="1100" b="0" i="0">
                <a:solidFill>
                  <a:srgbClr val="161D26"/>
                </a:solidFill>
                <a:latin typeface="Amazon Ember"/>
              </a:rPr>
              <a:t> fails CI on drift</a:t>
            </a:r>
          </a:p>
          <a:p>
            <a:pPr>
              <a:spcAft>
                <a:spcPts val="400"/>
              </a:spcAft>
            </a:pPr>
            <a:r>
              <a:rPr sz="1100" b="1" i="0">
                <a:solidFill>
                  <a:srgbClr val="161D26"/>
                </a:solidFill>
                <a:latin typeface="Amazon Ember"/>
              </a:rPr>
              <a:t>Dated extracts</a:t>
            </a:r>
            <a:r>
              <a:rPr sz="1100" b="0" i="0">
                <a:solidFill>
                  <a:srgbClr val="161D26"/>
                </a:solidFill>
                <a:latin typeface="Amazon Ember"/>
              </a:rPr>
              <a:t>: Overture 2026-09-23.1, a dated Geofabrik norcal snapshot (2026-10-22)</a:t>
            </a:r>
          </a:p>
          <a:p>
            <a:pPr>
              <a:spcAft>
                <a:spcPts val="400"/>
              </a:spcAft>
            </a:pPr>
            <a:r>
              <a:rPr sz="1100" b="0" i="0">
                <a:solidFill>
                  <a:srgbClr val="FF6101"/>
                </a:solidFill>
                <a:latin typeface="Menlo"/>
              </a:rPr>
              <a:t>data/CHECKSUMS.sha256</a:t>
            </a:r>
            <a:r>
              <a:rPr sz="1100" b="0" i="0">
                <a:solidFill>
                  <a:srgbClr val="161D26"/>
                </a:solidFill>
                <a:latin typeface="Amazon Ember"/>
              </a:rPr>
              <a:t> — verify the 143 MB bundle (OSM clip, OSRM graph, tiles, planetiler.jar) we downloaded</a:t>
            </a:r>
          </a:p>
          <a:p>
            <a:pPr>
              <a:spcAft>
                <a:spcPts val="400"/>
              </a:spcAft>
            </a:pPr>
            <a:r>
              <a:rPr sz="1100" b="1" i="0">
                <a:solidFill>
                  <a:srgbClr val="161D26"/>
                </a:solidFill>
                <a:latin typeface="Amazon Ember"/>
              </a:rPr>
              <a:t>One script per step</a:t>
            </a:r>
            <a:r>
              <a:rPr sz="1100" b="0" i="0">
                <a:solidFill>
                  <a:srgbClr val="161D26"/>
                </a:solidFill>
                <a:latin typeface="Amazon Ember"/>
              </a:rPr>
              <a:t>: fetch-overture.sh · fetch-hazard.sh · fetch-osm.sh → build-osrm.sh · 01-tiles/build.sh · make-coverage.py — all GeoJSON in, artifacts out</a:t>
            </a:r>
          </a:p>
        </p:txBody>
      </p:sp>
      <p:sp>
        <p:nvSpPr>
          <p:cNvPr id="12" name="Rectangle 11"/>
          <p:cNvSpPr/>
          <p:nvPr/>
        </p:nvSpPr>
        <p:spPr>
          <a:xfrm>
            <a:off x="4663440" y="914400"/>
            <a:ext cx="4114800" cy="1783080"/>
          </a:xfrm>
          <a:prstGeom prst="rect">
            <a:avLst/>
          </a:prstGeom>
          <a:solidFill>
            <a:srgbClr val="F9F9F9"/>
          </a:solidFill>
          <a:ln w="12700">
            <a:solidFill>
              <a:srgbClr val="D5DB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941832"/>
            <a:ext cx="3931920" cy="1737360"/>
          </a:xfrm>
          <a:prstGeom prst="rect">
            <a:avLst/>
          </a:prstGeom>
          <a:noFill/>
        </p:spPr>
        <p:txBody>
          <a:bodyPr wrap="square" anchor="t" lIns="73152" rIns="73152" tIns="54864" bIns="54864">
            <a:spAutoFit/>
          </a:bodyPr>
          <a:lstStyle/>
          <a:p>
            <a:pPr>
              <a:spcAft>
                <a:spcPts val="400"/>
              </a:spcAft>
            </a:pPr>
            <a:r>
              <a:rPr sz="1200" b="1" i="0">
                <a:solidFill>
                  <a:srgbClr val="FF6101"/>
                </a:solidFill>
                <a:latin typeface="Amazon Ember"/>
              </a:rPr>
              <a:t>PHASE 4 · Swap the community</a:t>
            </a:r>
          </a:p>
          <a:p>
            <a:pPr>
              <a:spcAft>
                <a:spcPts val="400"/>
              </a:spcAft>
            </a:pPr>
            <a:r>
              <a:rPr sz="1000" b="0" i="0">
                <a:solidFill>
                  <a:srgbClr val="161D26"/>
                </a:solidFill>
                <a:latin typeface="Amazon Ember"/>
              </a:rPr>
              <a:t>1. git switch -c my-town · versions.env: BBOX_W/S/E/N + OSM_EXTRACT_URL</a:t>
            </a:r>
          </a:p>
          <a:p>
            <a:pPr>
              <a:spcAft>
                <a:spcPts val="400"/>
              </a:spcAft>
            </a:pPr>
            <a:r>
              <a:rPr sz="1000" b="0" i="0">
                <a:solidFill>
                  <a:srgbClr val="161D26"/>
                </a:solidFill>
                <a:latin typeface="Amazon Ember"/>
              </a:rPr>
              <a:t>2. </a:t>
            </a:r>
            <a:r>
              <a:rPr sz="1000" b="0" i="0">
                <a:solidFill>
                  <a:srgbClr val="FF6101"/>
                </a:solidFill>
                <a:latin typeface="Menlo"/>
              </a:rPr>
              <a:t>scripts/fetch-overture.sh</a:t>
            </a:r>
            <a:r>
              <a:rPr sz="1000" b="0" i="0">
                <a:solidFill>
                  <a:srgbClr val="161D26"/>
                </a:solidFill>
                <a:latin typeface="Amazon Ember"/>
              </a:rPr>
              <a:t> (≈ 20 s) · </a:t>
            </a:r>
            <a:r>
              <a:rPr sz="1000" b="0" i="0">
                <a:solidFill>
                  <a:srgbClr val="FF6101"/>
                </a:solidFill>
                <a:latin typeface="Menlo"/>
              </a:rPr>
              <a:t>scripts/fetch-hazard.sh --none</a:t>
            </a:r>
          </a:p>
          <a:p>
            <a:pPr>
              <a:spcAft>
                <a:spcPts val="400"/>
              </a:spcAft>
            </a:pPr>
            <a:r>
              <a:rPr sz="1000" b="0" i="0">
                <a:solidFill>
                  <a:srgbClr val="161D26"/>
                </a:solidFill>
                <a:latin typeface="Amazon Ember"/>
              </a:rPr>
              <a:t>3. shelters → </a:t>
            </a:r>
            <a:r>
              <a:rPr sz="1000" b="0" i="0">
                <a:solidFill>
                  <a:srgbClr val="FF6101"/>
                </a:solidFill>
                <a:latin typeface="Menlo"/>
              </a:rPr>
              <a:t>fetch-osm.sh</a:t>
            </a:r>
            <a:r>
              <a:rPr sz="1000" b="0" i="0">
                <a:solidFill>
                  <a:srgbClr val="161D26"/>
                </a:solidFill>
                <a:latin typeface="Amazon Ember"/>
              </a:rPr>
              <a:t> + </a:t>
            </a:r>
            <a:r>
              <a:rPr sz="1000" b="0" i="0">
                <a:solidFill>
                  <a:srgbClr val="FF6101"/>
                </a:solidFill>
                <a:latin typeface="Menlo"/>
              </a:rPr>
              <a:t>build-osrm.sh</a:t>
            </a:r>
            <a:r>
              <a:rPr sz="1000" b="0" i="0">
                <a:solidFill>
                  <a:srgbClr val="161D26"/>
                </a:solidFill>
                <a:latin typeface="Amazon Ember"/>
              </a:rPr>
              <a:t> → </a:t>
            </a:r>
            <a:r>
              <a:rPr sz="1000" b="0" i="0">
                <a:solidFill>
                  <a:srgbClr val="FF6101"/>
                </a:solidFill>
                <a:latin typeface="Menlo"/>
              </a:rPr>
              <a:t>build.sh</a:t>
            </a:r>
            <a:r>
              <a:rPr sz="1000" b="0" i="0">
                <a:solidFill>
                  <a:srgbClr val="161D26"/>
                </a:solidFill>
                <a:latin typeface="Amazon Ember"/>
              </a:rPr>
              <a:t> → </a:t>
            </a:r>
            <a:r>
              <a:rPr sz="1000" b="0" i="0">
                <a:solidFill>
                  <a:srgbClr val="FF6101"/>
                </a:solidFill>
                <a:latin typeface="Menlo"/>
              </a:rPr>
              <a:t>make-coverage.py</a:t>
            </a:r>
          </a:p>
          <a:p>
            <a:pPr>
              <a:spcAft>
                <a:spcPts val="400"/>
              </a:spcAft>
            </a:pPr>
            <a:r>
              <a:rPr sz="1000" b="1" i="0">
                <a:solidFill>
                  <a:srgbClr val="161D26"/>
                </a:solidFill>
                <a:latin typeface="Amazon Ember"/>
              </a:rPr>
              <a:t>The OSM region download is the big one</a:t>
            </a:r>
            <a:r>
              <a:rPr sz="1000" b="0" i="0">
                <a:solidFill>
                  <a:srgbClr val="161D26"/>
                </a:solidFill>
                <a:latin typeface="Amazon Ember"/>
              </a:rPr>
              <a:t> (a US state, 100 MB – 1 GB); everything else runs in seconds.</a:t>
            </a:r>
          </a:p>
        </p:txBody>
      </p:sp>
      <p:sp>
        <p:nvSpPr>
          <p:cNvPr id="14" name="TextBox 13"/>
          <p:cNvSpPr txBox="1"/>
          <p:nvPr/>
        </p:nvSpPr>
        <p:spPr>
          <a:xfrm>
            <a:off x="4663440" y="2834640"/>
            <a:ext cx="4114800" cy="164592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Swap the hazard</a:t>
            </a:r>
          </a:p>
          <a:p>
            <a:pPr>
              <a:spcAft>
                <a:spcPts val="400"/>
              </a:spcAft>
            </a:pPr>
            <a:r>
              <a:rPr sz="1050" b="0" i="0">
                <a:solidFill>
                  <a:srgbClr val="161D26"/>
                </a:solidFill>
                <a:latin typeface="Amazon Ember"/>
              </a:rPr>
              <a:t>FEMA NFHL flood zones instead of fire zones: polygons → ST_Intersects → tiles → match on a zone field. A data change, not a code change.</a:t>
            </a:r>
          </a:p>
          <a:p>
            <a:pPr>
              <a:spcAft>
                <a:spcPts val="400"/>
              </a:spcAft>
            </a:pPr>
            <a:r>
              <a:rPr sz="1050" b="1" i="0">
                <a:solidFill>
                  <a:srgbClr val="161D26"/>
                </a:solidFill>
                <a:latin typeface="Amazon Ember"/>
              </a:rPr>
              <a:t>Going live</a:t>
            </a:r>
            <a:r>
              <a:rPr sz="1050" b="0" i="0">
                <a:solidFill>
                  <a:srgbClr val="161D26"/>
                </a:solidFill>
                <a:latin typeface="Amazon Ember"/>
              </a:rPr>
              <a:t> (CAL FIRE perimeters feed) </a:t>
            </a:r>
            <a:r>
              <a:rPr sz="1050" b="1" i="0">
                <a:solidFill>
                  <a:srgbClr val="B30000"/>
                </a:solidFill>
                <a:latin typeface="Amazon Ember"/>
              </a:rPr>
              <a:t>raises the stakes on every caveat</a:t>
            </a:r>
            <a:r>
              <a:rPr sz="1050" b="0" i="0">
                <a:solidFill>
                  <a:srgbClr val="161D26"/>
                </a:solidFill>
                <a:latin typeface="Amazon Ember"/>
              </a:rPr>
              <a:t> from "what we leave out": status, drive time, closures, capacity.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Laptop → planet: same shape, bigger inputs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graphicFrame>
        <p:nvGraphicFramePr>
          <p:cNvPr id="11" name="Table 10"/>
          <p:cNvGraphicFramePr>
            <a:graphicFrameLocks noGrp="1"/>
          </p:cNvGraphicFramePr>
          <p:nvPr/>
        </p:nvGraphicFramePr>
        <p:xfrm>
          <a:off x="384048" y="960120"/>
          <a:ext cx="8385048" cy="2523744"/>
        </p:xfrm>
        <a:graphic>
          <a:graphicData uri="http://schemas.openxmlformats.org/drawingml/2006/table">
            <a:tbl>
              <a:tblPr firstRow="1" bandRow="1">
                <a:tableStyleId>{5C22544A-7EE6-4342-B048-85BDC9FD1C3A}</a:tableStyleId>
              </a:tblPr>
              <a:tblGrid>
                <a:gridCol w="1097280"/>
                <a:gridCol w="2834640"/>
                <a:gridCol w="4453128"/>
              </a:tblGrid>
              <a:tr h="420624">
                <a:tc>
                  <a:txBody>
                    <a:bodyPr/>
                    <a:lstStyle/>
                    <a:p>
                      <a:r>
                        <a:rPr sz="1000" b="1" i="0">
                          <a:solidFill>
                            <a:srgbClr val="FFFFFF"/>
                          </a:solidFill>
                          <a:latin typeface="Amazon Ember"/>
                        </a:rPr>
                        <a:t>Stage</a:t>
                      </a:r>
                    </a:p>
                  </a:txBody>
                  <a:tcPr marL="54864" marR="54864" marT="22860" marB="22860">
                    <a:solidFill>
                      <a:srgbClr val="161D26"/>
                    </a:solidFill>
                  </a:tcPr>
                </a:tc>
                <a:tc>
                  <a:txBody>
                    <a:bodyPr/>
                    <a:lstStyle/>
                    <a:p>
                      <a:r>
                        <a:rPr sz="1000" b="1" i="0">
                          <a:solidFill>
                            <a:srgbClr val="FFFFFF"/>
                          </a:solidFill>
                          <a:latin typeface="Amazon Ember"/>
                        </a:rPr>
                        <a:t>Today (0.4 sq°)</a:t>
                      </a:r>
                    </a:p>
                  </a:txBody>
                  <a:tcPr marL="54864" marR="54864" marT="22860" marB="22860">
                    <a:solidFill>
                      <a:srgbClr val="161D26"/>
                    </a:solidFill>
                  </a:tcPr>
                </a:tc>
                <a:tc>
                  <a:txBody>
                    <a:bodyPr/>
                    <a:lstStyle/>
                    <a:p>
                      <a:r>
                        <a:rPr sz="1000" b="1" i="0">
                          <a:solidFill>
                            <a:srgbClr val="FFFFFF"/>
                          </a:solidFill>
                          <a:latin typeface="Amazon Ember"/>
                        </a:rPr>
                        <a:t>At scale</a:t>
                      </a:r>
                    </a:p>
                  </a:txBody>
                  <a:tcPr marL="54864" marR="54864" marT="22860" marB="22860">
                    <a:solidFill>
                      <a:srgbClr val="161D26"/>
                    </a:solidFill>
                  </a:tcPr>
                </a:tc>
              </a:tr>
              <a:tr h="420624">
                <a:tc>
                  <a:txBody>
                    <a:bodyPr/>
                    <a:lstStyle/>
                    <a:p>
                      <a:r>
                        <a:rPr sz="1000" b="0" i="0">
                          <a:solidFill>
                            <a:srgbClr val="161D26"/>
                          </a:solidFill>
                          <a:latin typeface="Amazon Ember"/>
                        </a:rPr>
                        <a:t>Extract</a:t>
                      </a:r>
                    </a:p>
                  </a:txBody>
                  <a:tcPr marL="54864" marR="54864" marT="22860" marB="22860">
                    <a:solidFill>
                      <a:srgbClr val="F9F9F9"/>
                    </a:solidFill>
                  </a:tcPr>
                </a:tc>
                <a:tc>
                  <a:txBody>
                    <a:bodyPr/>
                    <a:lstStyle/>
                    <a:p>
                      <a:r>
                        <a:rPr sz="1000" b="0" i="0">
                          <a:solidFill>
                            <a:srgbClr val="161D26"/>
                          </a:solidFill>
                          <a:latin typeface="Amazon Ember"/>
                        </a:rPr>
                        <a:t>DuckDB bbox pushdown, 24 s, six GeoJSON files (38 MB)</a:t>
                      </a:r>
                    </a:p>
                  </a:txBody>
                  <a:tcPr marL="54864" marR="54864" marT="22860" marB="22860">
                    <a:solidFill>
                      <a:srgbClr val="F9F9F9"/>
                    </a:solidFill>
                  </a:tcPr>
                </a:tc>
                <a:tc>
                  <a:txBody>
                    <a:bodyPr/>
                    <a:lstStyle/>
                    <a:p>
                      <a:r>
                        <a:rPr sz="1000" b="0" i="0">
                          <a:solidFill>
                            <a:srgbClr val="161D26"/>
                          </a:solidFill>
                          <a:latin typeface="Amazon Ember"/>
                        </a:rPr>
                        <a:t>same SQL; a region at a time; run where the data lives</a:t>
                      </a:r>
                    </a:p>
                  </a:txBody>
                  <a:tcPr marL="54864" marR="54864" marT="22860" marB="22860">
                    <a:solidFill>
                      <a:srgbClr val="F9F9F9"/>
                    </a:solidFill>
                  </a:tcPr>
                </a:tc>
              </a:tr>
              <a:tr h="420624">
                <a:tc>
                  <a:txBody>
                    <a:bodyPr/>
                    <a:lstStyle/>
                    <a:p>
                      <a:r>
                        <a:rPr sz="1000" b="0" i="0">
                          <a:solidFill>
                            <a:srgbClr val="161D26"/>
                          </a:solidFill>
                          <a:latin typeface="Amazon Ember"/>
                        </a:rPr>
                        <a:t>Tiles</a:t>
                      </a:r>
                    </a:p>
                  </a:txBody>
                  <a:tcPr marL="54864" marR="54864" marT="22860" marB="22860">
                    <a:solidFill>
                      <a:srgbClr val="FFFFFF"/>
                    </a:solidFill>
                  </a:tcPr>
                </a:tc>
                <a:tc>
                  <a:txBody>
                    <a:bodyPr/>
                    <a:lstStyle/>
                    <a:p>
                      <a:r>
                        <a:rPr sz="1000" b="0" i="0">
                          <a:solidFill>
                            <a:srgbClr val="161D26"/>
                          </a:solidFill>
                          <a:latin typeface="Amazon Ember"/>
                        </a:rPr>
                        <a:t>Planetiler 4 s → 6.5 MB PMTiles</a:t>
                      </a:r>
                    </a:p>
                  </a:txBody>
                  <a:tcPr marL="54864" marR="54864" marT="22860" marB="22860">
                    <a:solidFill>
                      <a:srgbClr val="FFFFFF"/>
                    </a:solidFill>
                  </a:tcPr>
                </a:tc>
                <a:tc>
                  <a:txBody>
                    <a:bodyPr/>
                    <a:lstStyle/>
                    <a:p>
                      <a:r>
                        <a:rPr sz="1000" b="0" i="0">
                          <a:solidFill>
                            <a:srgbClr val="161D26"/>
                          </a:solidFill>
                          <a:latin typeface="Amazon Ember"/>
                        </a:rPr>
                        <a:t>planet-scale builds are a documented Planetiler use case (bigger heap, more disk)</a:t>
                      </a:r>
                    </a:p>
                  </a:txBody>
                  <a:tcPr marL="54864" marR="54864" marT="22860" marB="22860">
                    <a:solidFill>
                      <a:srgbClr val="FFFFFF"/>
                    </a:solidFill>
                  </a:tcPr>
                </a:tc>
              </a:tr>
              <a:tr h="420624">
                <a:tc>
                  <a:txBody>
                    <a:bodyPr/>
                    <a:lstStyle/>
                    <a:p>
                      <a:r>
                        <a:rPr sz="1000" b="0" i="0">
                          <a:solidFill>
                            <a:srgbClr val="161D26"/>
                          </a:solidFill>
                          <a:latin typeface="Amazon Ember"/>
                        </a:rPr>
                        <a:t>Serve</a:t>
                      </a:r>
                    </a:p>
                  </a:txBody>
                  <a:tcPr marL="54864" marR="54864" marT="22860" marB="22860">
                    <a:solidFill>
                      <a:srgbClr val="F9F9F9"/>
                    </a:solidFill>
                  </a:tcPr>
                </a:tc>
                <a:tc>
                  <a:txBody>
                    <a:bodyPr/>
                    <a:lstStyle/>
                    <a:p>
                      <a:r>
                        <a:rPr sz="1000" b="0" i="0">
                          <a:solidFill>
                            <a:srgbClr val="161D26"/>
                          </a:solidFill>
                          <a:latin typeface="Amazon Ember"/>
                        </a:rPr>
                        <a:t>npx serve / Caddy on :8080</a:t>
                      </a:r>
                    </a:p>
                  </a:txBody>
                  <a:tcPr marL="54864" marR="54864" marT="22860" marB="22860">
                    <a:solidFill>
                      <a:srgbClr val="F9F9F9"/>
                    </a:solidFill>
                  </a:tcPr>
                </a:tc>
                <a:tc>
                  <a:txBody>
                    <a:bodyPr/>
                    <a:lstStyle/>
                    <a:p>
                      <a:r>
                        <a:rPr sz="1000" b="0" i="0">
                          <a:solidFill>
                            <a:srgbClr val="161D26"/>
                          </a:solidFill>
                          <a:latin typeface="Amazon Ember"/>
                        </a:rPr>
                        <a:t>PMTiles on object storage behind a CDN — one file, Range requests, no tile server</a:t>
                      </a:r>
                    </a:p>
                  </a:txBody>
                  <a:tcPr marL="54864" marR="54864" marT="22860" marB="22860">
                    <a:solidFill>
                      <a:srgbClr val="F9F9F9"/>
                    </a:solidFill>
                  </a:tcPr>
                </a:tc>
              </a:tr>
              <a:tr h="420624">
                <a:tc>
                  <a:txBody>
                    <a:bodyPr/>
                    <a:lstStyle/>
                    <a:p>
                      <a:r>
                        <a:rPr sz="1000" b="0" i="0">
                          <a:solidFill>
                            <a:srgbClr val="161D26"/>
                          </a:solidFill>
                          <a:latin typeface="Amazon Ember"/>
                        </a:rPr>
                        <a:t>Routing</a:t>
                      </a:r>
                    </a:p>
                  </a:txBody>
                  <a:tcPr marL="54864" marR="54864" marT="22860" marB="22860">
                    <a:solidFill>
                      <a:srgbClr val="FFFFFF"/>
                    </a:solidFill>
                  </a:tcPr>
                </a:tc>
                <a:tc>
                  <a:txBody>
                    <a:bodyPr/>
                    <a:lstStyle/>
                    <a:p>
                      <a:r>
                        <a:rPr sz="1000" b="0" i="0">
                          <a:solidFill>
                            <a:srgbClr val="161D26"/>
                          </a:solidFill>
                          <a:latin typeface="Amazon Ember"/>
                        </a:rPr>
                        <a:t>OSRM MLD graph 15 s, 99 MB</a:t>
                      </a:r>
                    </a:p>
                  </a:txBody>
                  <a:tcPr marL="54864" marR="54864" marT="22860" marB="22860">
                    <a:solidFill>
                      <a:srgbClr val="FFFFFF"/>
                    </a:solidFill>
                  </a:tcPr>
                </a:tc>
                <a:tc>
                  <a:txBody>
                    <a:bodyPr/>
                    <a:lstStyle/>
                    <a:p>
                      <a:r>
                        <a:rPr sz="1000" b="0" i="0">
                          <a:solidFill>
                            <a:srgbClr val="161D26"/>
                          </a:solidFill>
                          <a:latin typeface="Amazon Ember"/>
                        </a:rPr>
                        <a:t>one regional graph per region, not one planet graph per laptop; Valhalla / GraphHopper for isochrones, traffic</a:t>
                      </a:r>
                    </a:p>
                  </a:txBody>
                  <a:tcPr marL="54864" marR="54864" marT="22860" marB="22860">
                    <a:solidFill>
                      <a:srgbClr val="FFFFFF"/>
                    </a:solidFill>
                  </a:tcPr>
                </a:tc>
              </a:tr>
              <a:tr h="420624">
                <a:tc>
                  <a:txBody>
                    <a:bodyPr/>
                    <a:lstStyle/>
                    <a:p>
                      <a:r>
                        <a:rPr sz="1000" b="0" i="0">
                          <a:solidFill>
                            <a:srgbClr val="161D26"/>
                          </a:solidFill>
                          <a:latin typeface="Amazon Ember"/>
                        </a:rPr>
                        <a:t>Freshness</a:t>
                      </a:r>
                    </a:p>
                  </a:txBody>
                  <a:tcPr marL="54864" marR="54864" marT="22860" marB="22860">
                    <a:solidFill>
                      <a:srgbClr val="F9F9F9"/>
                    </a:solidFill>
                  </a:tcPr>
                </a:tc>
                <a:tc>
                  <a:txBody>
                    <a:bodyPr/>
                    <a:lstStyle/>
                    <a:p>
                      <a:r>
                        <a:rPr sz="1000" b="0" i="0">
                          <a:solidFill>
                            <a:srgbClr val="161D26"/>
                          </a:solidFill>
                          <a:latin typeface="Amazon Ember"/>
                        </a:rPr>
                        <a:t>pinned release 2026-09-23.1</a:t>
                      </a:r>
                    </a:p>
                  </a:txBody>
                  <a:tcPr marL="54864" marR="54864" marT="22860" marB="22860">
                    <a:solidFill>
                      <a:srgbClr val="F9F9F9"/>
                    </a:solidFill>
                  </a:tcPr>
                </a:tc>
                <a:tc>
                  <a:txBody>
                    <a:bodyPr/>
                    <a:lstStyle/>
                    <a:p>
                      <a:r>
                        <a:rPr sz="1000" b="0" i="0">
                          <a:solidFill>
                            <a:srgbClr val="161D26"/>
                          </a:solidFill>
                          <a:latin typeface="Amazon Ember"/>
                        </a:rPr>
                        <a:t>Overture publishes monthly — bump the pin in versions.env, rerun, diff the answers</a:t>
                      </a:r>
                    </a:p>
                  </a:txBody>
                  <a:tcPr marL="54864" marR="54864" marT="22860" marB="22860">
                    <a:solidFill>
                      <a:srgbClr val="F9F9F9"/>
                    </a:solidFill>
                  </a:tcPr>
                </a:tc>
              </a:tr>
            </a:tbl>
          </a:graphicData>
        </a:graphic>
      </p:graphicFrame>
      <p:sp>
        <p:nvSpPr>
          <p:cNvPr id="12" name="TextBox 11"/>
          <p:cNvSpPr txBox="1"/>
          <p:nvPr/>
        </p:nvSpPr>
        <p:spPr>
          <a:xfrm>
            <a:off x="384048" y="3657600"/>
            <a:ext cx="8385048" cy="822960"/>
          </a:xfrm>
          <a:prstGeom prst="rect">
            <a:avLst/>
          </a:prstGeom>
          <a:noFill/>
        </p:spPr>
        <p:txBody>
          <a:bodyPr wrap="square" anchor="t" lIns="73152" rIns="73152" tIns="54864" bIns="54864">
            <a:spAutoFit/>
          </a:bodyPr>
          <a:lstStyle/>
          <a:p>
            <a:pPr>
              <a:spcAft>
                <a:spcPts val="400"/>
              </a:spcAft>
            </a:pPr>
            <a:r>
              <a:rPr sz="1000" b="1" i="0">
                <a:solidFill>
                  <a:srgbClr val="161D26"/>
                </a:solidFill>
                <a:latin typeface="Amazon Ember"/>
              </a:rPr>
              <a:t>In the wild: </a:t>
            </a:r>
            <a:r>
              <a:rPr sz="1000" b="0" i="0">
                <a:solidFill>
                  <a:srgbClr val="161D26"/>
                </a:solidFill>
                <a:latin typeface="Amazon Ember"/>
              </a:rPr>
              <a:t>OSM underlies OSRM (public server router.project-osrm.org) · Planetiler builds OpenMapTiles-style and custom tiles · PMTiles is the Protomaps single-file format · Overture releases under the Linux Foundation · MapLibre is the open fork lineage of Mapbox GL.  Real systems add live closures, shelter status, capacity and traffic. We didn't.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a:solidFill>
                  <a:srgbClr val="FF6101"/>
                </a:solidFill>
              </a:rPr>
              <a:t>WRAP-UP</a:t>
            </a:r>
          </a:p>
          <a:p>
            <a:r>
              <a:rPr sz="3600"/>
              <a:t>Recap, licences, feedback</a:t>
            </a:r>
          </a:p>
        </p:txBody>
      </p:sp>
      <p:sp>
        <p:nvSpPr>
          <p:cNvPr id="9" name="Footer Placeholder 5">
            <a:extLst>
              <a:ext uri="{FF2B5EF4-FFF2-40B4-BE49-F238E27FC236}">
                <a16:creationId xmlns:a16="http://schemas.microsoft.com/office/drawing/2014/main" id="{2D4714FF-B25D-F7C4-188C-F8378460F5CD}"/>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71F5A9F8-4432-0796-5F1F-2FC8919117FC}"/>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sp>
        <p:nvSpPr>
          <p:cNvPr id="11" name="TextBox 10"/>
          <p:cNvSpPr txBox="1"/>
          <p:nvPr/>
        </p:nvSpPr>
        <p:spPr>
          <a:xfrm>
            <a:off x="1069848" y="3703320"/>
            <a:ext cx="6858000" cy="640080"/>
          </a:xfrm>
          <a:prstGeom prst="rect">
            <a:avLst/>
          </a:prstGeom>
          <a:noFill/>
        </p:spPr>
        <p:txBody>
          <a:bodyPr wrap="square" anchor="t" lIns="73152" rIns="73152" tIns="54864" bIns="54864">
            <a:spAutoFit/>
          </a:bodyPr>
          <a:lstStyle/>
          <a:p>
            <a:pPr>
              <a:spcAft>
                <a:spcPts val="400"/>
              </a:spcAft>
            </a:pPr>
            <a:r>
              <a:rPr sz="1200" b="1" i="0">
                <a:solidFill>
                  <a:srgbClr val="161D26"/>
                </a:solidFill>
                <a:latin typeface="Amazon Ember"/>
              </a:rPr>
              <a:t>What we built · where it lives · how to ask for help</a:t>
            </a:r>
            <a:r>
              <a:rPr sz="1200" b="0" i="0">
                <a:solidFill>
                  <a:srgbClr val="6B7280"/>
                </a:solidFill>
                <a:latin typeface="Amazon Ember"/>
              </a:rPr>
              <a:t>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 the pipeline we built</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pic>
        <p:nvPicPr>
          <p:cNvPr id="11" name="Picture 10" descr="recap.png"/>
          <p:cNvPicPr>
            <a:picLocks noChangeAspect="1"/>
          </p:cNvPicPr>
          <p:nvPr/>
        </p:nvPicPr>
        <p:blipFill>
          <a:blip r:embed="rId2"/>
          <a:stretch>
            <a:fillRect/>
          </a:stretch>
        </p:blipFill>
        <p:spPr>
          <a:xfrm>
            <a:off x="384048" y="1223173"/>
            <a:ext cx="8385048" cy="1211253"/>
          </a:xfrm>
          <a:prstGeom prst="rect">
            <a:avLst/>
          </a:prstGeom>
        </p:spPr>
      </p:pic>
      <p:sp>
        <p:nvSpPr>
          <p:cNvPr id="12" name="TextBox 11"/>
          <p:cNvSpPr txBox="1"/>
          <p:nvPr/>
        </p:nvSpPr>
        <p:spPr>
          <a:xfrm>
            <a:off x="384048" y="2880360"/>
            <a:ext cx="8385048" cy="173736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Open data + open tools: </a:t>
            </a:r>
            <a:r>
              <a:rPr sz="1050" b="0" i="0">
                <a:solidFill>
                  <a:srgbClr val="161D26"/>
                </a:solidFill>
                <a:latin typeface="Amazon Ember"/>
              </a:rPr>
              <a:t>no accounts, no licences to buy, no server to rent — all of it re-runs on a laptop.</a:t>
            </a:r>
          </a:p>
          <a:p>
            <a:pPr>
              <a:spcAft>
                <a:spcPts val="400"/>
              </a:spcAft>
            </a:pPr>
            <a:r>
              <a:rPr sz="1050" b="1" i="0">
                <a:solidFill>
                  <a:srgbClr val="161D26"/>
                </a:solidFill>
                <a:latin typeface="Amazon Ember"/>
              </a:rPr>
              <a:t>Two questions, one extract: </a:t>
            </a:r>
            <a:r>
              <a:rPr sz="1050" b="0" i="0">
                <a:solidFill>
                  <a:srgbClr val="161D26"/>
                </a:solidFill>
                <a:latin typeface="Amazon Ember"/>
              </a:rPr>
              <a:t>where are the safe places, and how do people reach them in time — a basemap and routes from the same data.</a:t>
            </a:r>
          </a:p>
          <a:p>
            <a:pPr>
              <a:spcAft>
                <a:spcPts val="400"/>
              </a:spcAft>
            </a:pPr>
            <a:r>
              <a:rPr sz="1050" b="1" i="0">
                <a:solidFill>
                  <a:srgbClr val="B30000"/>
                </a:solidFill>
                <a:latin typeface="Amazon Ember"/>
              </a:rPr>
              <a:t>It answers them on a good day. </a:t>
            </a:r>
            <a:r>
              <a:rPr sz="1050" b="0" i="0">
                <a:solidFill>
                  <a:srgbClr val="161D26"/>
                </a:solidFill>
                <a:latin typeface="Amazon Ember"/>
              </a:rPr>
              <a:t>It cannot tell anyone if today is a good day: shelter status, traffic, live closures and capacity are not in it.</a:t>
            </a:r>
          </a:p>
          <a:p>
            <a:pPr>
              <a:spcAft>
                <a:spcPts val="400"/>
              </a:spcAft>
            </a:pPr>
            <a:r>
              <a:rPr sz="1050" b="1" i="0">
                <a:solidFill>
                  <a:srgbClr val="161D26"/>
                </a:solidFill>
                <a:latin typeface="Amazon Ember"/>
              </a:rPr>
              <a:t>Keep: </a:t>
            </a:r>
            <a:r>
              <a:rPr sz="1050" b="0" i="0">
                <a:solidFill>
                  <a:srgbClr val="161D26"/>
                </a:solidFill>
                <a:latin typeface="Amazon Ember"/>
              </a:rPr>
              <a:t>the repo (MIT code, CC BY-SA 4.0 materials), the 143 MB data bundle (release data-v2), the public demo, and the habit: one box, one script per step.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Licences, attribution, links</a:t>
            </a:r>
          </a:p>
        </p:txBody>
      </p:sp>
      <p:sp>
        <p:nvSpPr>
          <p:cNvPr id="9" name="Footer Placeholder 5">
            <a:extLst>
              <a:ext uri="{FF2B5EF4-FFF2-40B4-BE49-F238E27FC236}">
                <a16:creationId xmlns:a16="http://schemas.microsoft.com/office/drawing/2014/main" id="{5F451445-1866-C0D1-9B7E-3E95E0FB1EC1}"/>
              </a:ext>
            </a:extLst>
          </p:cNvPr>
          <p:cNvSpPr>
            <a:spLocks noGrp="1"/>
          </p:cNvSpPr>
          <p:nvPr>
            <p:ph type="ftr" sz="quarter" idx="11"/>
          </p:nvPr>
        </p:nvSpPr>
        <p:spPr>
          <a:xfrm>
            <a:off x="1066800" y="4749473"/>
            <a:ext cx="3116580" cy="273844"/>
          </a:xfrm>
        </p:spPr>
        <p:txBody>
          <a:bodyPr/>
          <a:lstStyle>
            <a:lvl1pPr>
              <a:defRPr lang="en-US" b="0" smtClean="0">
                <a:solidFill>
                  <a:schemeClr val="tx1"/>
                </a:solidFill>
                <a:effectLst/>
              </a:defRPr>
            </a:lvl1pPr>
          </a:lstStyle>
          <a:p>
            <a:r>
              <a:rPr lang="en-US"/>
              <a:t>Routes to Safety · FOSS4G NA 2026 · CC BY-SA 4.0</a:t>
            </a:r>
            <a:endParaRPr lang="en-US" dirty="0"/>
          </a:p>
        </p:txBody>
      </p:sp>
      <p:sp>
        <p:nvSpPr>
          <p:cNvPr id="10" name="Slide Number Placeholder 6">
            <a:extLst>
              <a:ext uri="{FF2B5EF4-FFF2-40B4-BE49-F238E27FC236}">
                <a16:creationId xmlns:a16="http://schemas.microsoft.com/office/drawing/2014/main" id="{32BA89C5-3AE9-1302-DD4C-20C99418F5EB}"/>
              </a:ext>
            </a:extLst>
          </p:cNvPr>
          <p:cNvSpPr>
            <a:spLocks noGrp="1"/>
          </p:cNvSpPr>
          <p:nvPr>
            <p:ph type="sldNum" sz="quarter" idx="12"/>
          </p:nvPr>
        </p:nvSpPr>
        <p:spPr>
          <a:xfrm>
            <a:off x="381000" y="4749473"/>
            <a:ext cx="478536" cy="273844"/>
          </a:xfrm>
        </p:spPr>
        <p:txBody>
          <a:bodyPr/>
          <a:lstStyle>
            <a:lvl1pPr>
              <a:defRPr sz="600">
                <a:solidFill>
                  <a:schemeClr val="tx1"/>
                </a:solidFill>
                <a:latin typeface="Ember Modern Display Standard" panose="020B0503020204020204" pitchFamily="34" charset="0"/>
              </a:defRPr>
            </a:lvl1pPr>
          </a:lstStyle>
          <a:p>
            <a:fld id="{37A8A410-2624-46C7-9CE6-E56AAD504E3C}" type="slidenum">
              <a:rPr lang="en-US" smtClean="0"/>
              <a:pPr/>
              <a:t>‹#›</a:t>
            </a:fld>
            <a:endParaRPr lang="en-US" dirty="0"/>
          </a:p>
        </p:txBody>
      </p:sp>
      <p:graphicFrame>
        <p:nvGraphicFramePr>
          <p:cNvPr id="11" name="Table 10"/>
          <p:cNvGraphicFramePr>
            <a:graphicFrameLocks noGrp="1"/>
          </p:cNvGraphicFramePr>
          <p:nvPr/>
        </p:nvGraphicFramePr>
        <p:xfrm>
          <a:off x="384048" y="960120"/>
          <a:ext cx="4114800" cy="2340864"/>
        </p:xfrm>
        <a:graphic>
          <a:graphicData uri="http://schemas.openxmlformats.org/drawingml/2006/table">
            <a:tbl>
              <a:tblPr firstRow="1" bandRow="1">
                <a:tableStyleId>{5C22544A-7EE6-4342-B048-85BDC9FD1C3A}</a:tableStyleId>
              </a:tblPr>
              <a:tblGrid>
                <a:gridCol w="2011680"/>
                <a:gridCol w="2103120"/>
              </a:tblGrid>
              <a:tr h="292608">
                <a:tc>
                  <a:txBody>
                    <a:bodyPr/>
                    <a:lstStyle/>
                    <a:p>
                      <a:r>
                        <a:rPr sz="1000" b="1" i="0">
                          <a:solidFill>
                            <a:srgbClr val="FFFFFF"/>
                          </a:solidFill>
                          <a:latin typeface="Amazon Ember"/>
                        </a:rPr>
                        <a:t>What</a:t>
                      </a:r>
                    </a:p>
                  </a:txBody>
                  <a:tcPr marL="54864" marR="54864" marT="22860" marB="22860">
                    <a:solidFill>
                      <a:srgbClr val="161D26"/>
                    </a:solidFill>
                  </a:tcPr>
                </a:tc>
                <a:tc>
                  <a:txBody>
                    <a:bodyPr/>
                    <a:lstStyle/>
                    <a:p>
                      <a:r>
                        <a:rPr sz="1000" b="1" i="0">
                          <a:solidFill>
                            <a:srgbClr val="FFFFFF"/>
                          </a:solidFill>
                          <a:latin typeface="Amazon Ember"/>
                        </a:rPr>
                        <a:t>Licence</a:t>
                      </a:r>
                    </a:p>
                  </a:txBody>
                  <a:tcPr marL="54864" marR="54864" marT="22860" marB="22860">
                    <a:solidFill>
                      <a:srgbClr val="161D26"/>
                    </a:solidFill>
                  </a:tcPr>
                </a:tc>
              </a:tr>
              <a:tr h="292608">
                <a:tc>
                  <a:txBody>
                    <a:bodyPr/>
                    <a:lstStyle/>
                    <a:p>
                      <a:r>
                        <a:rPr sz="1000" b="0" i="0">
                          <a:solidFill>
                            <a:srgbClr val="161D26"/>
                          </a:solidFill>
                          <a:latin typeface="Amazon Ember"/>
                        </a:rPr>
                        <a:t>Code</a:t>
                      </a:r>
                    </a:p>
                  </a:txBody>
                  <a:tcPr marL="54864" marR="54864" marT="22860" marB="22860">
                    <a:solidFill>
                      <a:srgbClr val="F9F9F9"/>
                    </a:solidFill>
                  </a:tcPr>
                </a:tc>
                <a:tc>
                  <a:txBody>
                    <a:bodyPr/>
                    <a:lstStyle/>
                    <a:p>
                      <a:r>
                        <a:rPr sz="1000" b="0" i="0">
                          <a:solidFill>
                            <a:srgbClr val="161D26"/>
                          </a:solidFill>
                          <a:latin typeface="Amazon Ember"/>
                        </a:rPr>
                        <a:t>MIT</a:t>
                      </a:r>
                    </a:p>
                  </a:txBody>
                  <a:tcPr marL="54864" marR="54864" marT="22860" marB="22860">
                    <a:solidFill>
                      <a:srgbClr val="F9F9F9"/>
                    </a:solidFill>
                  </a:tcPr>
                </a:tc>
              </a:tr>
              <a:tr h="292608">
                <a:tc>
                  <a:txBody>
                    <a:bodyPr/>
                    <a:lstStyle/>
                    <a:p>
                      <a:r>
                        <a:rPr sz="1000" b="0" i="0">
                          <a:solidFill>
                            <a:srgbClr val="161D26"/>
                          </a:solidFill>
                          <a:latin typeface="Amazon Ember"/>
                        </a:rPr>
                        <a:t>Materials (slides, docs)</a:t>
                      </a:r>
                    </a:p>
                  </a:txBody>
                  <a:tcPr marL="54864" marR="54864" marT="22860" marB="22860">
                    <a:solidFill>
                      <a:srgbClr val="FFFFFF"/>
                    </a:solidFill>
                  </a:tcPr>
                </a:tc>
                <a:tc>
                  <a:txBody>
                    <a:bodyPr/>
                    <a:lstStyle/>
                    <a:p>
                      <a:r>
                        <a:rPr sz="1000" b="0" i="0">
                          <a:solidFill>
                            <a:srgbClr val="161D26"/>
                          </a:solidFill>
                          <a:latin typeface="Amazon Ember"/>
                        </a:rPr>
                        <a:t>CC BY-SA 4.0</a:t>
                      </a:r>
                    </a:p>
                  </a:txBody>
                  <a:tcPr marL="54864" marR="54864" marT="22860" marB="22860">
                    <a:solidFill>
                      <a:srgbClr val="FFFFFF"/>
                    </a:solidFill>
                  </a:tcPr>
                </a:tc>
              </a:tr>
              <a:tr h="292608">
                <a:tc>
                  <a:txBody>
                    <a:bodyPr/>
                    <a:lstStyle/>
                    <a:p>
                      <a:r>
                        <a:rPr sz="1000" b="0" i="0">
                          <a:solidFill>
                            <a:srgbClr val="161D26"/>
                          </a:solidFill>
                          <a:latin typeface="Amazon Ember"/>
                        </a:rPr>
                        <a:t>OpenStreetMap</a:t>
                      </a:r>
                    </a:p>
                  </a:txBody>
                  <a:tcPr marL="54864" marR="54864" marT="22860" marB="22860">
                    <a:solidFill>
                      <a:srgbClr val="F9F9F9"/>
                    </a:solidFill>
                  </a:tcPr>
                </a:tc>
                <a:tc>
                  <a:txBody>
                    <a:bodyPr/>
                    <a:lstStyle/>
                    <a:p>
                      <a:r>
                        <a:rPr sz="1000" b="0" i="0">
                          <a:solidFill>
                            <a:srgbClr val="161D26"/>
                          </a:solidFill>
                          <a:latin typeface="Amazon Ember"/>
                        </a:rPr>
                        <a:t>ODbL</a:t>
                      </a:r>
                    </a:p>
                  </a:txBody>
                  <a:tcPr marL="54864" marR="54864" marT="22860" marB="22860">
                    <a:solidFill>
                      <a:srgbClr val="F9F9F9"/>
                    </a:solidFill>
                  </a:tcPr>
                </a:tc>
              </a:tr>
              <a:tr h="292608">
                <a:tc>
                  <a:txBody>
                    <a:bodyPr/>
                    <a:lstStyle/>
                    <a:p>
                      <a:r>
                        <a:rPr sz="1000" b="0" i="0">
                          <a:solidFill>
                            <a:srgbClr val="161D26"/>
                          </a:solidFill>
                          <a:latin typeface="Amazon Ember"/>
                        </a:rPr>
                        <a:t>Overture Maps</a:t>
                      </a:r>
                    </a:p>
                  </a:txBody>
                  <a:tcPr marL="54864" marR="54864" marT="22860" marB="22860">
                    <a:solidFill>
                      <a:srgbClr val="FFFFFF"/>
                    </a:solidFill>
                  </a:tcPr>
                </a:tc>
                <a:tc>
                  <a:txBody>
                    <a:bodyPr/>
                    <a:lstStyle/>
                    <a:p>
                      <a:r>
                        <a:rPr sz="1000" b="0" i="0">
                          <a:solidFill>
                            <a:srgbClr val="161D26"/>
                          </a:solidFill>
                          <a:latin typeface="Amazon Ember"/>
                        </a:rPr>
                        <a:t>ODbL / CDLA-Permissive 2.0 (by theme)</a:t>
                      </a:r>
                    </a:p>
                  </a:txBody>
                  <a:tcPr marL="54864" marR="54864" marT="22860" marB="22860">
                    <a:solidFill>
                      <a:srgbClr val="FFFFFF"/>
                    </a:solidFill>
                  </a:tcPr>
                </a:tc>
              </a:tr>
              <a:tr h="292608">
                <a:tc>
                  <a:txBody>
                    <a:bodyPr/>
                    <a:lstStyle/>
                    <a:p>
                      <a:r>
                        <a:rPr sz="1000" b="0" i="0">
                          <a:solidFill>
                            <a:srgbClr val="161D26"/>
                          </a:solidFill>
                          <a:latin typeface="Amazon Ember"/>
                        </a:rPr>
                        <a:t>CAL FIRE FHSZ, perimeters</a:t>
                      </a:r>
                    </a:p>
                  </a:txBody>
                  <a:tcPr marL="54864" marR="54864" marT="22860" marB="22860">
                    <a:solidFill>
                      <a:srgbClr val="F9F9F9"/>
                    </a:solidFill>
                  </a:tcPr>
                </a:tc>
                <a:tc>
                  <a:txBody>
                    <a:bodyPr/>
                    <a:lstStyle/>
                    <a:p>
                      <a:r>
                        <a:rPr sz="1000" b="0" i="0">
                          <a:solidFill>
                            <a:srgbClr val="161D26"/>
                          </a:solidFill>
                          <a:latin typeface="Amazon Ember"/>
                        </a:rPr>
                        <a:t>CC-BY</a:t>
                      </a:r>
                    </a:p>
                  </a:txBody>
                  <a:tcPr marL="54864" marR="54864" marT="22860" marB="22860">
                    <a:solidFill>
                      <a:srgbClr val="F9F9F9"/>
                    </a:solidFill>
                  </a:tcPr>
                </a:tc>
              </a:tr>
              <a:tr h="292608">
                <a:tc>
                  <a:txBody>
                    <a:bodyPr/>
                    <a:lstStyle/>
                    <a:p>
                      <a:r>
                        <a:rPr sz="1000" b="0" i="0">
                          <a:solidFill>
                            <a:srgbClr val="161D26"/>
                          </a:solidFill>
                          <a:latin typeface="Amazon Ember"/>
                        </a:rPr>
                        <a:t>ESA WorldCover</a:t>
                      </a:r>
                    </a:p>
                  </a:txBody>
                  <a:tcPr marL="54864" marR="54864" marT="22860" marB="22860">
                    <a:solidFill>
                      <a:srgbClr val="FFFFFF"/>
                    </a:solidFill>
                  </a:tcPr>
                </a:tc>
                <a:tc>
                  <a:txBody>
                    <a:bodyPr/>
                    <a:lstStyle/>
                    <a:p>
                      <a:r>
                        <a:rPr sz="1000" b="0" i="0">
                          <a:solidFill>
                            <a:srgbClr val="161D26"/>
                          </a:solidFill>
                          <a:latin typeface="Amazon Ember"/>
                        </a:rPr>
                        <a:t>CC-BY 4.0</a:t>
                      </a:r>
                    </a:p>
                  </a:txBody>
                  <a:tcPr marL="54864" marR="54864" marT="22860" marB="22860">
                    <a:solidFill>
                      <a:srgbClr val="FFFFFF"/>
                    </a:solidFill>
                  </a:tcPr>
                </a:tc>
              </a:tr>
              <a:tr h="292608">
                <a:tc>
                  <a:txBody>
                    <a:bodyPr/>
                    <a:lstStyle/>
                    <a:p>
                      <a:r>
                        <a:rPr sz="1000" b="0" i="0">
                          <a:solidFill>
                            <a:srgbClr val="161D26"/>
                          </a:solidFill>
                          <a:latin typeface="Amazon Ember"/>
                        </a:rPr>
                        <a:t>Noto Sans glyphs</a:t>
                      </a:r>
                    </a:p>
                  </a:txBody>
                  <a:tcPr marL="54864" marR="54864" marT="22860" marB="22860">
                    <a:solidFill>
                      <a:srgbClr val="F9F9F9"/>
                    </a:solidFill>
                  </a:tcPr>
                </a:tc>
                <a:tc>
                  <a:txBody>
                    <a:bodyPr/>
                    <a:lstStyle/>
                    <a:p>
                      <a:r>
                        <a:rPr sz="1000" b="0" i="0">
                          <a:solidFill>
                            <a:srgbClr val="161D26"/>
                          </a:solidFill>
                          <a:latin typeface="Amazon Ember"/>
                        </a:rPr>
                        <a:t>SIL OFL 1.1</a:t>
                      </a:r>
                    </a:p>
                  </a:txBody>
                  <a:tcPr marL="54864" marR="54864" marT="22860" marB="22860">
                    <a:solidFill>
                      <a:srgbClr val="F9F9F9"/>
                    </a:solidFill>
                  </a:tcPr>
                </a:tc>
              </a:tr>
            </a:tbl>
          </a:graphicData>
        </a:graphic>
      </p:graphicFrame>
      <p:sp>
        <p:nvSpPr>
          <p:cNvPr id="12" name="TextBox 11"/>
          <p:cNvSpPr txBox="1"/>
          <p:nvPr/>
        </p:nvSpPr>
        <p:spPr>
          <a:xfrm>
            <a:off x="4663440" y="960120"/>
            <a:ext cx="4114800" cy="3474720"/>
          </a:xfrm>
          <a:prstGeom prst="rect">
            <a:avLst/>
          </a:prstGeom>
          <a:noFill/>
        </p:spPr>
        <p:txBody>
          <a:bodyPr wrap="square" anchor="t" lIns="73152" rIns="73152" tIns="54864" bIns="54864">
            <a:spAutoFit/>
          </a:bodyPr>
          <a:lstStyle/>
          <a:p>
            <a:pPr>
              <a:spcAft>
                <a:spcPts val="400"/>
              </a:spcAft>
            </a:pPr>
            <a:r>
              <a:rPr sz="1050" b="1" i="0">
                <a:solidFill>
                  <a:srgbClr val="161D26"/>
                </a:solidFill>
                <a:latin typeface="Amazon Ember"/>
              </a:rPr>
              <a:t>Repo  </a:t>
            </a:r>
            <a:r>
              <a:rPr sz="950" b="0" i="0">
                <a:solidFill>
                  <a:srgbClr val="FF6101"/>
                </a:solidFill>
                <a:latin typeface="Menlo"/>
              </a:rPr>
              <a:t>github.com/vishal4c/routes-to-safety-workshop</a:t>
            </a:r>
          </a:p>
          <a:p>
            <a:pPr>
              <a:spcAft>
                <a:spcPts val="400"/>
              </a:spcAft>
            </a:pPr>
            <a:r>
              <a:rPr sz="1050" b="1" i="0">
                <a:solidFill>
                  <a:srgbClr val="161D26"/>
                </a:solidFill>
                <a:latin typeface="Amazon Ember"/>
              </a:rPr>
              <a:t>Demo  </a:t>
            </a:r>
            <a:r>
              <a:rPr sz="950" b="0" i="0">
                <a:solidFill>
                  <a:srgbClr val="FF6101"/>
                </a:solidFill>
                <a:latin typeface="Menlo"/>
              </a:rPr>
              <a:t>vishal4c.github.io/routes-to-safety-workshop/demo/</a:t>
            </a:r>
          </a:p>
          <a:p>
            <a:pPr>
              <a:spcAft>
                <a:spcPts val="400"/>
              </a:spcAft>
            </a:pPr>
            <a:r>
              <a:rPr sz="1050" b="1" i="0">
                <a:solidFill>
                  <a:srgbClr val="161D26"/>
                </a:solidFill>
                <a:latin typeface="Amazon Ember"/>
              </a:rPr>
              <a:t>Data bundle  </a:t>
            </a:r>
            <a:r>
              <a:rPr sz="950" b="0" i="0">
                <a:solidFill>
                  <a:srgbClr val="FF6101"/>
                </a:solidFill>
                <a:latin typeface="Menlo"/>
              </a:rPr>
              <a:t>…/releases/tag/data-v2</a:t>
            </a:r>
            <a:r>
              <a:rPr sz="1050" b="0" i="0">
                <a:solidFill>
                  <a:srgbClr val="161D26"/>
                </a:solidFill>
                <a:latin typeface="Amazon Ember"/>
              </a:rPr>
              <a:t>  (143 MB; scripts/get-bundle.sh)</a:t>
            </a:r>
          </a:p>
          <a:p>
            <a:pPr>
              <a:spcAft>
                <a:spcPts val="400"/>
              </a:spcAft>
            </a:pPr>
            <a:r>
              <a:rPr sz="1050" b="1" i="0">
                <a:solidFill>
                  <a:srgbClr val="161D26"/>
                </a:solidFill>
                <a:latin typeface="Amazon Ember"/>
              </a:rPr>
              <a:t>Learn more  </a:t>
            </a:r>
            <a:r>
              <a:rPr sz="1050" b="0" i="0">
                <a:solidFill>
                  <a:srgbClr val="161D26"/>
                </a:solidFill>
                <a:latin typeface="Amazon Ember"/>
              </a:rPr>
              <a:t>duckdb.org/docs/extensions/spatial · docs.overturemaps.org · github.com/onthegomap/planetiler · docs.protomaps.com/pmtiles · maplibre.org · project-osrm.org/docs</a:t>
            </a:r>
          </a:p>
          <a:p>
            <a:pPr>
              <a:spcAft>
                <a:spcPts val="400"/>
              </a:spcAft>
            </a:pPr>
            <a:r>
              <a:rPr sz="1050" b="1" i="0">
                <a:solidFill>
                  <a:srgbClr val="161D26"/>
                </a:solidFill>
                <a:latin typeface="Amazon Ember"/>
              </a:rPr>
              <a:t>Attribution to keep on every map: </a:t>
            </a:r>
            <a:r>
              <a:rPr sz="1050" b="0" i="0">
                <a:solidFill>
                  <a:srgbClr val="161D26"/>
                </a:solidFill>
                <a:latin typeface="Amazon Ember"/>
              </a:rPr>
              <a:t>© OpenStreetMap contributors · © Overture Maps Foundation · Fire Hazard Severity Zones: CAL FIRE FRAP (CC-BY) · Land cover: ESA WorldCover (CC-BY) · Base map: © Esri, HERE, Garmin, USGS</a:t>
            </a:r>
          </a:p>
          <a:p>
            <a:pPr>
              <a:spcAft>
                <a:spcPts val="400"/>
              </a:spcAft>
            </a:pPr>
            <a:r>
              <a:rPr sz="1050" b="1" i="0">
                <a:solidFill>
                  <a:srgbClr val="161D26"/>
                </a:solidFill>
                <a:latin typeface="Amazon Ember"/>
              </a:rPr>
              <a:t>Feedback form: </a:t>
            </a:r>
            <a:r>
              <a:rPr sz="1050" b="0" i="0">
                <a:solidFill>
                  <a:srgbClr val="161D26"/>
                </a:solidFill>
                <a:latin typeface="Amazon Ember"/>
              </a:rPr>
              <a:t>[URL / QR to add]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
          </p:nvPr>
        </p:nvSpPr>
        <p:spPr/>
        <p:txBody>
          <a:bodyPr/>
          <a:lstStyle/>
          <a:p>
            <a:r>
              <a:t>Vishal Kumar · Shaishav Maisuria  —  questions: stay, or find us in the hallway.   Teaching example, not an official evacuation resource. Drive-time estimates assume no traffic and no closures.</a:t>
            </a:r>
          </a:p>
        </p:txBody>
      </p:sp>
      <p:sp>
        <p:nvSpPr>
          <p:cNvPr id="6" name="Footer Placeholder 4"/>
          <p:cNvSpPr>
            <a:spLocks noGrp="1"/>
          </p:cNvSpPr>
          <p:nvPr>
            <p:ph type="ftr" sz="quarter" idx="3"/>
          </p:nvPr>
        </p:nvSpPr>
        <p:spPr>
          <a:xfrm>
            <a:off x="1066800" y="4749473"/>
            <a:ext cx="3116580" cy="273844"/>
          </a:xfrm>
          <a:prstGeom prst="rect">
            <a:avLst/>
          </a:prstGeom>
        </p:spPr>
        <p:txBody>
          <a:bodyPr vert="horz" lIns="0" tIns="0" rIns="0" bIns="0" rtlCol="0" anchor="ctr"/>
          <a:lstStyle>
            <a:lvl1pPr algn="l">
              <a:defRPr lang="en-US" sz="600" b="0" smtClean="0">
                <a:effectLst/>
                <a:latin typeface="Ember Modern Display Standard" panose="020B0503020204020204" pitchFamily="34" charset="0"/>
              </a:defRPr>
            </a:lvl1pPr>
          </a:lstStyle>
          <a:p>
            <a:r>
              <a:rPr lang="en-US" dirty="0"/>
              <a:t>Routes to Safety · FOSS4G NA 2026 · CC BY-SA 4.0</a:t>
            </a:r>
          </a:p>
        </p:txBody>
      </p:sp>
      <p:sp>
        <p:nvSpPr>
          <p:cNvPr id="7" name="Slide Number Placeholder 5"/>
          <p:cNvSpPr>
            <a:spLocks noGrp="1"/>
          </p:cNvSpPr>
          <p:nvPr>
            <p:ph type="sldNum" sz="quarter" idx="4"/>
          </p:nvPr>
        </p:nvSpPr>
        <p:spPr>
          <a:xfrm>
            <a:off x="389238" y="4757711"/>
            <a:ext cx="478536" cy="273844"/>
          </a:xfrm>
          <a:prstGeom prst="rect">
            <a:avLst/>
          </a:prstGeom>
        </p:spPr>
        <p:txBody>
          <a:bodyPr vert="horz" lIns="0" tIns="0" rIns="0" bIns="0" rtlCol="0" anchor="ctr"/>
          <a:lstStyle>
            <a:lvl1pPr algn="l">
              <a:defRPr sz="600" b="0" i="0">
                <a:solidFill>
                  <a:schemeClr val="tx1"/>
                </a:solidFill>
                <a:latin typeface="Ember Modern Display Standard" panose="020B0503020204020204" pitchFamily="34" charset="0"/>
                <a:ea typeface="Amazon Ember" panose="020B0603020204020204" pitchFamily="34" charset="0"/>
                <a:cs typeface="Amazon Ember" panose="020B0603020204020204" pitchFamily="34" charset="0"/>
              </a:defRPr>
            </a:lvl1pPr>
          </a:lstStyle>
          <a:p>
            <a:fld id="{37A8A410-2624-46C7-9CE6-E56AAD504E3C}" type="slidenum">
              <a:rPr lang="en-US" smtClean="0"/>
              <a:pPr/>
              <a:t>‹#›</a:t>
            </a:fld>
            <a:endParaRPr lang="en-US" dirty="0"/>
          </a:p>
        </p:txBody>
      </p:sp>
    </p:spTree>
  </p:cSld>
  <p:clrMapOvr>
    <a:masterClrMapping/>
  </p:clrMapOvr>
</p:sld>
</file>

<file path=ppt/theme/theme1.xml><?xml version="1.0" encoding="utf-8"?>
<a:theme xmlns:a="http://schemas.openxmlformats.org/drawingml/2006/main" name="Amazon Academics -light">
  <a:themeElements>
    <a:clrScheme name="Custome">
      <a:dk1>
        <a:srgbClr val="161D26"/>
      </a:dk1>
      <a:lt1>
        <a:srgbClr val="FFFFFF"/>
      </a:lt1>
      <a:dk2>
        <a:srgbClr val="161D26"/>
      </a:dk2>
      <a:lt2>
        <a:srgbClr val="FFFFFF"/>
      </a:lt2>
      <a:accent1>
        <a:srgbClr val="FF6101"/>
      </a:accent1>
      <a:accent2>
        <a:srgbClr val="161D26"/>
      </a:accent2>
      <a:accent3>
        <a:srgbClr val="D5DBDA"/>
      </a:accent3>
      <a:accent4>
        <a:srgbClr val="F9F9F9"/>
      </a:accent4>
      <a:accent5>
        <a:srgbClr val="0678FF"/>
      </a:accent5>
      <a:accent6>
        <a:srgbClr val="FEE3D8"/>
      </a:accent6>
      <a:hlink>
        <a:srgbClr val="0678FF"/>
      </a:hlink>
      <a:folHlink>
        <a:srgbClr val="0678FF"/>
      </a:folHlink>
    </a:clrScheme>
    <a:fontScheme name="Amazon 2021">
      <a:majorFont>
        <a:latin typeface="Amazon Ember Light"/>
        <a:ea typeface=""/>
        <a:cs typeface=""/>
      </a:majorFont>
      <a:minorFont>
        <a:latin typeface="Amazon Embe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bodyPr lIns="0" tIns="0" rIns="0" bIns="0"/>
      <a:lstStyle>
        <a:defPPr algn="l">
          <a:defRPr dirty="0" smtClean="0">
            <a:latin typeface="Amazon Ember Thin"/>
            <a:ea typeface="Amazon Ember Thin"/>
            <a:cs typeface="Amazon Ember Thin"/>
          </a:defRPr>
        </a:defPPr>
      </a:lstStyle>
    </a:txDef>
  </a:objectDefaults>
  <a:extraClrSchemeLst/>
</a:theme>
</file>

<file path=ppt/theme/theme2.xml><?xml version="1.0" encoding="utf-8"?>
<a:theme xmlns:a="http://schemas.openxmlformats.org/drawingml/2006/main" name="Amazon Academics - dark">
  <a:themeElements>
    <a:clrScheme name="Custome">
      <a:dk1>
        <a:srgbClr val="161D26"/>
      </a:dk1>
      <a:lt1>
        <a:srgbClr val="FFFFFF"/>
      </a:lt1>
      <a:dk2>
        <a:srgbClr val="161D26"/>
      </a:dk2>
      <a:lt2>
        <a:srgbClr val="FFFFFF"/>
      </a:lt2>
      <a:accent1>
        <a:srgbClr val="FF6101"/>
      </a:accent1>
      <a:accent2>
        <a:srgbClr val="161D26"/>
      </a:accent2>
      <a:accent3>
        <a:srgbClr val="D5DBDA"/>
      </a:accent3>
      <a:accent4>
        <a:srgbClr val="F9F9F9"/>
      </a:accent4>
      <a:accent5>
        <a:srgbClr val="0678FF"/>
      </a:accent5>
      <a:accent6>
        <a:srgbClr val="FEE3D8"/>
      </a:accent6>
      <a:hlink>
        <a:srgbClr val="0678FF"/>
      </a:hlink>
      <a:folHlink>
        <a:srgbClr val="0678FF"/>
      </a:folHlink>
    </a:clrScheme>
    <a:fontScheme name="Amazon 2021">
      <a:majorFont>
        <a:latin typeface="Amazon Ember Light"/>
        <a:ea typeface=""/>
        <a:cs typeface=""/>
      </a:majorFont>
      <a:minorFont>
        <a:latin typeface="Amazon Embe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1416</Words>
  <Application>Microsoft Macintosh PowerPoint</Application>
  <PresentationFormat>On-screen Show (16:9)</PresentationFormat>
  <Paragraphs>197</Paragraphs>
  <Slides>33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Amazon Ember</vt:lpstr>
      <vt:lpstr>Amazon Ember Light</vt:lpstr>
      <vt:lpstr>Amazon Ember Thin</vt:lpstr>
      <vt:lpstr>Arial</vt:lpstr>
      <vt:lpstr>Calibri</vt:lpstr>
      <vt:lpstr>Ember Modern Display Standard</vt:lpstr>
      <vt:lpstr>Amazon Academics -light</vt:lpstr>
      <vt:lpstr>Amazon Academics - dark</vt:lpstr>
      <vt:lpstr>Title of Document</vt:lpstr>
      <vt:lpstr>Title of document</vt:lpstr>
      <vt:lpstr>PowerPoint Presentation</vt:lpstr>
      <vt:lpstr>Meet your host</vt:lpstr>
      <vt:lpstr>Meet your host</vt:lpstr>
      <vt:lpstr>Meet your host</vt:lpstr>
      <vt:lpstr>Meet your host</vt:lpstr>
      <vt:lpstr>Meet your host</vt:lpstr>
      <vt:lpstr>Meet your host</vt:lpstr>
      <vt:lpstr>Meet your host</vt:lpstr>
      <vt:lpstr>Meet your host</vt:lpstr>
      <vt:lpstr>Meet your host</vt:lpstr>
      <vt:lpstr>Meet your host</vt:lpstr>
      <vt:lpstr>Section title without image</vt:lpstr>
      <vt:lpstr>Section title without image</vt:lpstr>
      <vt:lpstr>Cloud and systems</vt:lpstr>
      <vt:lpstr>Cloud and systems</vt:lpstr>
      <vt:lpstr>PowerPoint Presentation</vt:lpstr>
      <vt:lpstr>PowerPoint Presentation</vt:lpstr>
      <vt:lpstr>Extra large statement In labore eu adipisicing esse voluptate laboris  id excepteur.</vt:lpstr>
      <vt:lpstr>Extra large statement In labore eu adipisicing esse voluptate laboris  id excepteur.</vt:lpstr>
      <vt:lpstr>Title of slide</vt:lpstr>
      <vt:lpstr>Title of slide</vt:lpstr>
      <vt:lpstr>Title of slide</vt:lpstr>
      <vt:lpstr>Title of slide</vt:lpstr>
      <vt:lpstr>Title of slide</vt:lpstr>
      <vt:lpstr>Title of slide</vt:lpstr>
      <vt:lpstr>Title and background - 1</vt:lpstr>
      <vt:lpstr>Title and background - 2</vt:lpstr>
      <vt:lpstr>Title and background - 1</vt:lpstr>
      <vt:lpstr>Title and background - 2</vt:lpstr>
      <vt:lpstr>Thank You.</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Anita Veen</dc:creator>
  <cp:lastModifiedBy>Kyla Paolucci</cp:lastModifiedBy>
  <cp:revision>116</cp:revision>
  <dcterms:created xsi:type="dcterms:W3CDTF">2021-01-21T13:00:28Z</dcterms:created>
  <dcterms:modified xsi:type="dcterms:W3CDTF">2025-07-22T19:40:53Z</dcterms:modified>
  <cp:version/>
</cp:coreProperties>
</file>